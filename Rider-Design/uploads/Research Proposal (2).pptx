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28" r:id="rId1"/>
  </p:sldMasterIdLst>
  <p:notesMasterIdLst>
    <p:notesMasterId r:id="rId43"/>
  </p:notesMasterIdLst>
  <p:sldIdLst>
    <p:sldId id="390" r:id="rId2"/>
    <p:sldId id="350" r:id="rId3"/>
    <p:sldId id="363" r:id="rId4"/>
    <p:sldId id="362" r:id="rId5"/>
    <p:sldId id="364" r:id="rId6"/>
    <p:sldId id="387" r:id="rId7"/>
    <p:sldId id="351" r:id="rId8"/>
    <p:sldId id="388" r:id="rId9"/>
    <p:sldId id="352" r:id="rId10"/>
    <p:sldId id="353" r:id="rId11"/>
    <p:sldId id="354" r:id="rId12"/>
    <p:sldId id="355" r:id="rId13"/>
    <p:sldId id="356" r:id="rId14"/>
    <p:sldId id="357" r:id="rId15"/>
    <p:sldId id="358" r:id="rId16"/>
    <p:sldId id="359" r:id="rId17"/>
    <p:sldId id="360" r:id="rId18"/>
    <p:sldId id="361" r:id="rId19"/>
    <p:sldId id="365" r:id="rId20"/>
    <p:sldId id="366" r:id="rId21"/>
    <p:sldId id="367" r:id="rId22"/>
    <p:sldId id="368" r:id="rId23"/>
    <p:sldId id="369" r:id="rId24"/>
    <p:sldId id="370" r:id="rId25"/>
    <p:sldId id="371" r:id="rId26"/>
    <p:sldId id="372" r:id="rId27"/>
    <p:sldId id="373" r:id="rId28"/>
    <p:sldId id="374" r:id="rId29"/>
    <p:sldId id="375" r:id="rId30"/>
    <p:sldId id="305" r:id="rId31"/>
    <p:sldId id="376" r:id="rId32"/>
    <p:sldId id="377" r:id="rId33"/>
    <p:sldId id="378" r:id="rId34"/>
    <p:sldId id="379" r:id="rId35"/>
    <p:sldId id="380" r:id="rId36"/>
    <p:sldId id="381" r:id="rId37"/>
    <p:sldId id="382" r:id="rId38"/>
    <p:sldId id="383" r:id="rId39"/>
    <p:sldId id="384" r:id="rId40"/>
    <p:sldId id="385" r:id="rId41"/>
    <p:sldId id="389" r:id="rId4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CC"/>
    <a:srgbClr val="CC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1" autoAdjust="0"/>
    <p:restoredTop sz="94629" autoAdjust="0"/>
  </p:normalViewPr>
  <p:slideViewPr>
    <p:cSldViewPr>
      <p:cViewPr varScale="1">
        <p:scale>
          <a:sx n="66" d="100"/>
          <a:sy n="66" d="100"/>
        </p:scale>
        <p:origin x="-1416"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88622A-DDB2-4EFB-BB42-293D2F735929}" type="datetimeFigureOut">
              <a:rPr lang="en-US" smtClean="0"/>
              <a:t>7/6/2022</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434979-228E-4218-8266-5796B7CDFC7C}" type="slidenum">
              <a:rPr lang="en-US" smtClean="0"/>
              <a:t>‹#›</a:t>
            </a:fld>
            <a:endParaRPr lang="en-US"/>
          </a:p>
        </p:txBody>
      </p:sp>
    </p:spTree>
    <p:extLst>
      <p:ext uri="{BB962C8B-B14F-4D97-AF65-F5344CB8AC3E}">
        <p14:creationId xmlns:p14="http://schemas.microsoft.com/office/powerpoint/2010/main" val="30434149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9434979-228E-4218-8266-5796B7CDFC7C}" type="slidenum">
              <a:rPr lang="en-US" smtClean="0"/>
              <a:t>4</a:t>
            </a:fld>
            <a:endParaRPr lang="en-US"/>
          </a:p>
        </p:txBody>
      </p:sp>
    </p:spTree>
    <p:extLst>
      <p:ext uri="{BB962C8B-B14F-4D97-AF65-F5344CB8AC3E}">
        <p14:creationId xmlns:p14="http://schemas.microsoft.com/office/powerpoint/2010/main" val="1641226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1C3FEC42-1EF2-4D37-93A3-204ABAC905B7}" type="datetime1">
              <a:rPr lang="en-US" smtClean="0"/>
              <a:t>7/6/2022</a:t>
            </a:fld>
            <a:endParaRPr lang="en-US"/>
          </a:p>
        </p:txBody>
      </p:sp>
      <p:sp>
        <p:nvSpPr>
          <p:cNvPr id="5" name="Footer Placeholder 4"/>
          <p:cNvSpPr>
            <a:spLocks noGrp="1"/>
          </p:cNvSpPr>
          <p:nvPr>
            <p:ph type="ftr" sz="quarter" idx="11"/>
          </p:nvPr>
        </p:nvSpPr>
        <p:spPr/>
        <p:txBody>
          <a:bodyPr/>
          <a:lstStyle/>
          <a:p>
            <a:r>
              <a:rPr lang="en-US"/>
              <a:t>Dr. Afroza Nahar</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1FCC01D4-4F95-4299-94A8-99AE0059BB62}" type="datetime1">
              <a:rPr lang="en-US" smtClean="0"/>
              <a:t>7/6/2022</a:t>
            </a:fld>
            <a:endParaRPr lang="en-US"/>
          </a:p>
        </p:txBody>
      </p:sp>
      <p:sp>
        <p:nvSpPr>
          <p:cNvPr id="5" name="Footer Placeholder 4"/>
          <p:cNvSpPr>
            <a:spLocks noGrp="1"/>
          </p:cNvSpPr>
          <p:nvPr>
            <p:ph type="ftr" sz="quarter" idx="11"/>
          </p:nvPr>
        </p:nvSpPr>
        <p:spPr/>
        <p:txBody>
          <a:bodyPr/>
          <a:lstStyle/>
          <a:p>
            <a:r>
              <a:rPr lang="en-US"/>
              <a:t>Dr. Afroza Nahar</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7E18BAE-E05D-47ED-8AD4-E14F34EC274A}" type="datetime1">
              <a:rPr lang="en-US" smtClean="0"/>
              <a:t>7/6/2022</a:t>
            </a:fld>
            <a:endParaRPr lang="en-US"/>
          </a:p>
        </p:txBody>
      </p:sp>
      <p:sp>
        <p:nvSpPr>
          <p:cNvPr id="5" name="Footer Placeholder 4"/>
          <p:cNvSpPr>
            <a:spLocks noGrp="1"/>
          </p:cNvSpPr>
          <p:nvPr>
            <p:ph type="ftr" sz="quarter" idx="11"/>
          </p:nvPr>
        </p:nvSpPr>
        <p:spPr/>
        <p:txBody>
          <a:bodyPr/>
          <a:lstStyle/>
          <a:p>
            <a:r>
              <a:rPr lang="en-US"/>
              <a:t>Dr. Afroza Nahar</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fld id="{A82D6867-8013-4393-94F3-FE3CE2C923EA}" type="datetime1">
              <a:rPr lang="en-US" smtClean="0"/>
              <a:t>7/6/2022</a:t>
            </a:fld>
            <a:endParaRPr lang="en-US"/>
          </a:p>
        </p:txBody>
      </p:sp>
      <p:sp>
        <p:nvSpPr>
          <p:cNvPr id="6" name="Footer Placeholder 5"/>
          <p:cNvSpPr>
            <a:spLocks noGrp="1"/>
          </p:cNvSpPr>
          <p:nvPr>
            <p:ph type="ftr" sz="quarter" idx="11"/>
          </p:nvPr>
        </p:nvSpPr>
        <p:spPr/>
        <p:txBody>
          <a:bodyPr/>
          <a:lstStyle/>
          <a:p>
            <a:r>
              <a:rPr lang="en-US"/>
              <a:t>Dr. Afroza Nahar</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fld id="{DDE45A47-7C87-452F-832C-48793FB82BB6}" type="datetime1">
              <a:rPr lang="en-US" smtClean="0"/>
              <a:t>7/6/2022</a:t>
            </a:fld>
            <a:endParaRPr lang="en-US"/>
          </a:p>
        </p:txBody>
      </p:sp>
      <p:sp>
        <p:nvSpPr>
          <p:cNvPr id="8" name="Footer Placeholder 7"/>
          <p:cNvSpPr>
            <a:spLocks noGrp="1"/>
          </p:cNvSpPr>
          <p:nvPr>
            <p:ph type="ftr" sz="quarter" idx="11"/>
          </p:nvPr>
        </p:nvSpPr>
        <p:spPr/>
        <p:txBody>
          <a:bodyPr/>
          <a:lstStyle/>
          <a:p>
            <a:r>
              <a:rPr lang="en-US"/>
              <a:t>Dr. Afroza Nahar</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p>
            <a:fld id="{3CF82306-476A-444C-939B-7D94E189DB22}" type="datetime1">
              <a:rPr lang="en-US" smtClean="0"/>
              <a:t>7/6/2022</a:t>
            </a:fld>
            <a:endParaRPr lang="en-US"/>
          </a:p>
        </p:txBody>
      </p:sp>
      <p:sp>
        <p:nvSpPr>
          <p:cNvPr id="4" name="Footer Placeholder 3"/>
          <p:cNvSpPr>
            <a:spLocks noGrp="1"/>
          </p:cNvSpPr>
          <p:nvPr>
            <p:ph type="ftr" sz="quarter" idx="11"/>
          </p:nvPr>
        </p:nvSpPr>
        <p:spPr/>
        <p:txBody>
          <a:bodyPr/>
          <a:lstStyle/>
          <a:p>
            <a:r>
              <a:rPr lang="en-US"/>
              <a:t>Dr. Afroza Nahar</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5AC5428-8EEF-44AE-BA7F-D418F27D1CE9}" type="datetime1">
              <a:rPr lang="en-US" smtClean="0"/>
              <a:t>7/6/2022</a:t>
            </a:fld>
            <a:endParaRPr lang="en-US"/>
          </a:p>
        </p:txBody>
      </p:sp>
      <p:sp>
        <p:nvSpPr>
          <p:cNvPr id="3" name="Footer Placeholder 2"/>
          <p:cNvSpPr>
            <a:spLocks noGrp="1"/>
          </p:cNvSpPr>
          <p:nvPr>
            <p:ph type="ftr" sz="quarter" idx="11"/>
          </p:nvPr>
        </p:nvSpPr>
        <p:spPr/>
        <p:txBody>
          <a:bodyPr/>
          <a:lstStyle/>
          <a:p>
            <a:r>
              <a:rPr lang="en-US"/>
              <a:t>Dr. Afroza Nahar</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0B4DE2E-7560-48B1-A4A7-7884D244B6A0}" type="datetime1">
              <a:rPr lang="en-US" smtClean="0"/>
              <a:t>7/6/2022</a:t>
            </a:fld>
            <a:endParaRPr lang="en-US"/>
          </a:p>
        </p:txBody>
      </p:sp>
      <p:sp>
        <p:nvSpPr>
          <p:cNvPr id="6" name="Footer Placeholder 5"/>
          <p:cNvSpPr>
            <a:spLocks noGrp="1"/>
          </p:cNvSpPr>
          <p:nvPr>
            <p:ph type="ftr" sz="quarter" idx="11"/>
          </p:nvPr>
        </p:nvSpPr>
        <p:spPr/>
        <p:txBody>
          <a:bodyPr/>
          <a:lstStyle/>
          <a:p>
            <a:r>
              <a:rPr lang="en-US"/>
              <a:t>Dr. Afroza Nahar</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1BE3AF2-57C9-40D0-BBB5-BCD06B2806F0}" type="datetime1">
              <a:rPr lang="en-US" smtClean="0"/>
              <a:t>7/6/2022</a:t>
            </a:fld>
            <a:endParaRPr lang="en-US"/>
          </a:p>
        </p:txBody>
      </p:sp>
      <p:sp>
        <p:nvSpPr>
          <p:cNvPr id="6" name="Footer Placeholder 5"/>
          <p:cNvSpPr>
            <a:spLocks noGrp="1"/>
          </p:cNvSpPr>
          <p:nvPr>
            <p:ph type="ftr" sz="quarter" idx="11"/>
          </p:nvPr>
        </p:nvSpPr>
        <p:spPr/>
        <p:txBody>
          <a:bodyPr/>
          <a:lstStyle/>
          <a:p>
            <a:r>
              <a:rPr lang="en-US"/>
              <a:t>Dr. Afroza Nahar</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FB35C2C7-81A0-458D-8720-B3604B200C75}" type="datetime1">
              <a:rPr lang="en-US" smtClean="0"/>
              <a:t>7/6/2022</a:t>
            </a:fld>
            <a:endParaRPr lang="en-US"/>
          </a:p>
        </p:txBody>
      </p:sp>
      <p:sp>
        <p:nvSpPr>
          <p:cNvPr id="5" name="Footer Placeholder 4"/>
          <p:cNvSpPr>
            <a:spLocks noGrp="1"/>
          </p:cNvSpPr>
          <p:nvPr>
            <p:ph type="ftr" sz="quarter" idx="11"/>
          </p:nvPr>
        </p:nvSpPr>
        <p:spPr/>
        <p:txBody>
          <a:bodyPr/>
          <a:lstStyle/>
          <a:p>
            <a:r>
              <a:rPr lang="en-US"/>
              <a:t>Dr. Afroza Nahar</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1F0834C8-EB49-4E65-B83F-B8B23367922A}" type="datetime1">
              <a:rPr lang="en-US" smtClean="0"/>
              <a:t>7/6/2022</a:t>
            </a:fld>
            <a:endParaRPr lang="en-US"/>
          </a:p>
        </p:txBody>
      </p:sp>
      <p:sp>
        <p:nvSpPr>
          <p:cNvPr id="5" name="Footer Placeholder 4"/>
          <p:cNvSpPr>
            <a:spLocks noGrp="1"/>
          </p:cNvSpPr>
          <p:nvPr>
            <p:ph type="ftr" sz="quarter" idx="11"/>
          </p:nvPr>
        </p:nvSpPr>
        <p:spPr/>
        <p:txBody>
          <a:bodyPr/>
          <a:lstStyle/>
          <a:p>
            <a:r>
              <a:rPr lang="en-US"/>
              <a:t>Dr. Afroza Nahar</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Lecture Slide">
    <p:spTree>
      <p:nvGrpSpPr>
        <p:cNvPr id="1" name=""/>
        <p:cNvGrpSpPr/>
        <p:nvPr/>
      </p:nvGrpSpPr>
      <p:grpSpPr>
        <a:xfrm>
          <a:off x="0" y="0"/>
          <a:ext cx="0" cy="0"/>
          <a:chOff x="0" y="0"/>
          <a:chExt cx="0" cy="0"/>
        </a:xfrm>
      </p:grpSpPr>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xmlns=""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xmlns=""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4000" b="1" i="0" cap="small" baseline="0">
                <a:solidFill>
                  <a:srgbClr val="FF0000"/>
                </a:solidFill>
                <a:latin typeface="+mj-lt"/>
              </a:defRPr>
            </a:lvl1pPr>
          </a:lstStyle>
          <a:p>
            <a:pPr lvl="0"/>
            <a:r>
              <a:rPr lang="en-US" dirty="0"/>
              <a:t>Click to add TITLE</a:t>
            </a:r>
          </a:p>
        </p:txBody>
      </p:sp>
      <p:sp>
        <p:nvSpPr>
          <p:cNvPr id="11" name="Text Placeholder 10">
            <a:extLst>
              <a:ext uri="{FF2B5EF4-FFF2-40B4-BE49-F238E27FC236}">
                <a16:creationId xmlns:a16="http://schemas.microsoft.com/office/drawing/2014/main" xmlns="" id="{BD8E7E68-2955-4F78-A94B-30ADF2A5D4D5}"/>
              </a:ext>
            </a:extLst>
          </p:cNvPr>
          <p:cNvSpPr>
            <a:spLocks noGrp="1"/>
          </p:cNvSpPr>
          <p:nvPr>
            <p:ph type="body" sz="quarter" idx="13" hasCustomPrompt="1"/>
          </p:nvPr>
        </p:nvSpPr>
        <p:spPr>
          <a:xfrm>
            <a:off x="2" y="846142"/>
            <a:ext cx="9136063" cy="5591175"/>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2" name="Rectangle 4">
            <a:extLst>
              <a:ext uri="{FF2B5EF4-FFF2-40B4-BE49-F238E27FC236}">
                <a16:creationId xmlns:a16="http://schemas.microsoft.com/office/drawing/2014/main" xmlns="" id="{9D832B49-1A72-49B5-AEE6-B34B501F3F2D}"/>
              </a:ext>
            </a:extLst>
          </p:cNvPr>
          <p:cNvSpPr>
            <a:spLocks noGrp="1" noChangeArrowheads="1"/>
          </p:cNvSpPr>
          <p:nvPr>
            <p:ph type="dt" sz="half" idx="10"/>
          </p:nvPr>
        </p:nvSpPr>
        <p:spPr>
          <a:xfrm>
            <a:off x="457200" y="6553200"/>
            <a:ext cx="2133600" cy="365125"/>
          </a:xfrm>
          <a:ln/>
        </p:spPr>
        <p:txBody>
          <a:bodyPr/>
          <a:lstStyle>
            <a:lvl1pPr>
              <a:defRPr sz="1100"/>
            </a:lvl1pPr>
          </a:lstStyle>
          <a:p>
            <a:pPr>
              <a:defRPr/>
            </a:pPr>
            <a:fld id="{69A52D0F-A1E2-42CE-91A9-618E0BB64790}" type="datetime1">
              <a:rPr lang="en-US" smtClean="0"/>
              <a:t>7/6/2022</a:t>
            </a:fld>
            <a:endParaRPr lang="en-US"/>
          </a:p>
        </p:txBody>
      </p:sp>
      <p:sp>
        <p:nvSpPr>
          <p:cNvPr id="13" name="Rectangle 5">
            <a:extLst>
              <a:ext uri="{FF2B5EF4-FFF2-40B4-BE49-F238E27FC236}">
                <a16:creationId xmlns:a16="http://schemas.microsoft.com/office/drawing/2014/main" xmlns="" id="{0036E004-504A-44B7-843B-C80E27B89261}"/>
              </a:ext>
            </a:extLst>
          </p:cNvPr>
          <p:cNvSpPr>
            <a:spLocks noGrp="1" noChangeArrowheads="1"/>
          </p:cNvSpPr>
          <p:nvPr>
            <p:ph type="ftr" sz="quarter" idx="11"/>
          </p:nvPr>
        </p:nvSpPr>
        <p:spPr>
          <a:xfrm>
            <a:off x="3124200" y="6553200"/>
            <a:ext cx="2895600" cy="365125"/>
          </a:xfrm>
          <a:ln/>
        </p:spPr>
        <p:txBody>
          <a:bodyPr/>
          <a:lstStyle>
            <a:lvl1pPr>
              <a:defRPr sz="1100"/>
            </a:lvl1pPr>
          </a:lstStyle>
          <a:p>
            <a:pPr>
              <a:defRPr/>
            </a:pPr>
            <a:r>
              <a:rPr lang="en-US"/>
              <a:t>Dr. Afroza Nahar</a:t>
            </a:r>
          </a:p>
        </p:txBody>
      </p:sp>
      <p:sp>
        <p:nvSpPr>
          <p:cNvPr id="14" name="Rectangle 6">
            <a:extLst>
              <a:ext uri="{FF2B5EF4-FFF2-40B4-BE49-F238E27FC236}">
                <a16:creationId xmlns:a16="http://schemas.microsoft.com/office/drawing/2014/main" xmlns="" id="{76083EF6-2E15-437C-8549-E6BBA81849BF}"/>
              </a:ext>
            </a:extLst>
          </p:cNvPr>
          <p:cNvSpPr>
            <a:spLocks noGrp="1" noChangeArrowheads="1"/>
          </p:cNvSpPr>
          <p:nvPr>
            <p:ph type="sldNum" sz="quarter" idx="14"/>
          </p:nvPr>
        </p:nvSpPr>
        <p:spPr>
          <a:xfrm>
            <a:off x="6553200" y="6553200"/>
            <a:ext cx="2133600" cy="365125"/>
          </a:xfrm>
          <a:ln/>
        </p:spPr>
        <p:txBody>
          <a:bodyPr/>
          <a:lstStyle>
            <a:lvl1pPr>
              <a:defRPr sz="1100"/>
            </a:lvl1pPr>
          </a:lstStyle>
          <a:p>
            <a:pPr>
              <a:defRPr/>
            </a:pPr>
            <a:fld id="{A4D7D840-3C4D-4535-9FCE-221E1C945AAA}" type="slidenum">
              <a:rPr lang="en-US" smtClean="0"/>
              <a:pPr>
                <a:defRPr/>
              </a:pPr>
              <a:t>‹#›</a:t>
            </a:fld>
            <a:endParaRPr lang="en-US"/>
          </a:p>
        </p:txBody>
      </p:sp>
    </p:spTree>
    <p:extLst>
      <p:ext uri="{BB962C8B-B14F-4D97-AF65-F5344CB8AC3E}">
        <p14:creationId xmlns:p14="http://schemas.microsoft.com/office/powerpoint/2010/main" val="1185650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973769-D070-4B4A-AC46-F321DBD4EEBA}" type="datetime1">
              <a:rPr lang="en-US" smtClean="0"/>
              <a:t>7/6/2022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Dr. Afroza Nahar</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 id="2147483841" r:id="rId12"/>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endParaRPr lang="en-US"/>
          </a:p>
        </p:txBody>
      </p:sp>
      <p:sp>
        <p:nvSpPr>
          <p:cNvPr id="3" name="Text Placeholder 2"/>
          <p:cNvSpPr>
            <a:spLocks noGrp="1"/>
          </p:cNvSpPr>
          <p:nvPr>
            <p:ph type="body" sz="quarter" idx="13"/>
          </p:nvPr>
        </p:nvSpPr>
        <p:spPr/>
        <p:txBody>
          <a:bodyPr/>
          <a:lstStyle/>
          <a:p>
            <a:pPr marL="0" indent="0" algn="ctr">
              <a:buNone/>
            </a:pPr>
            <a:endParaRPr lang="en-US" dirty="0" smtClean="0"/>
          </a:p>
          <a:p>
            <a:pPr marL="0" indent="0" algn="ctr">
              <a:buNone/>
            </a:pPr>
            <a:endParaRPr lang="en-US" dirty="0"/>
          </a:p>
          <a:p>
            <a:pPr marL="0" indent="0" algn="ctr">
              <a:buNone/>
            </a:pPr>
            <a:endParaRPr lang="en-US" dirty="0" smtClean="0"/>
          </a:p>
          <a:p>
            <a:pPr marL="0" indent="0" algn="ctr">
              <a:buNone/>
            </a:pPr>
            <a:r>
              <a:rPr lang="en-US" sz="6000" dirty="0" smtClean="0"/>
              <a:t>Research Proposal</a:t>
            </a:r>
            <a:endParaRPr lang="en-US" sz="6000" dirty="0"/>
          </a:p>
        </p:txBody>
      </p:sp>
      <p:sp>
        <p:nvSpPr>
          <p:cNvPr id="4" name="Date Placeholder 3"/>
          <p:cNvSpPr>
            <a:spLocks noGrp="1"/>
          </p:cNvSpPr>
          <p:nvPr>
            <p:ph type="dt" sz="half" idx="10"/>
          </p:nvPr>
        </p:nvSpPr>
        <p:spPr/>
        <p:txBody>
          <a:bodyPr/>
          <a:lstStyle/>
          <a:p>
            <a:pPr>
              <a:defRPr/>
            </a:pPr>
            <a:fld id="{69A52D0F-A1E2-42CE-91A9-618E0BB64790}" type="datetime1">
              <a:rPr lang="en-US" smtClean="0"/>
              <a:t>7/6/2022</a:t>
            </a:fld>
            <a:endParaRPr lang="en-US"/>
          </a:p>
        </p:txBody>
      </p:sp>
      <p:sp>
        <p:nvSpPr>
          <p:cNvPr id="6" name="Slide Number Placeholder 5"/>
          <p:cNvSpPr>
            <a:spLocks noGrp="1"/>
          </p:cNvSpPr>
          <p:nvPr>
            <p:ph type="sldNum" sz="quarter" idx="14"/>
          </p:nvPr>
        </p:nvSpPr>
        <p:spPr/>
        <p:txBody>
          <a:bodyPr/>
          <a:lstStyle/>
          <a:p>
            <a:pPr>
              <a:defRPr/>
            </a:pPr>
            <a:fld id="{A4D7D840-3C4D-4535-9FCE-221E1C945AAA}" type="slidenum">
              <a:rPr lang="en-US" smtClean="0"/>
              <a:pPr>
                <a:defRPr/>
              </a:pPr>
              <a:t>1</a:t>
            </a:fld>
            <a:endParaRPr lang="en-US"/>
          </a:p>
        </p:txBody>
      </p:sp>
    </p:spTree>
    <p:extLst>
      <p:ext uri="{BB962C8B-B14F-4D97-AF65-F5344CB8AC3E}">
        <p14:creationId xmlns:p14="http://schemas.microsoft.com/office/powerpoint/2010/main" val="23447752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xmlns="" id="{B897FD53-71B0-4CB9-8845-3AA7F68386F9}"/>
              </a:ext>
            </a:extLst>
          </p:cNvPr>
          <p:cNvSpPr>
            <a:spLocks noGrp="1"/>
          </p:cNvSpPr>
          <p:nvPr>
            <p:ph type="body" sz="quarter" idx="12"/>
          </p:nvPr>
        </p:nvSpPr>
        <p:spPr/>
        <p:txBody>
          <a:bodyPr/>
          <a:lstStyle/>
          <a:p>
            <a:pPr lvl="0">
              <a:spcBef>
                <a:spcPct val="0"/>
              </a:spcBef>
              <a:defRPr/>
            </a:pPr>
            <a:r>
              <a:rPr lang="en-AU" sz="4000" cap="none" dirty="0">
                <a:solidFill>
                  <a:srgbClr val="FF0000"/>
                </a:solidFill>
              </a:rPr>
              <a:t>Content</a:t>
            </a:r>
          </a:p>
        </p:txBody>
      </p:sp>
      <p:sp>
        <p:nvSpPr>
          <p:cNvPr id="5" name="Content Placeholder 2">
            <a:extLst>
              <a:ext uri="{FF2B5EF4-FFF2-40B4-BE49-F238E27FC236}">
                <a16:creationId xmlns:a16="http://schemas.microsoft.com/office/drawing/2014/main" xmlns="" id="{CA2A9E2E-D450-4368-875B-568F3509A988}"/>
              </a:ext>
            </a:extLst>
          </p:cNvPr>
          <p:cNvSpPr txBox="1">
            <a:spLocks/>
          </p:cNvSpPr>
          <p:nvPr/>
        </p:nvSpPr>
        <p:spPr>
          <a:xfrm>
            <a:off x="152400" y="990600"/>
            <a:ext cx="8763000" cy="5243336"/>
          </a:xfrm>
          <a:prstGeom prst="rect">
            <a:avLst/>
          </a:prstGeom>
        </p:spPr>
        <p:txBody>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spcBef>
                <a:spcPts val="600"/>
              </a:spcBef>
              <a:spcAft>
                <a:spcPts val="1800"/>
              </a:spcAft>
              <a:buFont typeface="Wingdings" panose="05000000000000000000" pitchFamily="2" charset="2"/>
              <a:buChar char="q"/>
            </a:pPr>
            <a:r>
              <a:rPr lang="en-AU" sz="2400" dirty="0">
                <a:solidFill>
                  <a:srgbClr val="7030A0"/>
                </a:solidFill>
              </a:rPr>
              <a:t>Introduction</a:t>
            </a:r>
          </a:p>
          <a:p>
            <a:pPr marL="457200" indent="-457200">
              <a:spcBef>
                <a:spcPts val="600"/>
              </a:spcBef>
              <a:spcAft>
                <a:spcPts val="1800"/>
              </a:spcAft>
              <a:buFont typeface="Wingdings" panose="05000000000000000000" pitchFamily="2" charset="2"/>
              <a:buChar char="q"/>
            </a:pPr>
            <a:r>
              <a:rPr lang="en-AU" sz="2400" dirty="0"/>
              <a:t>Research proposal content </a:t>
            </a:r>
          </a:p>
          <a:p>
            <a:pPr marL="457200" indent="-457200">
              <a:spcBef>
                <a:spcPts val="600"/>
              </a:spcBef>
              <a:spcAft>
                <a:spcPts val="1800"/>
              </a:spcAft>
              <a:buFont typeface="Wingdings" panose="05000000000000000000" pitchFamily="2" charset="2"/>
              <a:buChar char="q"/>
            </a:pPr>
            <a:r>
              <a:rPr lang="en-AU" sz="2400" dirty="0">
                <a:solidFill>
                  <a:srgbClr val="0070C0"/>
                </a:solidFill>
              </a:rPr>
              <a:t>Project title, project summary and Background</a:t>
            </a:r>
          </a:p>
          <a:p>
            <a:pPr marL="457200" indent="-457200">
              <a:spcBef>
                <a:spcPts val="600"/>
              </a:spcBef>
              <a:spcAft>
                <a:spcPts val="1800"/>
              </a:spcAft>
              <a:buFont typeface="Wingdings" panose="05000000000000000000" pitchFamily="2" charset="2"/>
              <a:buChar char="q"/>
            </a:pPr>
            <a:r>
              <a:rPr lang="en-AU" sz="2400" dirty="0"/>
              <a:t>Ethical issues</a:t>
            </a:r>
          </a:p>
          <a:p>
            <a:pPr marL="457200" indent="-457200">
              <a:spcBef>
                <a:spcPts val="600"/>
              </a:spcBef>
              <a:spcAft>
                <a:spcPts val="1800"/>
              </a:spcAft>
              <a:buFont typeface="Wingdings" panose="05000000000000000000" pitchFamily="2" charset="2"/>
              <a:buChar char="q"/>
            </a:pPr>
            <a:r>
              <a:rPr lang="en-AU" sz="2400" dirty="0">
                <a:solidFill>
                  <a:srgbClr val="CC0099"/>
                </a:solidFill>
              </a:rPr>
              <a:t>Research plan, methodology, timing </a:t>
            </a:r>
          </a:p>
          <a:p>
            <a:pPr marL="457200" indent="-457200">
              <a:spcBef>
                <a:spcPts val="600"/>
              </a:spcBef>
              <a:spcAft>
                <a:spcPts val="1800"/>
              </a:spcAft>
              <a:buFont typeface="Wingdings" panose="05000000000000000000" pitchFamily="2" charset="2"/>
              <a:buChar char="q"/>
            </a:pPr>
            <a:r>
              <a:rPr lang="en-AU" sz="2400" dirty="0"/>
              <a:t>Budget and justification</a:t>
            </a:r>
          </a:p>
          <a:p>
            <a:pPr marL="457200" indent="-457200">
              <a:spcBef>
                <a:spcPts val="600"/>
              </a:spcBef>
              <a:spcAft>
                <a:spcPts val="1800"/>
              </a:spcAft>
              <a:buFont typeface="Wingdings" panose="05000000000000000000" pitchFamily="2" charset="2"/>
              <a:buChar char="q"/>
            </a:pPr>
            <a:r>
              <a:rPr lang="en-AU" sz="2400" dirty="0">
                <a:solidFill>
                  <a:srgbClr val="00B050"/>
                </a:solidFill>
              </a:rPr>
              <a:t> Research team</a:t>
            </a:r>
          </a:p>
          <a:p>
            <a:pPr marL="457200" indent="-457200">
              <a:spcBef>
                <a:spcPts val="600"/>
              </a:spcBef>
              <a:spcAft>
                <a:spcPts val="1800"/>
              </a:spcAft>
              <a:buFont typeface="Wingdings" panose="05000000000000000000" pitchFamily="2" charset="2"/>
              <a:buChar char="q"/>
            </a:pPr>
            <a:r>
              <a:rPr lang="en-AU" sz="2400" dirty="0"/>
              <a:t> Research timeline </a:t>
            </a:r>
          </a:p>
          <a:p>
            <a:pPr lvl="1" fontAlgn="auto">
              <a:spcBef>
                <a:spcPts val="600"/>
              </a:spcBef>
              <a:spcAft>
                <a:spcPts val="1800"/>
              </a:spcAft>
              <a:defRPr/>
            </a:pPr>
            <a:endParaRPr lang="en-US" sz="1400" b="1" dirty="0"/>
          </a:p>
          <a:p>
            <a:pPr>
              <a:spcBef>
                <a:spcPts val="600"/>
              </a:spcBef>
              <a:spcAft>
                <a:spcPts val="1800"/>
              </a:spcAft>
              <a:buFont typeface="Wingdings" panose="05000000000000000000" pitchFamily="2" charset="2"/>
              <a:buChar char="q"/>
            </a:pPr>
            <a:endParaRPr lang="en-US" sz="2400" dirty="0"/>
          </a:p>
        </p:txBody>
      </p:sp>
      <p:sp>
        <p:nvSpPr>
          <p:cNvPr id="6" name="Date Placeholder 5">
            <a:extLst>
              <a:ext uri="{FF2B5EF4-FFF2-40B4-BE49-F238E27FC236}">
                <a16:creationId xmlns:a16="http://schemas.microsoft.com/office/drawing/2014/main" xmlns="" id="{EBA20A09-E6F2-470C-A928-A979E1B79B24}"/>
              </a:ext>
            </a:extLst>
          </p:cNvPr>
          <p:cNvSpPr>
            <a:spLocks noGrp="1"/>
          </p:cNvSpPr>
          <p:nvPr>
            <p:ph type="dt" sz="half" idx="10"/>
          </p:nvPr>
        </p:nvSpPr>
        <p:spPr/>
        <p:txBody>
          <a:bodyPr/>
          <a:lstStyle/>
          <a:p>
            <a:pPr>
              <a:defRPr/>
            </a:pPr>
            <a:fld id="{46CFD5BC-4037-46F5-80DD-4E1F4641769E}" type="datetime1">
              <a:rPr lang="en-US" smtClean="0"/>
              <a:t>7/6/2022</a:t>
            </a:fld>
            <a:endParaRPr lang="en-US"/>
          </a:p>
        </p:txBody>
      </p:sp>
      <p:sp>
        <p:nvSpPr>
          <p:cNvPr id="8" name="Slide Number Placeholder 7">
            <a:extLst>
              <a:ext uri="{FF2B5EF4-FFF2-40B4-BE49-F238E27FC236}">
                <a16:creationId xmlns:a16="http://schemas.microsoft.com/office/drawing/2014/main" xmlns="" id="{13F0861D-01A4-446D-9D45-D85670F420EF}"/>
              </a:ext>
            </a:extLst>
          </p:cNvPr>
          <p:cNvSpPr>
            <a:spLocks noGrp="1"/>
          </p:cNvSpPr>
          <p:nvPr>
            <p:ph type="sldNum" sz="quarter" idx="14"/>
          </p:nvPr>
        </p:nvSpPr>
        <p:spPr/>
        <p:txBody>
          <a:bodyPr/>
          <a:lstStyle/>
          <a:p>
            <a:pPr>
              <a:defRPr/>
            </a:pPr>
            <a:fld id="{A4D7D840-3C4D-4535-9FCE-221E1C945AAA}" type="slidenum">
              <a:rPr lang="en-US" smtClean="0"/>
              <a:pPr>
                <a:defRPr/>
              </a:pPr>
              <a:t>2</a:t>
            </a:fld>
            <a:endParaRPr lang="en-US"/>
          </a:p>
        </p:txBody>
      </p:sp>
    </p:spTree>
    <p:extLst>
      <p:ext uri="{BB962C8B-B14F-4D97-AF65-F5344CB8AC3E}">
        <p14:creationId xmlns:p14="http://schemas.microsoft.com/office/powerpoint/2010/main" val="3580591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CFA0286A-32C8-41D6-BE65-D4D8F2875BBA}"/>
              </a:ext>
            </a:extLst>
          </p:cNvPr>
          <p:cNvSpPr>
            <a:spLocks noGrp="1"/>
          </p:cNvSpPr>
          <p:nvPr>
            <p:ph type="body" sz="quarter" idx="12"/>
          </p:nvPr>
        </p:nvSpPr>
        <p:spPr/>
        <p:txBody>
          <a:bodyPr/>
          <a:lstStyle/>
          <a:p>
            <a:r>
              <a:rPr lang="en-US" dirty="0">
                <a:solidFill>
                  <a:srgbClr val="FF0000"/>
                </a:solidFill>
              </a:rPr>
              <a:t>Objectives  </a:t>
            </a:r>
          </a:p>
        </p:txBody>
      </p:sp>
      <p:sp>
        <p:nvSpPr>
          <p:cNvPr id="3" name="Text Placeholder 2">
            <a:extLst>
              <a:ext uri="{FF2B5EF4-FFF2-40B4-BE49-F238E27FC236}">
                <a16:creationId xmlns:a16="http://schemas.microsoft.com/office/drawing/2014/main" xmlns="" id="{53141E51-2170-4A97-B2AB-453B7E9B00DF}"/>
              </a:ext>
            </a:extLst>
          </p:cNvPr>
          <p:cNvSpPr>
            <a:spLocks noGrp="1"/>
          </p:cNvSpPr>
          <p:nvPr>
            <p:ph type="body" sz="quarter" idx="13"/>
          </p:nvPr>
        </p:nvSpPr>
        <p:spPr/>
        <p:txBody>
          <a:bodyPr>
            <a:normAutofit/>
          </a:bodyPr>
          <a:lstStyle/>
          <a:p>
            <a:pPr>
              <a:spcAft>
                <a:spcPts val="1800"/>
              </a:spcAft>
              <a:buFont typeface="Wingdings" panose="05000000000000000000" pitchFamily="2" charset="2"/>
              <a:buChar char="q"/>
            </a:pPr>
            <a:r>
              <a:rPr lang="en-US" sz="3200" dirty="0"/>
              <a:t>To understand how to write a research  proposal  </a:t>
            </a:r>
          </a:p>
          <a:p>
            <a:pPr>
              <a:spcAft>
                <a:spcPts val="1800"/>
              </a:spcAft>
              <a:buFont typeface="Wingdings" panose="05000000000000000000" pitchFamily="2" charset="2"/>
              <a:buChar char="q"/>
            </a:pPr>
            <a:r>
              <a:rPr lang="en-US" sz="3200" dirty="0">
                <a:solidFill>
                  <a:srgbClr val="0070C0"/>
                </a:solidFill>
              </a:rPr>
              <a:t>To understand the structure of research  proposal</a:t>
            </a:r>
            <a:r>
              <a:rPr lang="en-US" sz="3200" dirty="0"/>
              <a:t>   </a:t>
            </a:r>
          </a:p>
          <a:p>
            <a:pPr>
              <a:spcAft>
                <a:spcPts val="1800"/>
              </a:spcAft>
              <a:buFont typeface="Wingdings" panose="05000000000000000000" pitchFamily="2" charset="2"/>
              <a:buChar char="q"/>
            </a:pPr>
            <a:r>
              <a:rPr lang="en-US" sz="3200" dirty="0"/>
              <a:t>To understand how to cite literatures</a:t>
            </a:r>
          </a:p>
          <a:p>
            <a:pPr>
              <a:spcAft>
                <a:spcPts val="1800"/>
              </a:spcAft>
              <a:buFont typeface="Wingdings" panose="05000000000000000000" pitchFamily="2" charset="2"/>
              <a:buChar char="q"/>
            </a:pPr>
            <a:r>
              <a:rPr lang="en-US" sz="3200" dirty="0">
                <a:solidFill>
                  <a:srgbClr val="0070C0"/>
                </a:solidFill>
              </a:rPr>
              <a:t>To understand how to write citation and  reference</a:t>
            </a:r>
          </a:p>
        </p:txBody>
      </p:sp>
      <p:sp>
        <p:nvSpPr>
          <p:cNvPr id="4" name="Date Placeholder 3">
            <a:extLst>
              <a:ext uri="{FF2B5EF4-FFF2-40B4-BE49-F238E27FC236}">
                <a16:creationId xmlns:a16="http://schemas.microsoft.com/office/drawing/2014/main" xmlns="" id="{4AEFF5E8-B970-40B1-84A4-9697B5377DED}"/>
              </a:ext>
            </a:extLst>
          </p:cNvPr>
          <p:cNvSpPr>
            <a:spLocks noGrp="1"/>
          </p:cNvSpPr>
          <p:nvPr>
            <p:ph type="dt" sz="half" idx="10"/>
          </p:nvPr>
        </p:nvSpPr>
        <p:spPr/>
        <p:txBody>
          <a:bodyPr/>
          <a:lstStyle/>
          <a:p>
            <a:pPr>
              <a:defRPr/>
            </a:pPr>
            <a:fld id="{69A52D0F-A1E2-42CE-91A9-618E0BB64790}" type="datetime1">
              <a:rPr lang="en-US" smtClean="0"/>
              <a:t>7/6/2022</a:t>
            </a:fld>
            <a:endParaRPr lang="en-US"/>
          </a:p>
        </p:txBody>
      </p:sp>
      <p:sp>
        <p:nvSpPr>
          <p:cNvPr id="6" name="Slide Number Placeholder 5">
            <a:extLst>
              <a:ext uri="{FF2B5EF4-FFF2-40B4-BE49-F238E27FC236}">
                <a16:creationId xmlns:a16="http://schemas.microsoft.com/office/drawing/2014/main" xmlns="" id="{A3CABBEB-EC3F-4BEC-B6E7-2F9BAE00A980}"/>
              </a:ext>
            </a:extLst>
          </p:cNvPr>
          <p:cNvSpPr>
            <a:spLocks noGrp="1"/>
          </p:cNvSpPr>
          <p:nvPr>
            <p:ph type="sldNum" sz="quarter" idx="14"/>
          </p:nvPr>
        </p:nvSpPr>
        <p:spPr/>
        <p:txBody>
          <a:bodyPr/>
          <a:lstStyle/>
          <a:p>
            <a:pPr>
              <a:defRPr/>
            </a:pPr>
            <a:fld id="{A4D7D840-3C4D-4535-9FCE-221E1C945AAA}" type="slidenum">
              <a:rPr lang="en-US" smtClean="0"/>
              <a:pPr>
                <a:defRPr/>
              </a:pPr>
              <a:t>3</a:t>
            </a:fld>
            <a:endParaRPr lang="en-US"/>
          </a:p>
        </p:txBody>
      </p:sp>
    </p:spTree>
    <p:extLst>
      <p:ext uri="{BB962C8B-B14F-4D97-AF65-F5344CB8AC3E}">
        <p14:creationId xmlns:p14="http://schemas.microsoft.com/office/powerpoint/2010/main" val="32357223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97DF8C56-9B26-44EE-BF7A-125B44A1CBFF}"/>
              </a:ext>
            </a:extLst>
          </p:cNvPr>
          <p:cNvSpPr>
            <a:spLocks noGrp="1"/>
          </p:cNvSpPr>
          <p:nvPr>
            <p:ph type="body" sz="quarter" idx="12"/>
          </p:nvPr>
        </p:nvSpPr>
        <p:spPr/>
        <p:txBody>
          <a:bodyPr/>
          <a:lstStyle/>
          <a:p>
            <a:r>
              <a:rPr lang="en-US" dirty="0">
                <a:solidFill>
                  <a:srgbClr val="FF0000"/>
                </a:solidFill>
              </a:rPr>
              <a:t>Where we are?</a:t>
            </a:r>
          </a:p>
        </p:txBody>
      </p:sp>
      <p:pic>
        <p:nvPicPr>
          <p:cNvPr id="7" name="Picture 6">
            <a:extLst>
              <a:ext uri="{FF2B5EF4-FFF2-40B4-BE49-F238E27FC236}">
                <a16:creationId xmlns:a16="http://schemas.microsoft.com/office/drawing/2014/main" xmlns="" id="{D224685D-90C7-4C2E-9926-EBDEB3C4A0B2}"/>
              </a:ext>
            </a:extLst>
          </p:cNvPr>
          <p:cNvPicPr>
            <a:picLocks noChangeAspect="1"/>
          </p:cNvPicPr>
          <p:nvPr/>
        </p:nvPicPr>
        <p:blipFill rotWithShape="1">
          <a:blip r:embed="rId3"/>
          <a:srcRect l="15001" t="15909" r="18333" b="8498"/>
          <a:stretch/>
        </p:blipFill>
        <p:spPr>
          <a:xfrm>
            <a:off x="93139" y="914400"/>
            <a:ext cx="8593661" cy="5478461"/>
          </a:xfrm>
          <a:prstGeom prst="rect">
            <a:avLst/>
          </a:prstGeom>
        </p:spPr>
      </p:pic>
      <p:sp>
        <p:nvSpPr>
          <p:cNvPr id="4" name="Date Placeholder 3">
            <a:extLst>
              <a:ext uri="{FF2B5EF4-FFF2-40B4-BE49-F238E27FC236}">
                <a16:creationId xmlns:a16="http://schemas.microsoft.com/office/drawing/2014/main" xmlns="" id="{615EAB21-C3F6-42A2-B21C-7AB77961D354}"/>
              </a:ext>
            </a:extLst>
          </p:cNvPr>
          <p:cNvSpPr>
            <a:spLocks noGrp="1"/>
          </p:cNvSpPr>
          <p:nvPr>
            <p:ph type="dt" sz="half" idx="10"/>
          </p:nvPr>
        </p:nvSpPr>
        <p:spPr/>
        <p:txBody>
          <a:bodyPr/>
          <a:lstStyle/>
          <a:p>
            <a:pPr>
              <a:defRPr/>
            </a:pPr>
            <a:fld id="{69A52D0F-A1E2-42CE-91A9-618E0BB64790}" type="datetime1">
              <a:rPr lang="en-US" smtClean="0"/>
              <a:t>7/6/2022</a:t>
            </a:fld>
            <a:endParaRPr lang="en-US"/>
          </a:p>
        </p:txBody>
      </p:sp>
      <p:sp>
        <p:nvSpPr>
          <p:cNvPr id="6" name="Slide Number Placeholder 5">
            <a:extLst>
              <a:ext uri="{FF2B5EF4-FFF2-40B4-BE49-F238E27FC236}">
                <a16:creationId xmlns:a16="http://schemas.microsoft.com/office/drawing/2014/main" xmlns="" id="{3ABD0473-F796-4CE9-91BC-0CB44857A908}"/>
              </a:ext>
            </a:extLst>
          </p:cNvPr>
          <p:cNvSpPr>
            <a:spLocks noGrp="1"/>
          </p:cNvSpPr>
          <p:nvPr>
            <p:ph type="sldNum" sz="quarter" idx="14"/>
          </p:nvPr>
        </p:nvSpPr>
        <p:spPr/>
        <p:txBody>
          <a:bodyPr/>
          <a:lstStyle/>
          <a:p>
            <a:pPr>
              <a:defRPr/>
            </a:pPr>
            <a:fld id="{A4D7D840-3C4D-4535-9FCE-221E1C945AAA}" type="slidenum">
              <a:rPr lang="en-US" smtClean="0"/>
              <a:pPr>
                <a:defRPr/>
              </a:pPr>
              <a:t>4</a:t>
            </a:fld>
            <a:endParaRPr lang="en-US"/>
          </a:p>
        </p:txBody>
      </p:sp>
    </p:spTree>
    <p:extLst>
      <p:ext uri="{BB962C8B-B14F-4D97-AF65-F5344CB8AC3E}">
        <p14:creationId xmlns:p14="http://schemas.microsoft.com/office/powerpoint/2010/main" val="2049966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87268BB7-9BDA-4441-898B-93DA7A618083}"/>
              </a:ext>
            </a:extLst>
          </p:cNvPr>
          <p:cNvSpPr>
            <a:spLocks noGrp="1"/>
          </p:cNvSpPr>
          <p:nvPr>
            <p:ph type="body" sz="quarter" idx="12"/>
          </p:nvPr>
        </p:nvSpPr>
        <p:spPr/>
        <p:txBody>
          <a:bodyPr/>
          <a:lstStyle/>
          <a:p>
            <a:r>
              <a:rPr lang="en-US" dirty="0">
                <a:solidFill>
                  <a:srgbClr val="FF0000"/>
                </a:solidFill>
              </a:rPr>
              <a:t>What is Research Proposal?</a:t>
            </a:r>
          </a:p>
        </p:txBody>
      </p:sp>
      <p:sp>
        <p:nvSpPr>
          <p:cNvPr id="3" name="Text Placeholder 2">
            <a:extLst>
              <a:ext uri="{FF2B5EF4-FFF2-40B4-BE49-F238E27FC236}">
                <a16:creationId xmlns:a16="http://schemas.microsoft.com/office/drawing/2014/main" xmlns="" id="{E5434795-6583-468B-ADD2-EDA6F77A1B41}"/>
              </a:ext>
            </a:extLst>
          </p:cNvPr>
          <p:cNvSpPr>
            <a:spLocks noGrp="1"/>
          </p:cNvSpPr>
          <p:nvPr>
            <p:ph type="body" sz="quarter" idx="13"/>
          </p:nvPr>
        </p:nvSpPr>
        <p:spPr/>
        <p:txBody>
          <a:bodyPr>
            <a:normAutofit/>
          </a:bodyPr>
          <a:lstStyle/>
          <a:p>
            <a:pPr>
              <a:spcBef>
                <a:spcPts val="600"/>
              </a:spcBef>
              <a:spcAft>
                <a:spcPts val="1800"/>
              </a:spcAft>
              <a:buFont typeface="Wingdings" panose="05000000000000000000" pitchFamily="2" charset="2"/>
              <a:buChar char="q"/>
            </a:pPr>
            <a:r>
              <a:rPr lang="en-US" sz="2800" dirty="0"/>
              <a:t>After you have ideas, then you can state the  general problems or general issues of your  “research” interest </a:t>
            </a:r>
          </a:p>
          <a:p>
            <a:pPr>
              <a:spcBef>
                <a:spcPts val="600"/>
              </a:spcBef>
              <a:spcAft>
                <a:spcPts val="1800"/>
              </a:spcAft>
              <a:buFont typeface="Wingdings" panose="05000000000000000000" pitchFamily="2" charset="2"/>
              <a:buChar char="q"/>
            </a:pPr>
            <a:r>
              <a:rPr lang="en-US" sz="2800" dirty="0">
                <a:solidFill>
                  <a:schemeClr val="tx2">
                    <a:lumMod val="60000"/>
                    <a:lumOff val="40000"/>
                  </a:schemeClr>
                </a:solidFill>
              </a:rPr>
              <a:t>Elaborate the problems by reviewing  literatures </a:t>
            </a:r>
          </a:p>
          <a:p>
            <a:pPr lvl="2" indent="-342900">
              <a:spcBef>
                <a:spcPts val="600"/>
              </a:spcBef>
              <a:spcAft>
                <a:spcPts val="1800"/>
              </a:spcAft>
              <a:buFont typeface="Wingdings" panose="05000000000000000000" pitchFamily="2" charset="2"/>
              <a:buChar char="Ø"/>
            </a:pPr>
            <a:r>
              <a:rPr lang="en-US" sz="2400" dirty="0"/>
              <a:t> Make sure the problems are worth of research</a:t>
            </a:r>
          </a:p>
          <a:p>
            <a:pPr lvl="2" indent="-342900">
              <a:spcBef>
                <a:spcPts val="600"/>
              </a:spcBef>
              <a:spcAft>
                <a:spcPts val="1800"/>
              </a:spcAft>
              <a:buFont typeface="Wingdings" panose="05000000000000000000" pitchFamily="2" charset="2"/>
              <a:buChar char="Ø"/>
            </a:pPr>
            <a:r>
              <a:rPr lang="en-US" sz="2400" dirty="0"/>
              <a:t> See previous course‐material: how to review  literatures</a:t>
            </a:r>
          </a:p>
          <a:p>
            <a:pPr>
              <a:spcBef>
                <a:spcPts val="600"/>
              </a:spcBef>
              <a:spcAft>
                <a:spcPts val="1800"/>
              </a:spcAft>
              <a:buFont typeface="Wingdings" panose="05000000000000000000" pitchFamily="2" charset="2"/>
              <a:buChar char="q"/>
            </a:pPr>
            <a:r>
              <a:rPr lang="en-US" sz="2800" dirty="0"/>
              <a:t> </a:t>
            </a:r>
            <a:r>
              <a:rPr lang="en-US" sz="2800" dirty="0">
                <a:solidFill>
                  <a:schemeClr val="tx2">
                    <a:lumMod val="60000"/>
                    <a:lumOff val="40000"/>
                  </a:schemeClr>
                </a:solidFill>
              </a:rPr>
              <a:t>Design steps to solve the problems‐‐ methodology  </a:t>
            </a:r>
          </a:p>
          <a:p>
            <a:pPr marL="1200150" lvl="2" indent="-342900">
              <a:spcBef>
                <a:spcPts val="600"/>
              </a:spcBef>
              <a:spcAft>
                <a:spcPts val="1800"/>
              </a:spcAft>
              <a:buFont typeface="Wingdings" panose="05000000000000000000" pitchFamily="2" charset="2"/>
              <a:buChar char="Ø"/>
            </a:pPr>
            <a:r>
              <a:rPr lang="en-US" sz="2400" dirty="0"/>
              <a:t>Use all related theories, methods, techniques,  processes, procedures, tools, etc., found in the </a:t>
            </a:r>
          </a:p>
        </p:txBody>
      </p:sp>
      <p:sp>
        <p:nvSpPr>
          <p:cNvPr id="4" name="Date Placeholder 3">
            <a:extLst>
              <a:ext uri="{FF2B5EF4-FFF2-40B4-BE49-F238E27FC236}">
                <a16:creationId xmlns:a16="http://schemas.microsoft.com/office/drawing/2014/main" xmlns="" id="{DD49C208-32B5-4824-B8D5-910412183C50}"/>
              </a:ext>
            </a:extLst>
          </p:cNvPr>
          <p:cNvSpPr>
            <a:spLocks noGrp="1"/>
          </p:cNvSpPr>
          <p:nvPr>
            <p:ph type="dt" sz="half" idx="10"/>
          </p:nvPr>
        </p:nvSpPr>
        <p:spPr/>
        <p:txBody>
          <a:bodyPr/>
          <a:lstStyle/>
          <a:p>
            <a:pPr>
              <a:defRPr/>
            </a:pPr>
            <a:fld id="{69A52D0F-A1E2-42CE-91A9-618E0BB64790}" type="datetime1">
              <a:rPr lang="en-US" smtClean="0"/>
              <a:t>7/6/2022</a:t>
            </a:fld>
            <a:endParaRPr lang="en-US"/>
          </a:p>
        </p:txBody>
      </p:sp>
      <p:sp>
        <p:nvSpPr>
          <p:cNvPr id="6" name="Slide Number Placeholder 5">
            <a:extLst>
              <a:ext uri="{FF2B5EF4-FFF2-40B4-BE49-F238E27FC236}">
                <a16:creationId xmlns:a16="http://schemas.microsoft.com/office/drawing/2014/main" xmlns="" id="{D28328F0-C754-4A5E-A8AA-6CAC42993F8B}"/>
              </a:ext>
            </a:extLst>
          </p:cNvPr>
          <p:cNvSpPr>
            <a:spLocks noGrp="1"/>
          </p:cNvSpPr>
          <p:nvPr>
            <p:ph type="sldNum" sz="quarter" idx="14"/>
          </p:nvPr>
        </p:nvSpPr>
        <p:spPr/>
        <p:txBody>
          <a:bodyPr/>
          <a:lstStyle/>
          <a:p>
            <a:pPr>
              <a:defRPr/>
            </a:pPr>
            <a:fld id="{A4D7D840-3C4D-4535-9FCE-221E1C945AAA}" type="slidenum">
              <a:rPr lang="en-US" smtClean="0"/>
              <a:pPr>
                <a:defRPr/>
              </a:pPr>
              <a:t>5</a:t>
            </a:fld>
            <a:endParaRPr lang="en-US"/>
          </a:p>
        </p:txBody>
      </p:sp>
    </p:spTree>
    <p:extLst>
      <p:ext uri="{BB962C8B-B14F-4D97-AF65-F5344CB8AC3E}">
        <p14:creationId xmlns:p14="http://schemas.microsoft.com/office/powerpoint/2010/main" val="2627207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B4C6FE3C-B4A9-405C-96E4-4D35A88F192E}"/>
              </a:ext>
            </a:extLst>
          </p:cNvPr>
          <p:cNvSpPr>
            <a:spLocks noGrp="1"/>
          </p:cNvSpPr>
          <p:nvPr>
            <p:ph type="body" sz="quarter" idx="12"/>
          </p:nvPr>
        </p:nvSpPr>
        <p:spPr/>
        <p:txBody>
          <a:bodyPr/>
          <a:lstStyle/>
          <a:p>
            <a:r>
              <a:rPr lang="en-US" dirty="0"/>
              <a:t>RESEARCH PROPOSAL FLOW CHART</a:t>
            </a:r>
          </a:p>
        </p:txBody>
      </p:sp>
      <p:sp>
        <p:nvSpPr>
          <p:cNvPr id="4" name="Date Placeholder 3">
            <a:extLst>
              <a:ext uri="{FF2B5EF4-FFF2-40B4-BE49-F238E27FC236}">
                <a16:creationId xmlns:a16="http://schemas.microsoft.com/office/drawing/2014/main" xmlns="" id="{B0B1619E-A47E-400C-9879-44CE48CEA616}"/>
              </a:ext>
            </a:extLst>
          </p:cNvPr>
          <p:cNvSpPr>
            <a:spLocks noGrp="1"/>
          </p:cNvSpPr>
          <p:nvPr>
            <p:ph type="dt" sz="half" idx="10"/>
          </p:nvPr>
        </p:nvSpPr>
        <p:spPr/>
        <p:txBody>
          <a:bodyPr/>
          <a:lstStyle/>
          <a:p>
            <a:pPr>
              <a:defRPr/>
            </a:pPr>
            <a:fld id="{69A52D0F-A1E2-42CE-91A9-618E0BB64790}" type="datetime1">
              <a:rPr lang="en-US" smtClean="0"/>
              <a:t>7/6/2022</a:t>
            </a:fld>
            <a:endParaRPr lang="en-US"/>
          </a:p>
        </p:txBody>
      </p:sp>
      <p:sp>
        <p:nvSpPr>
          <p:cNvPr id="5" name="Footer Placeholder 4">
            <a:extLst>
              <a:ext uri="{FF2B5EF4-FFF2-40B4-BE49-F238E27FC236}">
                <a16:creationId xmlns:a16="http://schemas.microsoft.com/office/drawing/2014/main" xmlns="" id="{68244DD9-F4D0-4E48-9216-DA74BC08FFF7}"/>
              </a:ext>
            </a:extLst>
          </p:cNvPr>
          <p:cNvSpPr>
            <a:spLocks noGrp="1"/>
          </p:cNvSpPr>
          <p:nvPr>
            <p:ph type="ftr" sz="quarter" idx="11"/>
          </p:nvPr>
        </p:nvSpPr>
        <p:spPr/>
        <p:txBody>
          <a:bodyPr/>
          <a:lstStyle/>
          <a:p>
            <a:pPr>
              <a:defRPr/>
            </a:pPr>
            <a:r>
              <a:rPr lang="en-US"/>
              <a:t>Dr. Afroza Nahar</a:t>
            </a:r>
          </a:p>
        </p:txBody>
      </p:sp>
      <p:sp>
        <p:nvSpPr>
          <p:cNvPr id="6" name="Slide Number Placeholder 5">
            <a:extLst>
              <a:ext uri="{FF2B5EF4-FFF2-40B4-BE49-F238E27FC236}">
                <a16:creationId xmlns:a16="http://schemas.microsoft.com/office/drawing/2014/main" xmlns="" id="{78181CEE-1EA5-4DCA-9D1C-58A909D0C4D7}"/>
              </a:ext>
            </a:extLst>
          </p:cNvPr>
          <p:cNvSpPr>
            <a:spLocks noGrp="1"/>
          </p:cNvSpPr>
          <p:nvPr>
            <p:ph type="sldNum" sz="quarter" idx="14"/>
          </p:nvPr>
        </p:nvSpPr>
        <p:spPr/>
        <p:txBody>
          <a:bodyPr/>
          <a:lstStyle/>
          <a:p>
            <a:pPr>
              <a:defRPr/>
            </a:pPr>
            <a:fld id="{A4D7D840-3C4D-4535-9FCE-221E1C945AAA}" type="slidenum">
              <a:rPr lang="en-US" smtClean="0"/>
              <a:pPr>
                <a:defRPr/>
              </a:pPr>
              <a:t>6</a:t>
            </a:fld>
            <a:endParaRPr lang="en-US"/>
          </a:p>
        </p:txBody>
      </p:sp>
      <p:pic>
        <p:nvPicPr>
          <p:cNvPr id="1028" name="Picture 4" descr="May be an image of text that says 'Research Proposal Flow Chart Research Question 1. Introduction What? Why? How? Summary of Proposal Literature on Topic Literature on Method Theoretical Approach Literature Review Why? How? Find Hole Look for Debates Research Design Research Procedures Kind of Data 3. Methodology How? Selection and Access Collection Procedures Human Subjects Review Ethics Statement Costs and Funding Evidence of Importance Informs Methodology Preliminary Data What? Preliminary Findings Important categories Relationships Alternatives Weaknesses 5. Statement of Limitations What your research will do Contributions 6. Conclusion What? How? Why? Importance'">
            <a:extLst>
              <a:ext uri="{FF2B5EF4-FFF2-40B4-BE49-F238E27FC236}">
                <a16:creationId xmlns:a16="http://schemas.microsoft.com/office/drawing/2014/main" xmlns="" id="{CA0B31E7-C83D-430F-8845-AE61C8B1682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524"/>
          <a:stretch/>
        </p:blipFill>
        <p:spPr bwMode="auto">
          <a:xfrm>
            <a:off x="2057400" y="936925"/>
            <a:ext cx="4953000" cy="5874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14173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xmlns="" id="{B897FD53-71B0-4CB9-8845-3AA7F68386F9}"/>
              </a:ext>
            </a:extLst>
          </p:cNvPr>
          <p:cNvSpPr>
            <a:spLocks noGrp="1"/>
          </p:cNvSpPr>
          <p:nvPr>
            <p:ph type="body" sz="quarter" idx="12"/>
          </p:nvPr>
        </p:nvSpPr>
        <p:spPr/>
        <p:txBody>
          <a:bodyPr/>
          <a:lstStyle/>
          <a:p>
            <a:pPr lvl="0">
              <a:spcBef>
                <a:spcPct val="0"/>
              </a:spcBef>
              <a:defRPr/>
            </a:pPr>
            <a:r>
              <a:rPr lang="en-AU" sz="4000" cap="none" dirty="0">
                <a:solidFill>
                  <a:srgbClr val="FF0000"/>
                </a:solidFill>
              </a:rPr>
              <a:t>Introduction</a:t>
            </a:r>
          </a:p>
        </p:txBody>
      </p:sp>
      <p:sp>
        <p:nvSpPr>
          <p:cNvPr id="5" name="Content Placeholder 2">
            <a:extLst>
              <a:ext uri="{FF2B5EF4-FFF2-40B4-BE49-F238E27FC236}">
                <a16:creationId xmlns:a16="http://schemas.microsoft.com/office/drawing/2014/main" xmlns="" id="{CA2A9E2E-D450-4368-875B-568F3509A988}"/>
              </a:ext>
            </a:extLst>
          </p:cNvPr>
          <p:cNvSpPr txBox="1">
            <a:spLocks/>
          </p:cNvSpPr>
          <p:nvPr/>
        </p:nvSpPr>
        <p:spPr>
          <a:xfrm>
            <a:off x="152400" y="838200"/>
            <a:ext cx="4114800" cy="5715000"/>
          </a:xfrm>
          <a:prstGeom prst="rect">
            <a:avLst/>
          </a:prstGeom>
        </p:spPr>
        <p:txBody>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Wingdings" panose="05000000000000000000" pitchFamily="2" charset="2"/>
              <a:buChar char="q"/>
            </a:pPr>
            <a:r>
              <a:rPr lang="en-AU" sz="2000" dirty="0"/>
              <a:t>A </a:t>
            </a:r>
            <a:r>
              <a:rPr lang="en-AU" sz="2000" b="1" dirty="0"/>
              <a:t>research proposal</a:t>
            </a:r>
            <a:r>
              <a:rPr lang="en-AU" sz="2000" dirty="0"/>
              <a:t> is an overall </a:t>
            </a:r>
            <a:r>
              <a:rPr lang="en-AU" sz="2000" b="1" dirty="0"/>
              <a:t>plan, scheme, structure and strategy </a:t>
            </a:r>
            <a:r>
              <a:rPr lang="en-AU" sz="2000" dirty="0"/>
              <a:t>designed to obtain answer to the research question</a:t>
            </a:r>
          </a:p>
          <a:p>
            <a:pPr algn="just">
              <a:buFont typeface="Wingdings" panose="05000000000000000000" pitchFamily="2" charset="2"/>
              <a:buChar char="q"/>
            </a:pPr>
            <a:r>
              <a:rPr lang="en-AU" sz="2000" dirty="0">
                <a:solidFill>
                  <a:srgbClr val="CC0099"/>
                </a:solidFill>
              </a:rPr>
              <a:t>Ensures the reviewers of the validity of the methodology for obtaining answers to your research questions accurately and objectively. </a:t>
            </a:r>
          </a:p>
          <a:p>
            <a:pPr algn="just">
              <a:buFont typeface="Wingdings" panose="05000000000000000000" pitchFamily="2" charset="2"/>
              <a:buChar char="q"/>
            </a:pPr>
            <a:r>
              <a:rPr lang="en-AU" sz="2000" dirty="0">
                <a:solidFill>
                  <a:srgbClr val="0070C0"/>
                </a:solidFill>
              </a:rPr>
              <a:t>Explain to your research supervisor and reviewers the following information about your study</a:t>
            </a:r>
            <a:r>
              <a:rPr lang="en-AU" sz="2000" dirty="0"/>
              <a:t>: </a:t>
            </a:r>
          </a:p>
          <a:p>
            <a:pPr lvl="1" algn="just">
              <a:buFont typeface="Wingdings" panose="05000000000000000000" pitchFamily="2" charset="2"/>
              <a:buChar char="Ø"/>
            </a:pPr>
            <a:r>
              <a:rPr lang="en-AU" sz="1800" dirty="0"/>
              <a:t>what you are proposing to do; </a:t>
            </a:r>
          </a:p>
          <a:p>
            <a:pPr lvl="1" algn="just">
              <a:buFont typeface="Wingdings" panose="05000000000000000000" pitchFamily="2" charset="2"/>
              <a:buChar char="Ø"/>
            </a:pPr>
            <a:r>
              <a:rPr lang="en-AU" sz="1800" dirty="0"/>
              <a:t>how you plan to find answers to what you are proposing; </a:t>
            </a:r>
          </a:p>
          <a:p>
            <a:pPr lvl="1" algn="just">
              <a:buFont typeface="Wingdings" panose="05000000000000000000" pitchFamily="2" charset="2"/>
              <a:buChar char="Ø"/>
            </a:pPr>
            <a:r>
              <a:rPr lang="en-AU" sz="1800" dirty="0"/>
              <a:t>why you selected the proposed strategies of investigation </a:t>
            </a:r>
          </a:p>
          <a:p>
            <a:pPr lvl="1" fontAlgn="auto">
              <a:spcBef>
                <a:spcPts val="600"/>
              </a:spcBef>
              <a:spcAft>
                <a:spcPts val="1800"/>
              </a:spcAft>
              <a:buFont typeface="Wingdings" panose="05000000000000000000" pitchFamily="2" charset="2"/>
              <a:buChar char="q"/>
              <a:defRPr/>
            </a:pPr>
            <a:endParaRPr lang="en-US" sz="1400" b="1" dirty="0"/>
          </a:p>
          <a:p>
            <a:pPr>
              <a:spcBef>
                <a:spcPts val="600"/>
              </a:spcBef>
              <a:spcAft>
                <a:spcPts val="1800"/>
              </a:spcAft>
              <a:buFont typeface="Wingdings" panose="05000000000000000000" pitchFamily="2" charset="2"/>
              <a:buChar char="q"/>
            </a:pPr>
            <a:endParaRPr lang="en-US" sz="2400" dirty="0"/>
          </a:p>
        </p:txBody>
      </p:sp>
      <p:sp>
        <p:nvSpPr>
          <p:cNvPr id="6" name="Date Placeholder 5">
            <a:extLst>
              <a:ext uri="{FF2B5EF4-FFF2-40B4-BE49-F238E27FC236}">
                <a16:creationId xmlns:a16="http://schemas.microsoft.com/office/drawing/2014/main" xmlns="" id="{EBA20A09-E6F2-470C-A928-A979E1B79B24}"/>
              </a:ext>
            </a:extLst>
          </p:cNvPr>
          <p:cNvSpPr>
            <a:spLocks noGrp="1"/>
          </p:cNvSpPr>
          <p:nvPr>
            <p:ph type="dt" sz="half" idx="10"/>
          </p:nvPr>
        </p:nvSpPr>
        <p:spPr/>
        <p:txBody>
          <a:bodyPr/>
          <a:lstStyle/>
          <a:p>
            <a:pPr>
              <a:defRPr/>
            </a:pPr>
            <a:fld id="{46CFD5BC-4037-46F5-80DD-4E1F4641769E}" type="datetime1">
              <a:rPr lang="en-US" smtClean="0"/>
              <a:t>7/6/2022</a:t>
            </a:fld>
            <a:endParaRPr lang="en-US"/>
          </a:p>
        </p:txBody>
      </p:sp>
      <p:sp>
        <p:nvSpPr>
          <p:cNvPr id="8" name="Slide Number Placeholder 7">
            <a:extLst>
              <a:ext uri="{FF2B5EF4-FFF2-40B4-BE49-F238E27FC236}">
                <a16:creationId xmlns:a16="http://schemas.microsoft.com/office/drawing/2014/main" xmlns="" id="{13F0861D-01A4-446D-9D45-D85670F420EF}"/>
              </a:ext>
            </a:extLst>
          </p:cNvPr>
          <p:cNvSpPr>
            <a:spLocks noGrp="1"/>
          </p:cNvSpPr>
          <p:nvPr>
            <p:ph type="sldNum" sz="quarter" idx="14"/>
          </p:nvPr>
        </p:nvSpPr>
        <p:spPr/>
        <p:txBody>
          <a:bodyPr/>
          <a:lstStyle/>
          <a:p>
            <a:pPr>
              <a:defRPr/>
            </a:pPr>
            <a:fld id="{A4D7D840-3C4D-4535-9FCE-221E1C945AAA}" type="slidenum">
              <a:rPr lang="en-US" smtClean="0"/>
              <a:pPr>
                <a:defRPr/>
              </a:pPr>
              <a:t>7</a:t>
            </a:fld>
            <a:endParaRPr lang="en-US"/>
          </a:p>
        </p:txBody>
      </p:sp>
      <p:pic>
        <p:nvPicPr>
          <p:cNvPr id="9" name="Picture 2" descr="Related image">
            <a:extLst>
              <a:ext uri="{FF2B5EF4-FFF2-40B4-BE49-F238E27FC236}">
                <a16:creationId xmlns:a16="http://schemas.microsoft.com/office/drawing/2014/main" xmlns="" id="{0C52EAEB-F56D-4180-960F-8ECE1E4DDF2C}"/>
              </a:ext>
            </a:extLst>
          </p:cNvPr>
          <p:cNvPicPr>
            <a:picLocks noChangeAspect="1" noChangeArrowheads="1"/>
          </p:cNvPicPr>
          <p:nvPr/>
        </p:nvPicPr>
        <p:blipFill>
          <a:blip r:embed="rId2" cstate="print"/>
          <a:srcRect/>
          <a:stretch>
            <a:fillRect/>
          </a:stretch>
        </p:blipFill>
        <p:spPr bwMode="auto">
          <a:xfrm>
            <a:off x="4636770" y="1295400"/>
            <a:ext cx="4476750" cy="4876800"/>
          </a:xfrm>
          <a:prstGeom prst="rect">
            <a:avLst/>
          </a:prstGeom>
          <a:noFill/>
        </p:spPr>
      </p:pic>
    </p:spTree>
    <p:extLst>
      <p:ext uri="{BB962C8B-B14F-4D97-AF65-F5344CB8AC3E}">
        <p14:creationId xmlns:p14="http://schemas.microsoft.com/office/powerpoint/2010/main" val="2921596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672615AF-63BC-461E-938B-BCC4367F5505}"/>
              </a:ext>
            </a:extLst>
          </p:cNvPr>
          <p:cNvSpPr>
            <a:spLocks noGrp="1"/>
          </p:cNvSpPr>
          <p:nvPr>
            <p:ph type="body" sz="quarter" idx="12"/>
          </p:nvPr>
        </p:nvSpPr>
        <p:spPr/>
        <p:txBody>
          <a:bodyPr/>
          <a:lstStyle/>
          <a:p>
            <a:endParaRPr lang="en-US"/>
          </a:p>
        </p:txBody>
      </p:sp>
      <p:sp>
        <p:nvSpPr>
          <p:cNvPr id="4" name="Date Placeholder 3">
            <a:extLst>
              <a:ext uri="{FF2B5EF4-FFF2-40B4-BE49-F238E27FC236}">
                <a16:creationId xmlns:a16="http://schemas.microsoft.com/office/drawing/2014/main" xmlns="" id="{B6E39A50-3B87-478F-BE26-78EF9C41795D}"/>
              </a:ext>
            </a:extLst>
          </p:cNvPr>
          <p:cNvSpPr>
            <a:spLocks noGrp="1"/>
          </p:cNvSpPr>
          <p:nvPr>
            <p:ph type="dt" sz="half" idx="10"/>
          </p:nvPr>
        </p:nvSpPr>
        <p:spPr/>
        <p:txBody>
          <a:bodyPr/>
          <a:lstStyle/>
          <a:p>
            <a:pPr>
              <a:defRPr/>
            </a:pPr>
            <a:fld id="{69A52D0F-A1E2-42CE-91A9-618E0BB64790}" type="datetime1">
              <a:rPr lang="en-US" smtClean="0"/>
              <a:t>7/6/2022</a:t>
            </a:fld>
            <a:endParaRPr lang="en-US"/>
          </a:p>
        </p:txBody>
      </p:sp>
      <p:sp>
        <p:nvSpPr>
          <p:cNvPr id="5" name="Footer Placeholder 4">
            <a:extLst>
              <a:ext uri="{FF2B5EF4-FFF2-40B4-BE49-F238E27FC236}">
                <a16:creationId xmlns:a16="http://schemas.microsoft.com/office/drawing/2014/main" xmlns="" id="{8C20CCE5-0FFA-472C-8C05-FF4D2CC86896}"/>
              </a:ext>
            </a:extLst>
          </p:cNvPr>
          <p:cNvSpPr>
            <a:spLocks noGrp="1"/>
          </p:cNvSpPr>
          <p:nvPr>
            <p:ph type="ftr" sz="quarter" idx="11"/>
          </p:nvPr>
        </p:nvSpPr>
        <p:spPr/>
        <p:txBody>
          <a:bodyPr/>
          <a:lstStyle/>
          <a:p>
            <a:pPr>
              <a:defRPr/>
            </a:pPr>
            <a:r>
              <a:rPr lang="en-US"/>
              <a:t>Dr. Afroza Nahar</a:t>
            </a:r>
          </a:p>
        </p:txBody>
      </p:sp>
      <p:sp>
        <p:nvSpPr>
          <p:cNvPr id="6" name="Slide Number Placeholder 5">
            <a:extLst>
              <a:ext uri="{FF2B5EF4-FFF2-40B4-BE49-F238E27FC236}">
                <a16:creationId xmlns:a16="http://schemas.microsoft.com/office/drawing/2014/main" xmlns="" id="{0028D472-6857-456B-B8CC-646C392EC88F}"/>
              </a:ext>
            </a:extLst>
          </p:cNvPr>
          <p:cNvSpPr>
            <a:spLocks noGrp="1"/>
          </p:cNvSpPr>
          <p:nvPr>
            <p:ph type="sldNum" sz="quarter" idx="14"/>
          </p:nvPr>
        </p:nvSpPr>
        <p:spPr/>
        <p:txBody>
          <a:bodyPr/>
          <a:lstStyle/>
          <a:p>
            <a:pPr>
              <a:defRPr/>
            </a:pPr>
            <a:fld id="{A4D7D840-3C4D-4535-9FCE-221E1C945AAA}" type="slidenum">
              <a:rPr lang="en-US" smtClean="0"/>
              <a:pPr>
                <a:defRPr/>
              </a:pPr>
              <a:t>8</a:t>
            </a:fld>
            <a:endParaRPr lang="en-US"/>
          </a:p>
        </p:txBody>
      </p:sp>
      <p:pic>
        <p:nvPicPr>
          <p:cNvPr id="1026" name="Picture 2" descr="May be an image of one or more people">
            <a:extLst>
              <a:ext uri="{FF2B5EF4-FFF2-40B4-BE49-F238E27FC236}">
                <a16:creationId xmlns:a16="http://schemas.microsoft.com/office/drawing/2014/main" xmlns="" id="{5680DC46-CEFE-4810-B22E-E17948C432C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63800" y="0"/>
            <a:ext cx="421481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72278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xmlns="" id="{B897FD53-71B0-4CB9-8845-3AA7F68386F9}"/>
              </a:ext>
            </a:extLst>
          </p:cNvPr>
          <p:cNvSpPr>
            <a:spLocks noGrp="1"/>
          </p:cNvSpPr>
          <p:nvPr>
            <p:ph type="body" sz="quarter" idx="12"/>
          </p:nvPr>
        </p:nvSpPr>
        <p:spPr/>
        <p:txBody>
          <a:bodyPr/>
          <a:lstStyle/>
          <a:p>
            <a:pPr lvl="0">
              <a:spcBef>
                <a:spcPct val="0"/>
              </a:spcBef>
              <a:defRPr/>
            </a:pPr>
            <a:r>
              <a:rPr lang="en-AU" sz="4000" dirty="0">
                <a:solidFill>
                  <a:srgbClr val="FF0000"/>
                </a:solidFill>
              </a:rPr>
              <a:t>Research Proposal Content</a:t>
            </a:r>
            <a:endParaRPr lang="en-AU" sz="4000" cap="none" dirty="0">
              <a:solidFill>
                <a:srgbClr val="FF0000"/>
              </a:solidFill>
            </a:endParaRPr>
          </a:p>
        </p:txBody>
      </p:sp>
      <p:sp>
        <p:nvSpPr>
          <p:cNvPr id="5" name="Content Placeholder 2">
            <a:extLst>
              <a:ext uri="{FF2B5EF4-FFF2-40B4-BE49-F238E27FC236}">
                <a16:creationId xmlns:a16="http://schemas.microsoft.com/office/drawing/2014/main" xmlns="" id="{CA2A9E2E-D450-4368-875B-568F3509A988}"/>
              </a:ext>
            </a:extLst>
          </p:cNvPr>
          <p:cNvSpPr txBox="1">
            <a:spLocks/>
          </p:cNvSpPr>
          <p:nvPr/>
        </p:nvSpPr>
        <p:spPr>
          <a:xfrm>
            <a:off x="152400" y="990600"/>
            <a:ext cx="8686800" cy="5562600"/>
          </a:xfrm>
          <a:prstGeom prst="rect">
            <a:avLst/>
          </a:prstGeom>
        </p:spPr>
        <p:txBody>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800" dirty="0">
                <a:solidFill>
                  <a:schemeClr val="tx2">
                    <a:lumMod val="60000"/>
                    <a:lumOff val="40000"/>
                  </a:schemeClr>
                </a:solidFill>
              </a:rPr>
              <a:t>A research proposal should contain the following information about your study: </a:t>
            </a:r>
          </a:p>
          <a:p>
            <a:endParaRPr lang="en-AU" sz="900" dirty="0"/>
          </a:p>
          <a:p>
            <a:pPr marL="914400" lvl="1" indent="-457200">
              <a:buFont typeface="Wingdings" panose="05000000000000000000" pitchFamily="2" charset="2"/>
              <a:buChar char="Ø"/>
            </a:pPr>
            <a:r>
              <a:rPr lang="en-AU" sz="2000" dirty="0"/>
              <a:t>an introduction, including a brief literature review, theoretical framework that underpins your study</a:t>
            </a:r>
          </a:p>
          <a:p>
            <a:pPr marL="914400" lvl="1" indent="-457200">
              <a:buFont typeface="Wingdings" panose="05000000000000000000" pitchFamily="2" charset="2"/>
              <a:buChar char="Ø"/>
            </a:pPr>
            <a:r>
              <a:rPr lang="en-AU" sz="2000" dirty="0">
                <a:solidFill>
                  <a:srgbClr val="0070C0"/>
                </a:solidFill>
              </a:rPr>
              <a:t>objectives or research questions of your study</a:t>
            </a:r>
          </a:p>
          <a:p>
            <a:pPr marL="914400" lvl="1" indent="-457200">
              <a:buFont typeface="Wingdings" panose="05000000000000000000" pitchFamily="2" charset="2"/>
              <a:buChar char="Ø"/>
            </a:pPr>
            <a:r>
              <a:rPr lang="en-AU" sz="2000" dirty="0"/>
              <a:t>hypotheses to be tested, if applicable</a:t>
            </a:r>
          </a:p>
          <a:p>
            <a:pPr marL="914400" lvl="1" indent="-457200">
              <a:buFont typeface="Wingdings" panose="05000000000000000000" pitchFamily="2" charset="2"/>
              <a:buChar char="Ø"/>
            </a:pPr>
            <a:r>
              <a:rPr lang="en-AU" sz="2000" dirty="0">
                <a:solidFill>
                  <a:srgbClr val="0070C0"/>
                </a:solidFill>
              </a:rPr>
              <a:t>study design that you are proposing to adopt </a:t>
            </a:r>
            <a:r>
              <a:rPr lang="en-AU" sz="2000" dirty="0"/>
              <a:t>setting for your study</a:t>
            </a:r>
          </a:p>
          <a:p>
            <a:pPr marL="914400" lvl="1" indent="-457200">
              <a:buFont typeface="Wingdings" panose="05000000000000000000" pitchFamily="2" charset="2"/>
              <a:buChar char="Ø"/>
            </a:pPr>
            <a:r>
              <a:rPr lang="en-AU" sz="2000" dirty="0">
                <a:solidFill>
                  <a:srgbClr val="0070C0"/>
                </a:solidFill>
              </a:rPr>
              <a:t>research instrument(s) you are planning to use  </a:t>
            </a:r>
            <a:r>
              <a:rPr lang="en-AU" sz="2000" dirty="0"/>
              <a:t>ethical issues involved and how you propose to deal with them</a:t>
            </a:r>
          </a:p>
          <a:p>
            <a:pPr marL="914400" lvl="1" indent="-457200">
              <a:buFont typeface="Wingdings" panose="05000000000000000000" pitchFamily="2" charset="2"/>
              <a:buChar char="Ø"/>
            </a:pPr>
            <a:r>
              <a:rPr lang="en-AU" sz="2000" dirty="0">
                <a:solidFill>
                  <a:srgbClr val="0070C0"/>
                </a:solidFill>
              </a:rPr>
              <a:t>data processing procedures</a:t>
            </a:r>
          </a:p>
          <a:p>
            <a:pPr marL="914400" lvl="1" indent="-457200">
              <a:buFont typeface="Wingdings" panose="05000000000000000000" pitchFamily="2" charset="2"/>
              <a:buChar char="Ø"/>
            </a:pPr>
            <a:r>
              <a:rPr lang="en-AU" sz="2000" dirty="0"/>
              <a:t>problems and limitations of the study </a:t>
            </a:r>
          </a:p>
          <a:p>
            <a:pPr marL="914400" lvl="1" indent="-457200">
              <a:buFont typeface="Wingdings" panose="05000000000000000000" pitchFamily="2" charset="2"/>
              <a:buChar char="Ø"/>
            </a:pPr>
            <a:r>
              <a:rPr lang="en-AU" sz="2000" dirty="0">
                <a:solidFill>
                  <a:srgbClr val="0070C0"/>
                </a:solidFill>
              </a:rPr>
              <a:t>proposed time-frame for the project</a:t>
            </a:r>
            <a:endParaRPr lang="en-US" sz="1100" b="1" dirty="0">
              <a:solidFill>
                <a:srgbClr val="0070C0"/>
              </a:solidFill>
            </a:endParaRPr>
          </a:p>
          <a:p>
            <a:pPr>
              <a:spcBef>
                <a:spcPts val="600"/>
              </a:spcBef>
              <a:spcAft>
                <a:spcPts val="1800"/>
              </a:spcAft>
              <a:buFont typeface="Wingdings" panose="05000000000000000000" pitchFamily="2" charset="2"/>
              <a:buChar char="q"/>
            </a:pPr>
            <a:endParaRPr lang="en-US" sz="2400" dirty="0"/>
          </a:p>
        </p:txBody>
      </p:sp>
      <p:sp>
        <p:nvSpPr>
          <p:cNvPr id="6" name="Date Placeholder 5">
            <a:extLst>
              <a:ext uri="{FF2B5EF4-FFF2-40B4-BE49-F238E27FC236}">
                <a16:creationId xmlns:a16="http://schemas.microsoft.com/office/drawing/2014/main" xmlns="" id="{EBA20A09-E6F2-470C-A928-A979E1B79B24}"/>
              </a:ext>
            </a:extLst>
          </p:cNvPr>
          <p:cNvSpPr>
            <a:spLocks noGrp="1"/>
          </p:cNvSpPr>
          <p:nvPr>
            <p:ph type="dt" sz="half" idx="10"/>
          </p:nvPr>
        </p:nvSpPr>
        <p:spPr/>
        <p:txBody>
          <a:bodyPr/>
          <a:lstStyle/>
          <a:p>
            <a:pPr>
              <a:defRPr/>
            </a:pPr>
            <a:fld id="{46CFD5BC-4037-46F5-80DD-4E1F4641769E}" type="datetime1">
              <a:rPr lang="en-US" smtClean="0"/>
              <a:t>7/6/2022</a:t>
            </a:fld>
            <a:endParaRPr lang="en-US"/>
          </a:p>
        </p:txBody>
      </p:sp>
      <p:sp>
        <p:nvSpPr>
          <p:cNvPr id="8" name="Slide Number Placeholder 7">
            <a:extLst>
              <a:ext uri="{FF2B5EF4-FFF2-40B4-BE49-F238E27FC236}">
                <a16:creationId xmlns:a16="http://schemas.microsoft.com/office/drawing/2014/main" xmlns="" id="{13F0861D-01A4-446D-9D45-D85670F420EF}"/>
              </a:ext>
            </a:extLst>
          </p:cNvPr>
          <p:cNvSpPr>
            <a:spLocks noGrp="1"/>
          </p:cNvSpPr>
          <p:nvPr>
            <p:ph type="sldNum" sz="quarter" idx="14"/>
          </p:nvPr>
        </p:nvSpPr>
        <p:spPr/>
        <p:txBody>
          <a:bodyPr/>
          <a:lstStyle/>
          <a:p>
            <a:pPr>
              <a:defRPr/>
            </a:pPr>
            <a:fld id="{A4D7D840-3C4D-4535-9FCE-221E1C945AAA}" type="slidenum">
              <a:rPr lang="en-US" smtClean="0"/>
              <a:pPr>
                <a:defRPr/>
              </a:pPr>
              <a:t>9</a:t>
            </a:fld>
            <a:endParaRPr lang="en-US"/>
          </a:p>
        </p:txBody>
      </p:sp>
    </p:spTree>
    <p:extLst>
      <p:ext uri="{BB962C8B-B14F-4D97-AF65-F5344CB8AC3E}">
        <p14:creationId xmlns:p14="http://schemas.microsoft.com/office/powerpoint/2010/main" val="3351362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fade">
                                      <p:cBhvr>
                                        <p:cTn id="17" dur="500"/>
                                        <p:tgtEl>
                                          <p:spTgt spid="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fade">
                                      <p:cBhvr>
                                        <p:cTn id="22" dur="500"/>
                                        <p:tgtEl>
                                          <p:spTgt spid="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fade">
                                      <p:cBhvr>
                                        <p:cTn id="27" dur="500"/>
                                        <p:tgtEl>
                                          <p:spTgt spid="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6" end="6"/>
                                            </p:txEl>
                                          </p:spTgt>
                                        </p:tgtEl>
                                        <p:attrNameLst>
                                          <p:attrName>style.visibility</p:attrName>
                                        </p:attrNameLst>
                                      </p:cBhvr>
                                      <p:to>
                                        <p:strVal val="visible"/>
                                      </p:to>
                                    </p:set>
                                    <p:animEffect transition="in" filter="fade">
                                      <p:cBhvr>
                                        <p:cTn id="32" dur="500"/>
                                        <p:tgtEl>
                                          <p:spTgt spid="5">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7" end="7"/>
                                            </p:txEl>
                                          </p:spTgt>
                                        </p:tgtEl>
                                        <p:attrNameLst>
                                          <p:attrName>style.visibility</p:attrName>
                                        </p:attrNameLst>
                                      </p:cBhvr>
                                      <p:to>
                                        <p:strVal val="visible"/>
                                      </p:to>
                                    </p:set>
                                    <p:animEffect transition="in" filter="fade">
                                      <p:cBhvr>
                                        <p:cTn id="37" dur="500"/>
                                        <p:tgtEl>
                                          <p:spTgt spid="5">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
                                            <p:txEl>
                                              <p:pRg st="8" end="8"/>
                                            </p:txEl>
                                          </p:spTgt>
                                        </p:tgtEl>
                                        <p:attrNameLst>
                                          <p:attrName>style.visibility</p:attrName>
                                        </p:attrNameLst>
                                      </p:cBhvr>
                                      <p:to>
                                        <p:strVal val="visible"/>
                                      </p:to>
                                    </p:set>
                                    <p:animEffect transition="in" filter="fade">
                                      <p:cBhvr>
                                        <p:cTn id="42" dur="500"/>
                                        <p:tgtEl>
                                          <p:spTgt spid="5">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
                                            <p:txEl>
                                              <p:pRg st="9" end="9"/>
                                            </p:txEl>
                                          </p:spTgt>
                                        </p:tgtEl>
                                        <p:attrNameLst>
                                          <p:attrName>style.visibility</p:attrName>
                                        </p:attrNameLst>
                                      </p:cBhvr>
                                      <p:to>
                                        <p:strVal val="visible"/>
                                      </p:to>
                                    </p:set>
                                    <p:animEffect transition="in" filter="fade">
                                      <p:cBhvr>
                                        <p:cTn id="47" dur="5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5089DAA7-6CA5-4F2A-AFDB-2E066BDE95ED}"/>
              </a:ext>
            </a:extLst>
          </p:cNvPr>
          <p:cNvSpPr>
            <a:spLocks noGrp="1"/>
          </p:cNvSpPr>
          <p:nvPr>
            <p:ph type="body" sz="quarter" idx="12"/>
          </p:nvPr>
        </p:nvSpPr>
        <p:spPr/>
        <p:txBody>
          <a:bodyPr/>
          <a:lstStyle/>
          <a:p>
            <a:r>
              <a:rPr lang="en-AU" dirty="0">
                <a:solidFill>
                  <a:srgbClr val="FF0000"/>
                </a:solidFill>
              </a:rPr>
              <a:t>Generalized Form of a RP</a:t>
            </a:r>
            <a:endParaRPr lang="en-AU" cap="none" dirty="0">
              <a:solidFill>
                <a:srgbClr val="FF0000"/>
              </a:solidFill>
            </a:endParaRPr>
          </a:p>
        </p:txBody>
      </p:sp>
      <p:sp>
        <p:nvSpPr>
          <p:cNvPr id="3" name="Text Placeholder 2">
            <a:extLst>
              <a:ext uri="{FF2B5EF4-FFF2-40B4-BE49-F238E27FC236}">
                <a16:creationId xmlns:a16="http://schemas.microsoft.com/office/drawing/2014/main" xmlns="" id="{B9527775-1EF2-4136-A869-224BC32E8038}"/>
              </a:ext>
            </a:extLst>
          </p:cNvPr>
          <p:cNvSpPr>
            <a:spLocks noGrp="1"/>
          </p:cNvSpPr>
          <p:nvPr>
            <p:ph type="body" sz="quarter" idx="13"/>
          </p:nvPr>
        </p:nvSpPr>
        <p:spPr/>
        <p:txBody>
          <a:bodyPr/>
          <a:lstStyle/>
          <a:p>
            <a:endParaRPr lang="en-US" dirty="0"/>
          </a:p>
        </p:txBody>
      </p:sp>
      <p:sp>
        <p:nvSpPr>
          <p:cNvPr id="4" name="Date Placeholder 3">
            <a:extLst>
              <a:ext uri="{FF2B5EF4-FFF2-40B4-BE49-F238E27FC236}">
                <a16:creationId xmlns:a16="http://schemas.microsoft.com/office/drawing/2014/main" xmlns="" id="{7FEEBB8E-6113-4329-9133-B5709512FB1A}"/>
              </a:ext>
            </a:extLst>
          </p:cNvPr>
          <p:cNvSpPr>
            <a:spLocks noGrp="1"/>
          </p:cNvSpPr>
          <p:nvPr>
            <p:ph type="dt" sz="half" idx="10"/>
          </p:nvPr>
        </p:nvSpPr>
        <p:spPr/>
        <p:txBody>
          <a:bodyPr/>
          <a:lstStyle/>
          <a:p>
            <a:pPr>
              <a:defRPr/>
            </a:pPr>
            <a:fld id="{69A52D0F-A1E2-42CE-91A9-618E0BB64790}" type="datetime1">
              <a:rPr lang="en-US" smtClean="0"/>
              <a:t>7/6/2022</a:t>
            </a:fld>
            <a:endParaRPr lang="en-US"/>
          </a:p>
        </p:txBody>
      </p:sp>
      <p:sp>
        <p:nvSpPr>
          <p:cNvPr id="6" name="Slide Number Placeholder 5">
            <a:extLst>
              <a:ext uri="{FF2B5EF4-FFF2-40B4-BE49-F238E27FC236}">
                <a16:creationId xmlns:a16="http://schemas.microsoft.com/office/drawing/2014/main" xmlns="" id="{532BB86C-12A3-4000-851F-CF04771DE0EE}"/>
              </a:ext>
            </a:extLst>
          </p:cNvPr>
          <p:cNvSpPr>
            <a:spLocks noGrp="1"/>
          </p:cNvSpPr>
          <p:nvPr>
            <p:ph type="sldNum" sz="quarter" idx="14"/>
          </p:nvPr>
        </p:nvSpPr>
        <p:spPr/>
        <p:txBody>
          <a:bodyPr/>
          <a:lstStyle/>
          <a:p>
            <a:pPr>
              <a:defRPr/>
            </a:pPr>
            <a:fld id="{A4D7D840-3C4D-4535-9FCE-221E1C945AAA}" type="slidenum">
              <a:rPr lang="en-US" smtClean="0"/>
              <a:pPr>
                <a:defRPr/>
              </a:pPr>
              <a:t>10</a:t>
            </a:fld>
            <a:endParaRPr lang="en-US"/>
          </a:p>
        </p:txBody>
      </p:sp>
      <p:pic>
        <p:nvPicPr>
          <p:cNvPr id="7" name="Picture 1">
            <a:extLst>
              <a:ext uri="{FF2B5EF4-FFF2-40B4-BE49-F238E27FC236}">
                <a16:creationId xmlns:a16="http://schemas.microsoft.com/office/drawing/2014/main" xmlns="" id="{045F8237-F5E6-4BC0-B010-59198EF02E72}"/>
              </a:ext>
            </a:extLst>
          </p:cNvPr>
          <p:cNvPicPr>
            <a:picLocks noChangeAspect="1" noChangeArrowheads="1"/>
          </p:cNvPicPr>
          <p:nvPr/>
        </p:nvPicPr>
        <p:blipFill>
          <a:blip r:embed="rId2" cstate="print"/>
          <a:srcRect/>
          <a:stretch>
            <a:fillRect/>
          </a:stretch>
        </p:blipFill>
        <p:spPr bwMode="auto">
          <a:xfrm>
            <a:off x="3214688" y="866775"/>
            <a:ext cx="2714625" cy="5686425"/>
          </a:xfrm>
          <a:prstGeom prst="rect">
            <a:avLst/>
          </a:prstGeom>
          <a:noFill/>
          <a:ln w="9525">
            <a:noFill/>
            <a:miter lim="800000"/>
            <a:headEnd/>
            <a:tailEnd/>
          </a:ln>
        </p:spPr>
      </p:pic>
    </p:spTree>
    <p:extLst>
      <p:ext uri="{BB962C8B-B14F-4D97-AF65-F5344CB8AC3E}">
        <p14:creationId xmlns:p14="http://schemas.microsoft.com/office/powerpoint/2010/main" val="23441874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1D148641-DC13-4BAD-A332-192620E849F6}"/>
              </a:ext>
            </a:extLst>
          </p:cNvPr>
          <p:cNvSpPr>
            <a:spLocks noGrp="1"/>
          </p:cNvSpPr>
          <p:nvPr>
            <p:ph type="body" sz="quarter" idx="12"/>
          </p:nvPr>
        </p:nvSpPr>
        <p:spPr/>
        <p:txBody>
          <a:bodyPr/>
          <a:lstStyle/>
          <a:p>
            <a:r>
              <a:rPr lang="en-AU" dirty="0">
                <a:solidFill>
                  <a:srgbClr val="FF0000"/>
                </a:solidFill>
              </a:rPr>
              <a:t>Project Title</a:t>
            </a:r>
            <a:endParaRPr lang="en-AU" cap="none" dirty="0">
              <a:solidFill>
                <a:srgbClr val="FF0000"/>
              </a:solidFill>
            </a:endParaRPr>
          </a:p>
        </p:txBody>
      </p:sp>
      <p:sp>
        <p:nvSpPr>
          <p:cNvPr id="4" name="Date Placeholder 3">
            <a:extLst>
              <a:ext uri="{FF2B5EF4-FFF2-40B4-BE49-F238E27FC236}">
                <a16:creationId xmlns:a16="http://schemas.microsoft.com/office/drawing/2014/main" xmlns="" id="{9C3EF279-A6D7-47AE-8566-27321A85E41C}"/>
              </a:ext>
            </a:extLst>
          </p:cNvPr>
          <p:cNvSpPr>
            <a:spLocks noGrp="1"/>
          </p:cNvSpPr>
          <p:nvPr>
            <p:ph type="dt" sz="half" idx="10"/>
          </p:nvPr>
        </p:nvSpPr>
        <p:spPr/>
        <p:txBody>
          <a:bodyPr/>
          <a:lstStyle/>
          <a:p>
            <a:pPr>
              <a:defRPr/>
            </a:pPr>
            <a:fld id="{69A52D0F-A1E2-42CE-91A9-618E0BB64790}" type="datetime1">
              <a:rPr lang="en-US" smtClean="0"/>
              <a:t>7/6/2022</a:t>
            </a:fld>
            <a:endParaRPr lang="en-US"/>
          </a:p>
        </p:txBody>
      </p:sp>
      <p:sp>
        <p:nvSpPr>
          <p:cNvPr id="6" name="Slide Number Placeholder 5">
            <a:extLst>
              <a:ext uri="{FF2B5EF4-FFF2-40B4-BE49-F238E27FC236}">
                <a16:creationId xmlns:a16="http://schemas.microsoft.com/office/drawing/2014/main" xmlns="" id="{A2D3AD93-E5D2-44F5-AEB7-4EDD36E020C3}"/>
              </a:ext>
            </a:extLst>
          </p:cNvPr>
          <p:cNvSpPr>
            <a:spLocks noGrp="1"/>
          </p:cNvSpPr>
          <p:nvPr>
            <p:ph type="sldNum" sz="quarter" idx="14"/>
          </p:nvPr>
        </p:nvSpPr>
        <p:spPr/>
        <p:txBody>
          <a:bodyPr/>
          <a:lstStyle/>
          <a:p>
            <a:pPr>
              <a:defRPr/>
            </a:pPr>
            <a:fld id="{A4D7D840-3C4D-4535-9FCE-221E1C945AAA}" type="slidenum">
              <a:rPr lang="en-US" smtClean="0"/>
              <a:pPr>
                <a:defRPr/>
              </a:pPr>
              <a:t>11</a:t>
            </a:fld>
            <a:endParaRPr lang="en-US"/>
          </a:p>
        </p:txBody>
      </p:sp>
      <p:sp>
        <p:nvSpPr>
          <p:cNvPr id="7" name="Subtitle 2">
            <a:extLst>
              <a:ext uri="{FF2B5EF4-FFF2-40B4-BE49-F238E27FC236}">
                <a16:creationId xmlns:a16="http://schemas.microsoft.com/office/drawing/2014/main" xmlns="" id="{1136FDEE-E91F-4ED5-B86E-996F803BEF36}"/>
              </a:ext>
            </a:extLst>
          </p:cNvPr>
          <p:cNvSpPr txBox="1">
            <a:spLocks/>
          </p:cNvSpPr>
          <p:nvPr/>
        </p:nvSpPr>
        <p:spPr>
          <a:xfrm>
            <a:off x="228600" y="1219200"/>
            <a:ext cx="4495800" cy="5410200"/>
          </a:xfrm>
          <a:prstGeom prst="rect">
            <a:avLst/>
          </a:prstGeom>
        </p:spPr>
        <p:txBody>
          <a:bodyPr vert="horz" lIns="91440" tIns="45720" rIns="91440" bIns="45720" rtlCol="0">
            <a:normAutofit fontScale="92500"/>
          </a:bodyPr>
          <a:lstStyle/>
          <a:p>
            <a:pPr marL="342900" indent="-342900" algn="just">
              <a:buFont typeface="Wingdings" panose="05000000000000000000" pitchFamily="2" charset="2"/>
              <a:buChar char="q"/>
            </a:pPr>
            <a:r>
              <a:rPr lang="en-AU" sz="2400" dirty="0">
                <a:solidFill>
                  <a:srgbClr val="7030A0"/>
                </a:solidFill>
              </a:rPr>
              <a:t> The title of a research project should be clear and specific. More than ten words are recommended for the title. </a:t>
            </a:r>
          </a:p>
          <a:p>
            <a:pPr marL="342900" indent="-342900" algn="just">
              <a:buFont typeface="Wingdings" panose="05000000000000000000" pitchFamily="2" charset="2"/>
              <a:buChar char="q"/>
            </a:pPr>
            <a:endParaRPr lang="en-AU" sz="2400" dirty="0"/>
          </a:p>
          <a:p>
            <a:pPr marL="342900" indent="-342900" algn="just">
              <a:buFont typeface="Wingdings" panose="05000000000000000000" pitchFamily="2" charset="2"/>
              <a:buChar char="q"/>
            </a:pPr>
            <a:r>
              <a:rPr lang="en-AU" sz="2400" dirty="0"/>
              <a:t>Acronyms should not be used as the assessment panel might not be familiar with their use</a:t>
            </a:r>
          </a:p>
          <a:p>
            <a:pPr algn="just"/>
            <a:r>
              <a:rPr lang="en-AU" sz="2400" dirty="0"/>
              <a:t> </a:t>
            </a:r>
          </a:p>
          <a:p>
            <a:pPr marL="342900" indent="-342900" algn="just">
              <a:buFont typeface="Wingdings" panose="05000000000000000000" pitchFamily="2" charset="2"/>
              <a:buChar char="q"/>
            </a:pPr>
            <a:r>
              <a:rPr lang="en-AU" sz="2400" dirty="0">
                <a:solidFill>
                  <a:srgbClr val="0070C0"/>
                </a:solidFill>
              </a:rPr>
              <a:t>The title should indirectly indicate the science/engineering discipline of the research so that the readers can direct the project proposal to those who have relevant experience in the discipline. </a:t>
            </a:r>
          </a:p>
        </p:txBody>
      </p:sp>
      <p:pic>
        <p:nvPicPr>
          <p:cNvPr id="8" name="Picture 2" descr="Image result for comic cartoon on project title">
            <a:extLst>
              <a:ext uri="{FF2B5EF4-FFF2-40B4-BE49-F238E27FC236}">
                <a16:creationId xmlns:a16="http://schemas.microsoft.com/office/drawing/2014/main" xmlns="" id="{136BA7D6-F566-4461-ABB3-15A93DBAFF32}"/>
              </a:ext>
            </a:extLst>
          </p:cNvPr>
          <p:cNvPicPr>
            <a:picLocks noChangeAspect="1" noChangeArrowheads="1"/>
          </p:cNvPicPr>
          <p:nvPr/>
        </p:nvPicPr>
        <p:blipFill>
          <a:blip r:embed="rId2" cstate="print"/>
          <a:srcRect/>
          <a:stretch>
            <a:fillRect/>
          </a:stretch>
        </p:blipFill>
        <p:spPr bwMode="auto">
          <a:xfrm>
            <a:off x="4724400" y="1219200"/>
            <a:ext cx="4343400" cy="4895850"/>
          </a:xfrm>
          <a:prstGeom prst="rect">
            <a:avLst/>
          </a:prstGeom>
          <a:noFill/>
        </p:spPr>
      </p:pic>
    </p:spTree>
    <p:extLst>
      <p:ext uri="{BB962C8B-B14F-4D97-AF65-F5344CB8AC3E}">
        <p14:creationId xmlns:p14="http://schemas.microsoft.com/office/powerpoint/2010/main" val="709346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animEffect transition="in" filter="fade">
                                      <p:cBhvr>
                                        <p:cTn id="17"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1D148641-DC13-4BAD-A332-192620E849F6}"/>
              </a:ext>
            </a:extLst>
          </p:cNvPr>
          <p:cNvSpPr>
            <a:spLocks noGrp="1"/>
          </p:cNvSpPr>
          <p:nvPr>
            <p:ph type="body" sz="quarter" idx="12"/>
          </p:nvPr>
        </p:nvSpPr>
        <p:spPr/>
        <p:txBody>
          <a:bodyPr/>
          <a:lstStyle/>
          <a:p>
            <a:pPr lvl="0">
              <a:spcBef>
                <a:spcPct val="0"/>
              </a:spcBef>
              <a:defRPr/>
            </a:pPr>
            <a:r>
              <a:rPr lang="en-AU" dirty="0">
                <a:solidFill>
                  <a:srgbClr val="FF0000"/>
                </a:solidFill>
              </a:rPr>
              <a:t>Project Summary</a:t>
            </a:r>
            <a:endParaRPr lang="en-AU" cap="none" dirty="0">
              <a:solidFill>
                <a:srgbClr val="FF0000"/>
              </a:solidFill>
            </a:endParaRPr>
          </a:p>
        </p:txBody>
      </p:sp>
      <p:sp>
        <p:nvSpPr>
          <p:cNvPr id="4" name="Date Placeholder 3">
            <a:extLst>
              <a:ext uri="{FF2B5EF4-FFF2-40B4-BE49-F238E27FC236}">
                <a16:creationId xmlns:a16="http://schemas.microsoft.com/office/drawing/2014/main" xmlns="" id="{9C3EF279-A6D7-47AE-8566-27321A85E41C}"/>
              </a:ext>
            </a:extLst>
          </p:cNvPr>
          <p:cNvSpPr>
            <a:spLocks noGrp="1"/>
          </p:cNvSpPr>
          <p:nvPr>
            <p:ph type="dt" sz="half" idx="10"/>
          </p:nvPr>
        </p:nvSpPr>
        <p:spPr/>
        <p:txBody>
          <a:bodyPr/>
          <a:lstStyle/>
          <a:p>
            <a:pPr>
              <a:defRPr/>
            </a:pPr>
            <a:fld id="{69A52D0F-A1E2-42CE-91A9-618E0BB64790}" type="datetime1">
              <a:rPr lang="en-US" smtClean="0"/>
              <a:t>7/6/2022</a:t>
            </a:fld>
            <a:endParaRPr lang="en-US"/>
          </a:p>
        </p:txBody>
      </p:sp>
      <p:sp>
        <p:nvSpPr>
          <p:cNvPr id="6" name="Slide Number Placeholder 5">
            <a:extLst>
              <a:ext uri="{FF2B5EF4-FFF2-40B4-BE49-F238E27FC236}">
                <a16:creationId xmlns:a16="http://schemas.microsoft.com/office/drawing/2014/main" xmlns="" id="{A2D3AD93-E5D2-44F5-AEB7-4EDD36E020C3}"/>
              </a:ext>
            </a:extLst>
          </p:cNvPr>
          <p:cNvSpPr>
            <a:spLocks noGrp="1"/>
          </p:cNvSpPr>
          <p:nvPr>
            <p:ph type="sldNum" sz="quarter" idx="14"/>
          </p:nvPr>
        </p:nvSpPr>
        <p:spPr/>
        <p:txBody>
          <a:bodyPr/>
          <a:lstStyle/>
          <a:p>
            <a:pPr>
              <a:defRPr/>
            </a:pPr>
            <a:fld id="{A4D7D840-3C4D-4535-9FCE-221E1C945AAA}" type="slidenum">
              <a:rPr lang="en-US" smtClean="0"/>
              <a:pPr>
                <a:defRPr/>
              </a:pPr>
              <a:t>12</a:t>
            </a:fld>
            <a:endParaRPr lang="en-US"/>
          </a:p>
        </p:txBody>
      </p:sp>
      <p:sp>
        <p:nvSpPr>
          <p:cNvPr id="7" name="Subtitle 2">
            <a:extLst>
              <a:ext uri="{FF2B5EF4-FFF2-40B4-BE49-F238E27FC236}">
                <a16:creationId xmlns:a16="http://schemas.microsoft.com/office/drawing/2014/main" xmlns="" id="{1136FDEE-E91F-4ED5-B86E-996F803BEF36}"/>
              </a:ext>
            </a:extLst>
          </p:cNvPr>
          <p:cNvSpPr txBox="1">
            <a:spLocks/>
          </p:cNvSpPr>
          <p:nvPr/>
        </p:nvSpPr>
        <p:spPr>
          <a:xfrm>
            <a:off x="228600" y="990600"/>
            <a:ext cx="8458200" cy="5410200"/>
          </a:xfrm>
          <a:prstGeom prst="rect">
            <a:avLst/>
          </a:prstGeom>
        </p:spPr>
        <p:txBody>
          <a:bodyPr vert="horz" lIns="91440" tIns="45720" rIns="91440" bIns="45720" rtlCol="0">
            <a:normAutofit/>
          </a:bodyPr>
          <a:lstStyle/>
          <a:p>
            <a:pPr marL="342900" indent="-342900" algn="just">
              <a:buFont typeface="Wingdings" panose="05000000000000000000" pitchFamily="2" charset="2"/>
              <a:buChar char="q"/>
            </a:pPr>
            <a:r>
              <a:rPr lang="en-AU" sz="2400" dirty="0">
                <a:solidFill>
                  <a:srgbClr val="7030A0"/>
                </a:solidFill>
              </a:rPr>
              <a:t> </a:t>
            </a:r>
            <a:r>
              <a:rPr lang="en-AU" sz="2400" dirty="0">
                <a:solidFill>
                  <a:srgbClr val="CC0099"/>
                </a:solidFill>
              </a:rPr>
              <a:t>While the project outline contains technical detail, the project team needs to convince the project assessment team that the project is worthy of funding. </a:t>
            </a:r>
          </a:p>
          <a:p>
            <a:pPr marL="342900" indent="-342900" algn="just">
              <a:buFont typeface="Wingdings" panose="05000000000000000000" pitchFamily="2" charset="2"/>
              <a:buChar char="q"/>
            </a:pPr>
            <a:endParaRPr lang="en-AU" sz="2400" dirty="0"/>
          </a:p>
          <a:p>
            <a:pPr marL="342900" indent="-342900" algn="just">
              <a:buFont typeface="Wingdings" panose="05000000000000000000" pitchFamily="2" charset="2"/>
              <a:buChar char="q"/>
            </a:pPr>
            <a:r>
              <a:rPr lang="en-AU" sz="2400" dirty="0">
                <a:solidFill>
                  <a:srgbClr val="7030A0"/>
                </a:solidFill>
              </a:rPr>
              <a:t>Often the assessment team consists of generalists who do not have specific detailed knowledge of the research topic and the analysis methods proposed in the project outline. </a:t>
            </a:r>
          </a:p>
          <a:p>
            <a:pPr marL="342900" indent="-342900" algn="just">
              <a:buFont typeface="Wingdings" panose="05000000000000000000" pitchFamily="2" charset="2"/>
              <a:buChar char="q"/>
            </a:pPr>
            <a:endParaRPr lang="en-AU" sz="2400" dirty="0">
              <a:solidFill>
                <a:srgbClr val="7030A0"/>
              </a:solidFill>
            </a:endParaRPr>
          </a:p>
          <a:p>
            <a:pPr marL="342900" indent="-342900" algn="just">
              <a:buFont typeface="Wingdings" panose="05000000000000000000" pitchFamily="2" charset="2"/>
              <a:buChar char="q"/>
            </a:pPr>
            <a:r>
              <a:rPr lang="en-AU" sz="2400" dirty="0"/>
              <a:t>Provide a short, clear statement about how the project will benefit their organization and how it fits into the goals and objectives of the research field. </a:t>
            </a:r>
          </a:p>
        </p:txBody>
      </p:sp>
    </p:spTree>
    <p:extLst>
      <p:ext uri="{BB962C8B-B14F-4D97-AF65-F5344CB8AC3E}">
        <p14:creationId xmlns:p14="http://schemas.microsoft.com/office/powerpoint/2010/main" val="2527507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animEffect transition="in" filter="fade">
                                      <p:cBhvr>
                                        <p:cTn id="17"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1D148641-DC13-4BAD-A332-192620E849F6}"/>
              </a:ext>
            </a:extLst>
          </p:cNvPr>
          <p:cNvSpPr>
            <a:spLocks noGrp="1"/>
          </p:cNvSpPr>
          <p:nvPr>
            <p:ph type="body" sz="quarter" idx="12"/>
          </p:nvPr>
        </p:nvSpPr>
        <p:spPr/>
        <p:txBody>
          <a:bodyPr/>
          <a:lstStyle/>
          <a:p>
            <a:pPr lvl="0">
              <a:spcBef>
                <a:spcPct val="0"/>
              </a:spcBef>
              <a:defRPr/>
            </a:pPr>
            <a:r>
              <a:rPr lang="en-AU" dirty="0">
                <a:solidFill>
                  <a:srgbClr val="FF0000"/>
                </a:solidFill>
              </a:rPr>
              <a:t>Project Summary</a:t>
            </a:r>
            <a:endParaRPr lang="en-AU" cap="none" dirty="0">
              <a:solidFill>
                <a:srgbClr val="FF0000"/>
              </a:solidFill>
            </a:endParaRPr>
          </a:p>
        </p:txBody>
      </p:sp>
      <p:sp>
        <p:nvSpPr>
          <p:cNvPr id="4" name="Date Placeholder 3">
            <a:extLst>
              <a:ext uri="{FF2B5EF4-FFF2-40B4-BE49-F238E27FC236}">
                <a16:creationId xmlns:a16="http://schemas.microsoft.com/office/drawing/2014/main" xmlns="" id="{9C3EF279-A6D7-47AE-8566-27321A85E41C}"/>
              </a:ext>
            </a:extLst>
          </p:cNvPr>
          <p:cNvSpPr>
            <a:spLocks noGrp="1"/>
          </p:cNvSpPr>
          <p:nvPr>
            <p:ph type="dt" sz="half" idx="10"/>
          </p:nvPr>
        </p:nvSpPr>
        <p:spPr/>
        <p:txBody>
          <a:bodyPr/>
          <a:lstStyle/>
          <a:p>
            <a:pPr>
              <a:defRPr/>
            </a:pPr>
            <a:fld id="{69A52D0F-A1E2-42CE-91A9-618E0BB64790}" type="datetime1">
              <a:rPr lang="en-US" smtClean="0"/>
              <a:t>7/6/2022</a:t>
            </a:fld>
            <a:endParaRPr lang="en-US"/>
          </a:p>
        </p:txBody>
      </p:sp>
      <p:sp>
        <p:nvSpPr>
          <p:cNvPr id="6" name="Slide Number Placeholder 5">
            <a:extLst>
              <a:ext uri="{FF2B5EF4-FFF2-40B4-BE49-F238E27FC236}">
                <a16:creationId xmlns:a16="http://schemas.microsoft.com/office/drawing/2014/main" xmlns="" id="{A2D3AD93-E5D2-44F5-AEB7-4EDD36E020C3}"/>
              </a:ext>
            </a:extLst>
          </p:cNvPr>
          <p:cNvSpPr>
            <a:spLocks noGrp="1"/>
          </p:cNvSpPr>
          <p:nvPr>
            <p:ph type="sldNum" sz="quarter" idx="14"/>
          </p:nvPr>
        </p:nvSpPr>
        <p:spPr/>
        <p:txBody>
          <a:bodyPr/>
          <a:lstStyle/>
          <a:p>
            <a:pPr>
              <a:defRPr/>
            </a:pPr>
            <a:fld id="{A4D7D840-3C4D-4535-9FCE-221E1C945AAA}" type="slidenum">
              <a:rPr lang="en-US" smtClean="0"/>
              <a:pPr>
                <a:defRPr/>
              </a:pPr>
              <a:t>13</a:t>
            </a:fld>
            <a:endParaRPr lang="en-US"/>
          </a:p>
        </p:txBody>
      </p:sp>
      <p:sp>
        <p:nvSpPr>
          <p:cNvPr id="7" name="Subtitle 2">
            <a:extLst>
              <a:ext uri="{FF2B5EF4-FFF2-40B4-BE49-F238E27FC236}">
                <a16:creationId xmlns:a16="http://schemas.microsoft.com/office/drawing/2014/main" xmlns="" id="{1136FDEE-E91F-4ED5-B86E-996F803BEF36}"/>
              </a:ext>
            </a:extLst>
          </p:cNvPr>
          <p:cNvSpPr txBox="1">
            <a:spLocks/>
          </p:cNvSpPr>
          <p:nvPr/>
        </p:nvSpPr>
        <p:spPr>
          <a:xfrm>
            <a:off x="228600" y="990600"/>
            <a:ext cx="8458200" cy="5410200"/>
          </a:xfrm>
          <a:prstGeom prst="rect">
            <a:avLst/>
          </a:prstGeom>
        </p:spPr>
        <p:txBody>
          <a:bodyPr vert="horz" lIns="91440" tIns="45720" rIns="91440" bIns="45720" rtlCol="0">
            <a:normAutofit/>
          </a:bodyPr>
          <a:lstStyle/>
          <a:p>
            <a:pPr algn="just"/>
            <a:r>
              <a:rPr lang="en-AU" sz="2400" dirty="0">
                <a:solidFill>
                  <a:srgbClr val="7030A0"/>
                </a:solidFill>
              </a:rPr>
              <a:t> </a:t>
            </a:r>
            <a:r>
              <a:rPr lang="en-AU" sz="2600" b="1" u="sng" dirty="0">
                <a:solidFill>
                  <a:srgbClr val="FF0000"/>
                </a:solidFill>
              </a:rPr>
              <a:t>Example:</a:t>
            </a:r>
          </a:p>
          <a:p>
            <a:pPr marL="342900" indent="-342900" algn="just">
              <a:buFont typeface="Wingdings" panose="05000000000000000000" pitchFamily="2" charset="2"/>
              <a:buChar char="q"/>
            </a:pPr>
            <a:endParaRPr lang="en-AU" sz="2400" dirty="0"/>
          </a:p>
          <a:p>
            <a:pPr marL="800100" lvl="1" indent="-342900" algn="just">
              <a:buFont typeface="Wingdings" panose="05000000000000000000" pitchFamily="2" charset="2"/>
              <a:buChar char="Ø"/>
            </a:pPr>
            <a:r>
              <a:rPr lang="en-AU" sz="2400" dirty="0"/>
              <a:t>An antenna team aims to design new antennas that will improve the range of small wireless sensors used in a nursing home. </a:t>
            </a:r>
          </a:p>
          <a:p>
            <a:pPr marL="800100" lvl="1" indent="-342900" algn="just">
              <a:spcBef>
                <a:spcPts val="1200"/>
              </a:spcBef>
              <a:buFont typeface="Wingdings" panose="05000000000000000000" pitchFamily="2" charset="2"/>
              <a:buChar char="Ø"/>
            </a:pPr>
            <a:r>
              <a:rPr lang="en-AU" sz="2400" dirty="0">
                <a:solidFill>
                  <a:srgbClr val="7030A0"/>
                </a:solidFill>
              </a:rPr>
              <a:t>The assessment team from the research granting authority might want to know the current and intended application of the wireless sensors and how an increased range will improve the lives of aged people living independently.</a:t>
            </a:r>
          </a:p>
          <a:p>
            <a:pPr lvl="1" algn="just">
              <a:spcBef>
                <a:spcPts val="1200"/>
              </a:spcBef>
            </a:pPr>
            <a:r>
              <a:rPr lang="en-AU" sz="2400" dirty="0">
                <a:solidFill>
                  <a:srgbClr val="7030A0"/>
                </a:solidFill>
              </a:rPr>
              <a:t> </a:t>
            </a:r>
          </a:p>
          <a:p>
            <a:pPr marL="342900" indent="-342900" algn="just">
              <a:buFont typeface="Wingdings" panose="05000000000000000000" pitchFamily="2" charset="2"/>
              <a:buChar char="q"/>
            </a:pPr>
            <a:r>
              <a:rPr lang="en-AU" sz="2400" dirty="0"/>
              <a:t>The project summary should also contain keywords so that the literature in the field can be thoroughly surveyed for competing technologies and research outcomes. </a:t>
            </a:r>
          </a:p>
        </p:txBody>
      </p:sp>
    </p:spTree>
    <p:extLst>
      <p:ext uri="{BB962C8B-B14F-4D97-AF65-F5344CB8AC3E}">
        <p14:creationId xmlns:p14="http://schemas.microsoft.com/office/powerpoint/2010/main" val="3088658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fade">
                                      <p:cBhvr>
                                        <p:cTn id="17" dur="500"/>
                                        <p:tgtEl>
                                          <p:spTgt spid="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4" end="4"/>
                                            </p:txEl>
                                          </p:spTgt>
                                        </p:tgtEl>
                                        <p:attrNameLst>
                                          <p:attrName>style.visibility</p:attrName>
                                        </p:attrNameLst>
                                      </p:cBhvr>
                                      <p:to>
                                        <p:strVal val="visible"/>
                                      </p:to>
                                    </p:set>
                                    <p:animEffect transition="in" filter="fade">
                                      <p:cBhvr>
                                        <p:cTn id="22" dur="500"/>
                                        <p:tgtEl>
                                          <p:spTgt spid="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animEffect transition="in" filter="fade">
                                      <p:cBhvr>
                                        <p:cTn id="27"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1D148641-DC13-4BAD-A332-192620E849F6}"/>
              </a:ext>
            </a:extLst>
          </p:cNvPr>
          <p:cNvSpPr>
            <a:spLocks noGrp="1"/>
          </p:cNvSpPr>
          <p:nvPr>
            <p:ph type="body" sz="quarter" idx="12"/>
          </p:nvPr>
        </p:nvSpPr>
        <p:spPr/>
        <p:txBody>
          <a:bodyPr/>
          <a:lstStyle/>
          <a:p>
            <a:pPr lvl="0">
              <a:spcBef>
                <a:spcPct val="0"/>
              </a:spcBef>
              <a:defRPr/>
            </a:pPr>
            <a:r>
              <a:rPr lang="en-AU" dirty="0">
                <a:solidFill>
                  <a:srgbClr val="FF0000"/>
                </a:solidFill>
              </a:rPr>
              <a:t>Background</a:t>
            </a:r>
            <a:endParaRPr lang="en-AU" cap="none" dirty="0">
              <a:solidFill>
                <a:srgbClr val="FF0000"/>
              </a:solidFill>
            </a:endParaRPr>
          </a:p>
        </p:txBody>
      </p:sp>
      <p:sp>
        <p:nvSpPr>
          <p:cNvPr id="4" name="Date Placeholder 3">
            <a:extLst>
              <a:ext uri="{FF2B5EF4-FFF2-40B4-BE49-F238E27FC236}">
                <a16:creationId xmlns:a16="http://schemas.microsoft.com/office/drawing/2014/main" xmlns="" id="{9C3EF279-A6D7-47AE-8566-27321A85E41C}"/>
              </a:ext>
            </a:extLst>
          </p:cNvPr>
          <p:cNvSpPr>
            <a:spLocks noGrp="1"/>
          </p:cNvSpPr>
          <p:nvPr>
            <p:ph type="dt" sz="half" idx="10"/>
          </p:nvPr>
        </p:nvSpPr>
        <p:spPr/>
        <p:txBody>
          <a:bodyPr/>
          <a:lstStyle/>
          <a:p>
            <a:pPr>
              <a:defRPr/>
            </a:pPr>
            <a:fld id="{69A52D0F-A1E2-42CE-91A9-618E0BB64790}" type="datetime1">
              <a:rPr lang="en-US" smtClean="0"/>
              <a:t>7/6/2022</a:t>
            </a:fld>
            <a:endParaRPr lang="en-US"/>
          </a:p>
        </p:txBody>
      </p:sp>
      <p:sp>
        <p:nvSpPr>
          <p:cNvPr id="6" name="Slide Number Placeholder 5">
            <a:extLst>
              <a:ext uri="{FF2B5EF4-FFF2-40B4-BE49-F238E27FC236}">
                <a16:creationId xmlns:a16="http://schemas.microsoft.com/office/drawing/2014/main" xmlns="" id="{A2D3AD93-E5D2-44F5-AEB7-4EDD36E020C3}"/>
              </a:ext>
            </a:extLst>
          </p:cNvPr>
          <p:cNvSpPr>
            <a:spLocks noGrp="1"/>
          </p:cNvSpPr>
          <p:nvPr>
            <p:ph type="sldNum" sz="quarter" idx="14"/>
          </p:nvPr>
        </p:nvSpPr>
        <p:spPr/>
        <p:txBody>
          <a:bodyPr/>
          <a:lstStyle/>
          <a:p>
            <a:pPr>
              <a:defRPr/>
            </a:pPr>
            <a:fld id="{A4D7D840-3C4D-4535-9FCE-221E1C945AAA}" type="slidenum">
              <a:rPr lang="en-US" smtClean="0"/>
              <a:pPr>
                <a:defRPr/>
              </a:pPr>
              <a:t>14</a:t>
            </a:fld>
            <a:endParaRPr lang="en-US"/>
          </a:p>
        </p:txBody>
      </p:sp>
      <p:sp>
        <p:nvSpPr>
          <p:cNvPr id="7" name="Subtitle 2">
            <a:extLst>
              <a:ext uri="{FF2B5EF4-FFF2-40B4-BE49-F238E27FC236}">
                <a16:creationId xmlns:a16="http://schemas.microsoft.com/office/drawing/2014/main" xmlns="" id="{1136FDEE-E91F-4ED5-B86E-996F803BEF36}"/>
              </a:ext>
            </a:extLst>
          </p:cNvPr>
          <p:cNvSpPr txBox="1">
            <a:spLocks/>
          </p:cNvSpPr>
          <p:nvPr/>
        </p:nvSpPr>
        <p:spPr>
          <a:xfrm>
            <a:off x="228600" y="990600"/>
            <a:ext cx="8458200" cy="5410200"/>
          </a:xfrm>
          <a:prstGeom prst="rect">
            <a:avLst/>
          </a:prstGeom>
        </p:spPr>
        <p:txBody>
          <a:bodyPr vert="horz" lIns="91440" tIns="45720" rIns="91440" bIns="45720" rtlCol="0">
            <a:normAutofit/>
          </a:bodyPr>
          <a:lstStyle/>
          <a:p>
            <a:pPr marL="457200" indent="-457200">
              <a:spcBef>
                <a:spcPts val="1800"/>
              </a:spcBef>
              <a:buFont typeface="Wingdings" panose="05000000000000000000" pitchFamily="2" charset="2"/>
              <a:buChar char="q"/>
            </a:pPr>
            <a:r>
              <a:rPr lang="en-AU" sz="2800" dirty="0">
                <a:solidFill>
                  <a:srgbClr val="00B050"/>
                </a:solidFill>
              </a:rPr>
              <a:t>Background information should justify the necessity of your project</a:t>
            </a:r>
            <a:r>
              <a:rPr lang="en-AU" sz="2800" dirty="0"/>
              <a:t>. </a:t>
            </a:r>
          </a:p>
          <a:p>
            <a:pPr marL="457200" indent="-457200">
              <a:spcBef>
                <a:spcPts val="1800"/>
              </a:spcBef>
              <a:buFont typeface="Wingdings" panose="05000000000000000000" pitchFamily="2" charset="2"/>
              <a:buChar char="q"/>
            </a:pPr>
            <a:r>
              <a:rPr lang="en-AU" sz="2800" dirty="0">
                <a:solidFill>
                  <a:srgbClr val="CC0099"/>
                </a:solidFill>
              </a:rPr>
              <a:t>Do preliminary studies indicate that your project is necessary and feasible? </a:t>
            </a:r>
          </a:p>
          <a:p>
            <a:pPr marL="457200" indent="-457200">
              <a:spcBef>
                <a:spcPts val="1800"/>
              </a:spcBef>
              <a:buFont typeface="Wingdings" panose="05000000000000000000" pitchFamily="2" charset="2"/>
              <a:buChar char="q"/>
            </a:pPr>
            <a:r>
              <a:rPr lang="en-AU" sz="2800" dirty="0">
                <a:solidFill>
                  <a:srgbClr val="9900CC"/>
                </a:solidFill>
              </a:rPr>
              <a:t>Literature review: </a:t>
            </a:r>
          </a:p>
          <a:p>
            <a:pPr marL="914400" lvl="1" indent="-457200">
              <a:spcBef>
                <a:spcPts val="1800"/>
              </a:spcBef>
              <a:buFont typeface="Wingdings" panose="05000000000000000000" pitchFamily="2" charset="2"/>
              <a:buChar char="Ø"/>
            </a:pPr>
            <a:r>
              <a:rPr lang="en-AU" sz="2800" dirty="0">
                <a:solidFill>
                  <a:srgbClr val="9900CC"/>
                </a:solidFill>
              </a:rPr>
              <a:t>Include title of citation, authors, date, journal and page number </a:t>
            </a:r>
          </a:p>
          <a:p>
            <a:pPr marL="914400" lvl="1" indent="-457200">
              <a:spcBef>
                <a:spcPts val="1800"/>
              </a:spcBef>
              <a:buFont typeface="Wingdings" panose="05000000000000000000" pitchFamily="2" charset="2"/>
              <a:buChar char="Ø"/>
            </a:pPr>
            <a:r>
              <a:rPr lang="en-AU" sz="2800" dirty="0">
                <a:solidFill>
                  <a:srgbClr val="9900CC"/>
                </a:solidFill>
              </a:rPr>
              <a:t>Check the citations for accuracy </a:t>
            </a:r>
          </a:p>
        </p:txBody>
      </p:sp>
    </p:spTree>
    <p:extLst>
      <p:ext uri="{BB962C8B-B14F-4D97-AF65-F5344CB8AC3E}">
        <p14:creationId xmlns:p14="http://schemas.microsoft.com/office/powerpoint/2010/main" val="1628730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1D148641-DC13-4BAD-A332-192620E849F6}"/>
              </a:ext>
            </a:extLst>
          </p:cNvPr>
          <p:cNvSpPr>
            <a:spLocks noGrp="1"/>
          </p:cNvSpPr>
          <p:nvPr>
            <p:ph type="body" sz="quarter" idx="12"/>
          </p:nvPr>
        </p:nvSpPr>
        <p:spPr/>
        <p:txBody>
          <a:bodyPr/>
          <a:lstStyle/>
          <a:p>
            <a:pPr lvl="0">
              <a:spcBef>
                <a:spcPct val="0"/>
              </a:spcBef>
              <a:defRPr/>
            </a:pPr>
            <a:r>
              <a:rPr lang="en-AU" dirty="0">
                <a:solidFill>
                  <a:srgbClr val="FF0000"/>
                </a:solidFill>
              </a:rPr>
              <a:t>Background…</a:t>
            </a:r>
            <a:endParaRPr lang="en-AU" cap="none" dirty="0">
              <a:solidFill>
                <a:srgbClr val="FF0000"/>
              </a:solidFill>
            </a:endParaRPr>
          </a:p>
        </p:txBody>
      </p:sp>
      <p:sp>
        <p:nvSpPr>
          <p:cNvPr id="4" name="Date Placeholder 3">
            <a:extLst>
              <a:ext uri="{FF2B5EF4-FFF2-40B4-BE49-F238E27FC236}">
                <a16:creationId xmlns:a16="http://schemas.microsoft.com/office/drawing/2014/main" xmlns="" id="{9C3EF279-A6D7-47AE-8566-27321A85E41C}"/>
              </a:ext>
            </a:extLst>
          </p:cNvPr>
          <p:cNvSpPr>
            <a:spLocks noGrp="1"/>
          </p:cNvSpPr>
          <p:nvPr>
            <p:ph type="dt" sz="half" idx="10"/>
          </p:nvPr>
        </p:nvSpPr>
        <p:spPr/>
        <p:txBody>
          <a:bodyPr/>
          <a:lstStyle/>
          <a:p>
            <a:pPr>
              <a:defRPr/>
            </a:pPr>
            <a:fld id="{69A52D0F-A1E2-42CE-91A9-618E0BB64790}" type="datetime1">
              <a:rPr lang="en-US" smtClean="0"/>
              <a:t>7/6/2022</a:t>
            </a:fld>
            <a:endParaRPr lang="en-US"/>
          </a:p>
        </p:txBody>
      </p:sp>
      <p:sp>
        <p:nvSpPr>
          <p:cNvPr id="6" name="Slide Number Placeholder 5">
            <a:extLst>
              <a:ext uri="{FF2B5EF4-FFF2-40B4-BE49-F238E27FC236}">
                <a16:creationId xmlns:a16="http://schemas.microsoft.com/office/drawing/2014/main" xmlns="" id="{A2D3AD93-E5D2-44F5-AEB7-4EDD36E020C3}"/>
              </a:ext>
            </a:extLst>
          </p:cNvPr>
          <p:cNvSpPr>
            <a:spLocks noGrp="1"/>
          </p:cNvSpPr>
          <p:nvPr>
            <p:ph type="sldNum" sz="quarter" idx="14"/>
          </p:nvPr>
        </p:nvSpPr>
        <p:spPr/>
        <p:txBody>
          <a:bodyPr/>
          <a:lstStyle/>
          <a:p>
            <a:pPr>
              <a:defRPr/>
            </a:pPr>
            <a:fld id="{A4D7D840-3C4D-4535-9FCE-221E1C945AAA}" type="slidenum">
              <a:rPr lang="en-US" smtClean="0"/>
              <a:pPr>
                <a:defRPr/>
              </a:pPr>
              <a:t>15</a:t>
            </a:fld>
            <a:endParaRPr lang="en-US"/>
          </a:p>
        </p:txBody>
      </p:sp>
      <p:sp>
        <p:nvSpPr>
          <p:cNvPr id="7" name="Subtitle 2">
            <a:extLst>
              <a:ext uri="{FF2B5EF4-FFF2-40B4-BE49-F238E27FC236}">
                <a16:creationId xmlns:a16="http://schemas.microsoft.com/office/drawing/2014/main" xmlns="" id="{1136FDEE-E91F-4ED5-B86E-996F803BEF36}"/>
              </a:ext>
            </a:extLst>
          </p:cNvPr>
          <p:cNvSpPr txBox="1">
            <a:spLocks/>
          </p:cNvSpPr>
          <p:nvPr/>
        </p:nvSpPr>
        <p:spPr>
          <a:xfrm>
            <a:off x="228600" y="990600"/>
            <a:ext cx="8458200" cy="5410200"/>
          </a:xfrm>
          <a:prstGeom prst="rect">
            <a:avLst/>
          </a:prstGeom>
        </p:spPr>
        <p:txBody>
          <a:bodyPr vert="horz" lIns="91440" tIns="45720" rIns="91440" bIns="45720" rtlCol="0">
            <a:normAutofit lnSpcReduction="10000"/>
          </a:bodyPr>
          <a:lstStyle/>
          <a:p>
            <a:pPr marL="342900" indent="-342900">
              <a:buFont typeface="Wingdings" panose="05000000000000000000" pitchFamily="2" charset="2"/>
              <a:buChar char="q"/>
            </a:pPr>
            <a:r>
              <a:rPr lang="en-AU" sz="2400" dirty="0">
                <a:solidFill>
                  <a:srgbClr val="CC0099"/>
                </a:solidFill>
              </a:rPr>
              <a:t>Start with a very broad perspective of the main subject area, before gradually narrowing the focus to the central problem under investigation. In doing so, cover the following aspects of your study area: </a:t>
            </a:r>
          </a:p>
          <a:p>
            <a:endParaRPr lang="en-AU" sz="1400" dirty="0"/>
          </a:p>
          <a:p>
            <a:pPr marL="800100" lvl="1" indent="-342900">
              <a:buFont typeface="Wingdings" panose="05000000000000000000" pitchFamily="2" charset="2"/>
              <a:buChar char="Ø"/>
            </a:pPr>
            <a:r>
              <a:rPr lang="en-AU" sz="2400" dirty="0">
                <a:solidFill>
                  <a:srgbClr val="0070C0"/>
                </a:solidFill>
              </a:rPr>
              <a:t>an overview of the main area under study; </a:t>
            </a:r>
          </a:p>
          <a:p>
            <a:pPr marL="800100" lvl="1" indent="-342900">
              <a:buFont typeface="Wingdings" panose="05000000000000000000" pitchFamily="2" charset="2"/>
              <a:buChar char="Ø"/>
            </a:pPr>
            <a:r>
              <a:rPr lang="en-AU" sz="2400" dirty="0">
                <a:solidFill>
                  <a:srgbClr val="0070C0"/>
                </a:solidFill>
              </a:rPr>
              <a:t>a historical perspective (development, growth, etc.) pertinent to the study area; </a:t>
            </a:r>
          </a:p>
          <a:p>
            <a:pPr marL="800100" lvl="1" indent="-342900">
              <a:buFont typeface="Wingdings" panose="05000000000000000000" pitchFamily="2" charset="2"/>
              <a:buChar char="Ø"/>
            </a:pPr>
            <a:r>
              <a:rPr lang="en-AU" sz="2400" dirty="0">
                <a:solidFill>
                  <a:srgbClr val="0070C0"/>
                </a:solidFill>
              </a:rPr>
              <a:t>philosophical or ideological issues relating to the topic; </a:t>
            </a:r>
          </a:p>
          <a:p>
            <a:pPr marL="800100" lvl="1" indent="-342900">
              <a:buFont typeface="Wingdings" panose="05000000000000000000" pitchFamily="2" charset="2"/>
              <a:buChar char="Ø"/>
            </a:pPr>
            <a:r>
              <a:rPr lang="en-AU" sz="2400" dirty="0">
                <a:solidFill>
                  <a:srgbClr val="0070C0"/>
                </a:solidFill>
              </a:rPr>
              <a:t>trends in terms of prevalence, if appropriate; </a:t>
            </a:r>
          </a:p>
          <a:p>
            <a:pPr marL="800100" lvl="1" indent="-342900">
              <a:buFont typeface="Wingdings" panose="05000000000000000000" pitchFamily="2" charset="2"/>
              <a:buChar char="Ø"/>
            </a:pPr>
            <a:r>
              <a:rPr lang="en-AU" sz="2400" dirty="0">
                <a:solidFill>
                  <a:srgbClr val="0070C0"/>
                </a:solidFill>
              </a:rPr>
              <a:t>major theories, if any; </a:t>
            </a:r>
          </a:p>
          <a:p>
            <a:pPr marL="800100" lvl="1" indent="-342900">
              <a:buFont typeface="Wingdings" panose="05000000000000000000" pitchFamily="2" charset="2"/>
              <a:buChar char="Ø"/>
            </a:pPr>
            <a:r>
              <a:rPr lang="en-AU" sz="2400" dirty="0">
                <a:solidFill>
                  <a:srgbClr val="0070C0"/>
                </a:solidFill>
              </a:rPr>
              <a:t>the main issues, problems and advances in the subject area under study; </a:t>
            </a:r>
          </a:p>
          <a:p>
            <a:pPr marL="800100" lvl="1" indent="-342900">
              <a:buFont typeface="Wingdings" panose="05000000000000000000" pitchFamily="2" charset="2"/>
              <a:buChar char="Ø"/>
            </a:pPr>
            <a:r>
              <a:rPr lang="en-AU" sz="2400" dirty="0">
                <a:solidFill>
                  <a:srgbClr val="0070C0"/>
                </a:solidFill>
              </a:rPr>
              <a:t>important theoretical and practical issues relating to the central problem under study; </a:t>
            </a:r>
          </a:p>
          <a:p>
            <a:pPr marL="800100" lvl="1" indent="-342900">
              <a:buFont typeface="Wingdings" panose="05000000000000000000" pitchFamily="2" charset="2"/>
              <a:buChar char="Ø"/>
            </a:pPr>
            <a:r>
              <a:rPr lang="en-AU" sz="2400" dirty="0">
                <a:solidFill>
                  <a:srgbClr val="0070C0"/>
                </a:solidFill>
              </a:rPr>
              <a:t>the main findings relating to the core issue(s). </a:t>
            </a:r>
          </a:p>
        </p:txBody>
      </p:sp>
    </p:spTree>
    <p:extLst>
      <p:ext uri="{BB962C8B-B14F-4D97-AF65-F5344CB8AC3E}">
        <p14:creationId xmlns:p14="http://schemas.microsoft.com/office/powerpoint/2010/main" val="1807721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fade">
                                      <p:cBhvr>
                                        <p:cTn id="17" dur="500"/>
                                        <p:tgtEl>
                                          <p:spTgt spid="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4" end="4"/>
                                            </p:txEl>
                                          </p:spTgt>
                                        </p:tgtEl>
                                        <p:attrNameLst>
                                          <p:attrName>style.visibility</p:attrName>
                                        </p:attrNameLst>
                                      </p:cBhvr>
                                      <p:to>
                                        <p:strVal val="visible"/>
                                      </p:to>
                                    </p:set>
                                    <p:animEffect transition="in" filter="fade">
                                      <p:cBhvr>
                                        <p:cTn id="22" dur="500"/>
                                        <p:tgtEl>
                                          <p:spTgt spid="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animEffect transition="in" filter="fade">
                                      <p:cBhvr>
                                        <p:cTn id="27" dur="500"/>
                                        <p:tgtEl>
                                          <p:spTgt spid="7">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
                                            <p:txEl>
                                              <p:pRg st="6" end="6"/>
                                            </p:txEl>
                                          </p:spTgt>
                                        </p:tgtEl>
                                        <p:attrNameLst>
                                          <p:attrName>style.visibility</p:attrName>
                                        </p:attrNameLst>
                                      </p:cBhvr>
                                      <p:to>
                                        <p:strVal val="visible"/>
                                      </p:to>
                                    </p:set>
                                    <p:animEffect transition="in" filter="fade">
                                      <p:cBhvr>
                                        <p:cTn id="32" dur="500"/>
                                        <p:tgtEl>
                                          <p:spTgt spid="7">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
                                            <p:txEl>
                                              <p:pRg st="7" end="7"/>
                                            </p:txEl>
                                          </p:spTgt>
                                        </p:tgtEl>
                                        <p:attrNameLst>
                                          <p:attrName>style.visibility</p:attrName>
                                        </p:attrNameLst>
                                      </p:cBhvr>
                                      <p:to>
                                        <p:strVal val="visible"/>
                                      </p:to>
                                    </p:set>
                                    <p:animEffect transition="in" filter="fade">
                                      <p:cBhvr>
                                        <p:cTn id="37" dur="500"/>
                                        <p:tgtEl>
                                          <p:spTgt spid="7">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
                                            <p:txEl>
                                              <p:pRg st="8" end="8"/>
                                            </p:txEl>
                                          </p:spTgt>
                                        </p:tgtEl>
                                        <p:attrNameLst>
                                          <p:attrName>style.visibility</p:attrName>
                                        </p:attrNameLst>
                                      </p:cBhvr>
                                      <p:to>
                                        <p:strVal val="visible"/>
                                      </p:to>
                                    </p:set>
                                    <p:animEffect transition="in" filter="fade">
                                      <p:cBhvr>
                                        <p:cTn id="42" dur="500"/>
                                        <p:tgtEl>
                                          <p:spTgt spid="7">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
                                            <p:txEl>
                                              <p:pRg st="9" end="9"/>
                                            </p:txEl>
                                          </p:spTgt>
                                        </p:tgtEl>
                                        <p:attrNameLst>
                                          <p:attrName>style.visibility</p:attrName>
                                        </p:attrNameLst>
                                      </p:cBhvr>
                                      <p:to>
                                        <p:strVal val="visible"/>
                                      </p:to>
                                    </p:set>
                                    <p:animEffect transition="in" filter="fade">
                                      <p:cBhvr>
                                        <p:cTn id="47" dur="500"/>
                                        <p:tgtEl>
                                          <p:spTgt spid="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1D148641-DC13-4BAD-A332-192620E849F6}"/>
              </a:ext>
            </a:extLst>
          </p:cNvPr>
          <p:cNvSpPr>
            <a:spLocks noGrp="1"/>
          </p:cNvSpPr>
          <p:nvPr>
            <p:ph type="body" sz="quarter" idx="12"/>
          </p:nvPr>
        </p:nvSpPr>
        <p:spPr/>
        <p:txBody>
          <a:bodyPr/>
          <a:lstStyle/>
          <a:p>
            <a:pPr lvl="0">
              <a:spcBef>
                <a:spcPct val="0"/>
              </a:spcBef>
              <a:defRPr/>
            </a:pPr>
            <a:r>
              <a:rPr lang="en-AU" dirty="0">
                <a:solidFill>
                  <a:srgbClr val="FF0000"/>
                </a:solidFill>
              </a:rPr>
              <a:t>Background…</a:t>
            </a:r>
            <a:endParaRPr lang="en-AU" cap="none" dirty="0">
              <a:solidFill>
                <a:srgbClr val="FF0000"/>
              </a:solidFill>
            </a:endParaRPr>
          </a:p>
        </p:txBody>
      </p:sp>
      <p:sp>
        <p:nvSpPr>
          <p:cNvPr id="4" name="Date Placeholder 3">
            <a:extLst>
              <a:ext uri="{FF2B5EF4-FFF2-40B4-BE49-F238E27FC236}">
                <a16:creationId xmlns:a16="http://schemas.microsoft.com/office/drawing/2014/main" xmlns="" id="{9C3EF279-A6D7-47AE-8566-27321A85E41C}"/>
              </a:ext>
            </a:extLst>
          </p:cNvPr>
          <p:cNvSpPr>
            <a:spLocks noGrp="1"/>
          </p:cNvSpPr>
          <p:nvPr>
            <p:ph type="dt" sz="half" idx="10"/>
          </p:nvPr>
        </p:nvSpPr>
        <p:spPr/>
        <p:txBody>
          <a:bodyPr/>
          <a:lstStyle/>
          <a:p>
            <a:pPr>
              <a:defRPr/>
            </a:pPr>
            <a:fld id="{69A52D0F-A1E2-42CE-91A9-618E0BB64790}" type="datetime1">
              <a:rPr lang="en-US" smtClean="0"/>
              <a:t>7/6/2022</a:t>
            </a:fld>
            <a:endParaRPr lang="en-US"/>
          </a:p>
        </p:txBody>
      </p:sp>
      <p:sp>
        <p:nvSpPr>
          <p:cNvPr id="6" name="Slide Number Placeholder 5">
            <a:extLst>
              <a:ext uri="{FF2B5EF4-FFF2-40B4-BE49-F238E27FC236}">
                <a16:creationId xmlns:a16="http://schemas.microsoft.com/office/drawing/2014/main" xmlns="" id="{A2D3AD93-E5D2-44F5-AEB7-4EDD36E020C3}"/>
              </a:ext>
            </a:extLst>
          </p:cNvPr>
          <p:cNvSpPr>
            <a:spLocks noGrp="1"/>
          </p:cNvSpPr>
          <p:nvPr>
            <p:ph type="sldNum" sz="quarter" idx="14"/>
          </p:nvPr>
        </p:nvSpPr>
        <p:spPr/>
        <p:txBody>
          <a:bodyPr/>
          <a:lstStyle/>
          <a:p>
            <a:pPr>
              <a:defRPr/>
            </a:pPr>
            <a:fld id="{A4D7D840-3C4D-4535-9FCE-221E1C945AAA}" type="slidenum">
              <a:rPr lang="en-US" smtClean="0"/>
              <a:pPr>
                <a:defRPr/>
              </a:pPr>
              <a:t>16</a:t>
            </a:fld>
            <a:endParaRPr lang="en-US"/>
          </a:p>
        </p:txBody>
      </p:sp>
      <p:sp>
        <p:nvSpPr>
          <p:cNvPr id="7" name="Subtitle 2">
            <a:extLst>
              <a:ext uri="{FF2B5EF4-FFF2-40B4-BE49-F238E27FC236}">
                <a16:creationId xmlns:a16="http://schemas.microsoft.com/office/drawing/2014/main" xmlns="" id="{1136FDEE-E91F-4ED5-B86E-996F803BEF36}"/>
              </a:ext>
            </a:extLst>
          </p:cNvPr>
          <p:cNvSpPr txBox="1">
            <a:spLocks/>
          </p:cNvSpPr>
          <p:nvPr/>
        </p:nvSpPr>
        <p:spPr>
          <a:xfrm>
            <a:off x="228600" y="990600"/>
            <a:ext cx="8458200" cy="5410200"/>
          </a:xfrm>
          <a:prstGeom prst="rect">
            <a:avLst/>
          </a:prstGeom>
        </p:spPr>
        <p:txBody>
          <a:bodyPr vert="horz" lIns="91440" tIns="45720" rIns="91440" bIns="45720" rtlCol="0">
            <a:normAutofit/>
          </a:bodyPr>
          <a:lstStyle/>
          <a:p>
            <a:pPr marL="457200" indent="-457200" algn="just">
              <a:spcAft>
                <a:spcPts val="1800"/>
              </a:spcAft>
              <a:buFont typeface="Wingdings" panose="05000000000000000000" pitchFamily="2" charset="2"/>
              <a:buChar char="q"/>
            </a:pPr>
            <a:r>
              <a:rPr lang="en-AU" sz="2400" dirty="0">
                <a:solidFill>
                  <a:srgbClr val="0070C0"/>
                </a:solidFill>
              </a:rPr>
              <a:t>A presentation of any pertinent data obtained in the investigator’s lab (if any) </a:t>
            </a:r>
          </a:p>
          <a:p>
            <a:pPr marL="457200" indent="-457200" algn="just">
              <a:spcAft>
                <a:spcPts val="1800"/>
              </a:spcAft>
              <a:buFont typeface="Wingdings" panose="05000000000000000000" pitchFamily="2" charset="2"/>
              <a:buChar char="q"/>
            </a:pPr>
            <a:r>
              <a:rPr lang="en-AU" sz="2400" dirty="0"/>
              <a:t>Displayed in an organized fashion (tables, graphs and other figures) </a:t>
            </a:r>
          </a:p>
          <a:p>
            <a:pPr marL="457200" indent="-457200" algn="just">
              <a:spcAft>
                <a:spcPts val="1800"/>
              </a:spcAft>
              <a:buFont typeface="Wingdings" panose="05000000000000000000" pitchFamily="2" charset="2"/>
              <a:buChar char="q"/>
            </a:pPr>
            <a:r>
              <a:rPr lang="en-AU" sz="2400" dirty="0">
                <a:solidFill>
                  <a:srgbClr val="9900CC"/>
                </a:solidFill>
              </a:rPr>
              <a:t>Illustrates the skills and techniques available to the investigator </a:t>
            </a:r>
          </a:p>
          <a:p>
            <a:pPr marL="457200" indent="-457200" algn="just">
              <a:spcAft>
                <a:spcPts val="1800"/>
              </a:spcAft>
              <a:buFont typeface="Wingdings" panose="05000000000000000000" pitchFamily="2" charset="2"/>
              <a:buChar char="q"/>
            </a:pPr>
            <a:r>
              <a:rPr lang="en-AU" sz="2400" dirty="0">
                <a:solidFill>
                  <a:srgbClr val="00B050"/>
                </a:solidFill>
              </a:rPr>
              <a:t>Includes a section of recent publications or manuscripts by the investigator</a:t>
            </a:r>
          </a:p>
          <a:p>
            <a:pPr marL="457200" indent="-457200" algn="just">
              <a:spcAft>
                <a:spcPts val="1800"/>
              </a:spcAft>
              <a:buFont typeface="Wingdings" panose="05000000000000000000" pitchFamily="2" charset="2"/>
              <a:buChar char="q"/>
            </a:pPr>
            <a:endParaRPr lang="en-AU" sz="2400" dirty="0">
              <a:solidFill>
                <a:srgbClr val="00B050"/>
              </a:solidFill>
              <a:highlight>
                <a:srgbClr val="FFFF00"/>
              </a:highlight>
            </a:endParaRPr>
          </a:p>
          <a:p>
            <a:pPr algn="just">
              <a:spcAft>
                <a:spcPts val="1800"/>
              </a:spcAft>
            </a:pPr>
            <a:endParaRPr lang="en-AU" sz="2400" dirty="0">
              <a:solidFill>
                <a:srgbClr val="00B050"/>
              </a:solidFill>
            </a:endParaRPr>
          </a:p>
          <a:p>
            <a:pPr marL="800100" lvl="1" indent="-342900">
              <a:buFont typeface="Wingdings" panose="05000000000000000000" pitchFamily="2" charset="2"/>
              <a:buChar char="Ø"/>
            </a:pPr>
            <a:endParaRPr lang="en-AU" sz="2400" dirty="0">
              <a:solidFill>
                <a:srgbClr val="0070C0"/>
              </a:solidFill>
            </a:endParaRPr>
          </a:p>
        </p:txBody>
      </p:sp>
    </p:spTree>
    <p:extLst>
      <p:ext uri="{BB962C8B-B14F-4D97-AF65-F5344CB8AC3E}">
        <p14:creationId xmlns:p14="http://schemas.microsoft.com/office/powerpoint/2010/main" val="89940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1D148641-DC13-4BAD-A332-192620E849F6}"/>
              </a:ext>
            </a:extLst>
          </p:cNvPr>
          <p:cNvSpPr>
            <a:spLocks noGrp="1"/>
          </p:cNvSpPr>
          <p:nvPr>
            <p:ph type="body" sz="quarter" idx="12"/>
          </p:nvPr>
        </p:nvSpPr>
        <p:spPr/>
        <p:txBody>
          <a:bodyPr/>
          <a:lstStyle/>
          <a:p>
            <a:pPr lvl="0">
              <a:spcBef>
                <a:spcPct val="0"/>
              </a:spcBef>
              <a:defRPr/>
            </a:pPr>
            <a:r>
              <a:rPr lang="en-AU" dirty="0">
                <a:solidFill>
                  <a:srgbClr val="FF0000"/>
                </a:solidFill>
              </a:rPr>
              <a:t>Problem Statement</a:t>
            </a:r>
          </a:p>
        </p:txBody>
      </p:sp>
      <p:sp>
        <p:nvSpPr>
          <p:cNvPr id="4" name="Date Placeholder 3">
            <a:extLst>
              <a:ext uri="{FF2B5EF4-FFF2-40B4-BE49-F238E27FC236}">
                <a16:creationId xmlns:a16="http://schemas.microsoft.com/office/drawing/2014/main" xmlns="" id="{9C3EF279-A6D7-47AE-8566-27321A85E41C}"/>
              </a:ext>
            </a:extLst>
          </p:cNvPr>
          <p:cNvSpPr>
            <a:spLocks noGrp="1"/>
          </p:cNvSpPr>
          <p:nvPr>
            <p:ph type="dt" sz="half" idx="10"/>
          </p:nvPr>
        </p:nvSpPr>
        <p:spPr/>
        <p:txBody>
          <a:bodyPr/>
          <a:lstStyle/>
          <a:p>
            <a:pPr>
              <a:defRPr/>
            </a:pPr>
            <a:fld id="{69A52D0F-A1E2-42CE-91A9-618E0BB64790}" type="datetime1">
              <a:rPr lang="en-US" smtClean="0"/>
              <a:t>7/6/2022</a:t>
            </a:fld>
            <a:endParaRPr lang="en-US"/>
          </a:p>
        </p:txBody>
      </p:sp>
      <p:sp>
        <p:nvSpPr>
          <p:cNvPr id="6" name="Slide Number Placeholder 5">
            <a:extLst>
              <a:ext uri="{FF2B5EF4-FFF2-40B4-BE49-F238E27FC236}">
                <a16:creationId xmlns:a16="http://schemas.microsoft.com/office/drawing/2014/main" xmlns="" id="{A2D3AD93-E5D2-44F5-AEB7-4EDD36E020C3}"/>
              </a:ext>
            </a:extLst>
          </p:cNvPr>
          <p:cNvSpPr>
            <a:spLocks noGrp="1"/>
          </p:cNvSpPr>
          <p:nvPr>
            <p:ph type="sldNum" sz="quarter" idx="14"/>
          </p:nvPr>
        </p:nvSpPr>
        <p:spPr/>
        <p:txBody>
          <a:bodyPr/>
          <a:lstStyle/>
          <a:p>
            <a:pPr>
              <a:defRPr/>
            </a:pPr>
            <a:fld id="{A4D7D840-3C4D-4535-9FCE-221E1C945AAA}" type="slidenum">
              <a:rPr lang="en-US" smtClean="0"/>
              <a:pPr>
                <a:defRPr/>
              </a:pPr>
              <a:t>17</a:t>
            </a:fld>
            <a:endParaRPr lang="en-US"/>
          </a:p>
        </p:txBody>
      </p:sp>
      <p:sp>
        <p:nvSpPr>
          <p:cNvPr id="7" name="Subtitle 2">
            <a:extLst>
              <a:ext uri="{FF2B5EF4-FFF2-40B4-BE49-F238E27FC236}">
                <a16:creationId xmlns:a16="http://schemas.microsoft.com/office/drawing/2014/main" xmlns="" id="{1136FDEE-E91F-4ED5-B86E-996F803BEF36}"/>
              </a:ext>
            </a:extLst>
          </p:cNvPr>
          <p:cNvSpPr txBox="1">
            <a:spLocks/>
          </p:cNvSpPr>
          <p:nvPr/>
        </p:nvSpPr>
        <p:spPr>
          <a:xfrm>
            <a:off x="228600" y="990600"/>
            <a:ext cx="8458200" cy="5410200"/>
          </a:xfrm>
          <a:prstGeom prst="rect">
            <a:avLst/>
          </a:prstGeom>
        </p:spPr>
        <p:txBody>
          <a:bodyPr vert="horz" lIns="91440" tIns="45720" rIns="91440" bIns="45720" rtlCol="0">
            <a:normAutofit lnSpcReduction="10000"/>
          </a:bodyPr>
          <a:lstStyle/>
          <a:p>
            <a:pPr marL="342900" indent="-342900" algn="just">
              <a:spcAft>
                <a:spcPts val="1800"/>
              </a:spcAft>
              <a:buFont typeface="Wingdings" panose="05000000000000000000" pitchFamily="2" charset="2"/>
              <a:buChar char="q"/>
            </a:pPr>
            <a:r>
              <a:rPr lang="en-AU" sz="2400" dirty="0">
                <a:solidFill>
                  <a:schemeClr val="accent5">
                    <a:lumMod val="75000"/>
                  </a:schemeClr>
                </a:solidFill>
              </a:rPr>
              <a:t>Some of the main research questions that you would like to answer through your study should also be raised, and a rationale and relevance for each should be provided. </a:t>
            </a:r>
          </a:p>
          <a:p>
            <a:pPr marL="342900" indent="-342900" algn="just">
              <a:buFont typeface="Wingdings" panose="05000000000000000000" pitchFamily="2" charset="2"/>
              <a:buChar char="q"/>
            </a:pPr>
            <a:r>
              <a:rPr lang="en-AU" sz="2400" dirty="0">
                <a:solidFill>
                  <a:srgbClr val="FF0000"/>
                </a:solidFill>
              </a:rPr>
              <a:t>Specifically, this section should: </a:t>
            </a:r>
          </a:p>
          <a:p>
            <a:pPr marL="800100" lvl="1" indent="-342900" algn="just">
              <a:spcAft>
                <a:spcPts val="1200"/>
              </a:spcAft>
              <a:buFont typeface="Wingdings" panose="05000000000000000000" pitchFamily="2" charset="2"/>
              <a:buChar char="Ø"/>
            </a:pPr>
            <a:r>
              <a:rPr lang="en-AU" sz="2000" dirty="0"/>
              <a:t>identify the issues that are the basis of your study; </a:t>
            </a:r>
          </a:p>
          <a:p>
            <a:pPr marL="800100" lvl="1" indent="-342900" algn="just">
              <a:spcAft>
                <a:spcPts val="1200"/>
              </a:spcAft>
              <a:buFont typeface="Wingdings" panose="05000000000000000000" pitchFamily="2" charset="2"/>
              <a:buChar char="Ø"/>
            </a:pPr>
            <a:r>
              <a:rPr lang="en-AU" sz="2000" dirty="0"/>
              <a:t>specify the various aspects of/perspectives on these issues; </a:t>
            </a:r>
          </a:p>
          <a:p>
            <a:pPr marL="800100" lvl="1" indent="-342900" algn="just">
              <a:spcAft>
                <a:spcPts val="1200"/>
              </a:spcAft>
              <a:buFont typeface="Wingdings" panose="05000000000000000000" pitchFamily="2" charset="2"/>
              <a:buChar char="Ø"/>
            </a:pPr>
            <a:r>
              <a:rPr lang="en-AU" sz="2000" dirty="0"/>
              <a:t>identify the main gaps in the existing body of knowledge; </a:t>
            </a:r>
          </a:p>
          <a:p>
            <a:pPr marL="800100" lvl="1" indent="-342900" algn="just">
              <a:spcAft>
                <a:spcPts val="1200"/>
              </a:spcAft>
              <a:buFont typeface="Wingdings" panose="05000000000000000000" pitchFamily="2" charset="2"/>
              <a:buChar char="Ø"/>
            </a:pPr>
            <a:r>
              <a:rPr lang="en-AU" sz="2000" dirty="0"/>
              <a:t>raise some of the main research questions that you want to answer through your study; </a:t>
            </a:r>
          </a:p>
          <a:p>
            <a:pPr marL="800100" lvl="1" indent="-342900" algn="just">
              <a:spcAft>
                <a:spcPts val="1200"/>
              </a:spcAft>
              <a:buFont typeface="Wingdings" panose="05000000000000000000" pitchFamily="2" charset="2"/>
              <a:buChar char="Ø"/>
            </a:pPr>
            <a:r>
              <a:rPr lang="en-AU" sz="2000" dirty="0"/>
              <a:t>identify what knowledge is available concerning your questions, specifying the differences of opinion in the literature regarding these questions if differences exist; </a:t>
            </a:r>
          </a:p>
          <a:p>
            <a:pPr marL="800100" lvl="1" indent="-342900" algn="just">
              <a:spcAft>
                <a:spcPts val="1200"/>
              </a:spcAft>
              <a:buFont typeface="Wingdings" panose="05000000000000000000" pitchFamily="2" charset="2"/>
              <a:buChar char="Ø"/>
            </a:pPr>
            <a:r>
              <a:rPr lang="en-AU" sz="2000" dirty="0"/>
              <a:t>develop a rationale for your study with particular reference to how your study will fill the identified gaps. </a:t>
            </a:r>
          </a:p>
          <a:p>
            <a:pPr marL="800100" lvl="1" indent="-342900">
              <a:buFont typeface="Wingdings" panose="05000000000000000000" pitchFamily="2" charset="2"/>
              <a:buChar char="Ø"/>
            </a:pPr>
            <a:endParaRPr lang="en-AU" sz="2400" dirty="0">
              <a:solidFill>
                <a:srgbClr val="0070C0"/>
              </a:solidFill>
            </a:endParaRPr>
          </a:p>
        </p:txBody>
      </p:sp>
    </p:spTree>
    <p:extLst>
      <p:ext uri="{BB962C8B-B14F-4D97-AF65-F5344CB8AC3E}">
        <p14:creationId xmlns:p14="http://schemas.microsoft.com/office/powerpoint/2010/main" val="1560536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fade">
                                      <p:cBhvr>
                                        <p:cTn id="32" dur="500"/>
                                        <p:tgtEl>
                                          <p:spTgt spid="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
                                            <p:txEl>
                                              <p:pRg st="6" end="6"/>
                                            </p:txEl>
                                          </p:spTgt>
                                        </p:tgtEl>
                                        <p:attrNameLst>
                                          <p:attrName>style.visibility</p:attrName>
                                        </p:attrNameLst>
                                      </p:cBhvr>
                                      <p:to>
                                        <p:strVal val="visible"/>
                                      </p:to>
                                    </p:set>
                                    <p:animEffect transition="in" filter="fade">
                                      <p:cBhvr>
                                        <p:cTn id="37" dur="500"/>
                                        <p:tgtEl>
                                          <p:spTgt spid="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
                                            <p:txEl>
                                              <p:pRg st="7" end="7"/>
                                            </p:txEl>
                                          </p:spTgt>
                                        </p:tgtEl>
                                        <p:attrNameLst>
                                          <p:attrName>style.visibility</p:attrName>
                                        </p:attrNameLst>
                                      </p:cBhvr>
                                      <p:to>
                                        <p:strVal val="visible"/>
                                      </p:to>
                                    </p:set>
                                    <p:animEffect transition="in" filter="fade">
                                      <p:cBhvr>
                                        <p:cTn id="42" dur="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D75F17B9-3D26-4C81-8774-4F45D015B6F9}"/>
              </a:ext>
            </a:extLst>
          </p:cNvPr>
          <p:cNvSpPr>
            <a:spLocks noGrp="1"/>
          </p:cNvSpPr>
          <p:nvPr>
            <p:ph type="body" sz="quarter" idx="12"/>
          </p:nvPr>
        </p:nvSpPr>
        <p:spPr/>
        <p:txBody>
          <a:bodyPr/>
          <a:lstStyle/>
          <a:p>
            <a:r>
              <a:rPr lang="en-AU" dirty="0">
                <a:solidFill>
                  <a:srgbClr val="FF0000"/>
                </a:solidFill>
              </a:rPr>
              <a:t>Objectives of the Study</a:t>
            </a:r>
          </a:p>
        </p:txBody>
      </p:sp>
      <p:sp>
        <p:nvSpPr>
          <p:cNvPr id="4" name="Date Placeholder 3">
            <a:extLst>
              <a:ext uri="{FF2B5EF4-FFF2-40B4-BE49-F238E27FC236}">
                <a16:creationId xmlns:a16="http://schemas.microsoft.com/office/drawing/2014/main" xmlns="" id="{346125CF-407D-43F3-8979-B13A95182626}"/>
              </a:ext>
            </a:extLst>
          </p:cNvPr>
          <p:cNvSpPr>
            <a:spLocks noGrp="1"/>
          </p:cNvSpPr>
          <p:nvPr>
            <p:ph type="dt" sz="half" idx="10"/>
          </p:nvPr>
        </p:nvSpPr>
        <p:spPr/>
        <p:txBody>
          <a:bodyPr/>
          <a:lstStyle/>
          <a:p>
            <a:pPr>
              <a:defRPr/>
            </a:pPr>
            <a:fld id="{69A52D0F-A1E2-42CE-91A9-618E0BB64790}" type="datetime1">
              <a:rPr lang="en-US" smtClean="0"/>
              <a:t>7/6/2022</a:t>
            </a:fld>
            <a:endParaRPr lang="en-US"/>
          </a:p>
        </p:txBody>
      </p:sp>
      <p:sp>
        <p:nvSpPr>
          <p:cNvPr id="6" name="Slide Number Placeholder 5">
            <a:extLst>
              <a:ext uri="{FF2B5EF4-FFF2-40B4-BE49-F238E27FC236}">
                <a16:creationId xmlns:a16="http://schemas.microsoft.com/office/drawing/2014/main" xmlns="" id="{840173D6-D236-4445-8F0F-7BABCFDC7D5B}"/>
              </a:ext>
            </a:extLst>
          </p:cNvPr>
          <p:cNvSpPr>
            <a:spLocks noGrp="1"/>
          </p:cNvSpPr>
          <p:nvPr>
            <p:ph type="sldNum" sz="quarter" idx="14"/>
          </p:nvPr>
        </p:nvSpPr>
        <p:spPr/>
        <p:txBody>
          <a:bodyPr/>
          <a:lstStyle/>
          <a:p>
            <a:pPr>
              <a:defRPr/>
            </a:pPr>
            <a:fld id="{A4D7D840-3C4D-4535-9FCE-221E1C945AAA}" type="slidenum">
              <a:rPr lang="en-US" smtClean="0"/>
              <a:pPr>
                <a:defRPr/>
              </a:pPr>
              <a:t>18</a:t>
            </a:fld>
            <a:endParaRPr lang="en-US"/>
          </a:p>
        </p:txBody>
      </p:sp>
      <p:sp>
        <p:nvSpPr>
          <p:cNvPr id="7" name="Subtitle 2">
            <a:extLst>
              <a:ext uri="{FF2B5EF4-FFF2-40B4-BE49-F238E27FC236}">
                <a16:creationId xmlns:a16="http://schemas.microsoft.com/office/drawing/2014/main" xmlns="" id="{736BBA6A-B531-4879-AEFA-17D491DFD5A5}"/>
              </a:ext>
            </a:extLst>
          </p:cNvPr>
          <p:cNvSpPr txBox="1">
            <a:spLocks/>
          </p:cNvSpPr>
          <p:nvPr/>
        </p:nvSpPr>
        <p:spPr>
          <a:xfrm>
            <a:off x="152400" y="1219200"/>
            <a:ext cx="4419600" cy="5181600"/>
          </a:xfrm>
          <a:prstGeom prst="rect">
            <a:avLst/>
          </a:prstGeom>
        </p:spPr>
        <p:txBody>
          <a:bodyPr vert="horz" lIns="91440" tIns="45720" rIns="91440" bIns="45720" rtlCol="0">
            <a:noAutofit/>
          </a:bodyPr>
          <a:lstStyle/>
          <a:p>
            <a:pPr marL="457200" indent="-457200" algn="just">
              <a:buFont typeface="Wingdings" panose="05000000000000000000" pitchFamily="2" charset="2"/>
              <a:buChar char="q"/>
            </a:pPr>
            <a:r>
              <a:rPr lang="en-AU" sz="2400" dirty="0"/>
              <a:t>The objectives of the study should be clearly stated and specific in nature. </a:t>
            </a:r>
          </a:p>
          <a:p>
            <a:pPr marL="457200" indent="-457200" algn="just">
              <a:buFont typeface="Wingdings" panose="05000000000000000000" pitchFamily="2" charset="2"/>
              <a:buChar char="q"/>
            </a:pPr>
            <a:endParaRPr lang="en-AU" sz="2400" dirty="0"/>
          </a:p>
          <a:p>
            <a:pPr marL="457200" indent="-457200" algn="just">
              <a:buFont typeface="Wingdings" panose="05000000000000000000" pitchFamily="2" charset="2"/>
              <a:buChar char="q"/>
            </a:pPr>
            <a:r>
              <a:rPr lang="en-AU" sz="2400" dirty="0"/>
              <a:t>Each sub-objective should delineate only one issue.</a:t>
            </a:r>
          </a:p>
          <a:p>
            <a:pPr algn="just"/>
            <a:r>
              <a:rPr lang="en-AU" sz="2400" dirty="0"/>
              <a:t> </a:t>
            </a:r>
          </a:p>
          <a:p>
            <a:pPr marL="457200" indent="-457200" algn="just">
              <a:buFont typeface="Wingdings" panose="05000000000000000000" pitchFamily="2" charset="2"/>
              <a:buChar char="q"/>
            </a:pPr>
            <a:r>
              <a:rPr lang="en-AU" sz="2400" dirty="0"/>
              <a:t>Use action-oriented verbs such as ‘to determine’, ‘to investigate’ and ‘to analyse’ in formulating sub-objectives, which should be numerically </a:t>
            </a:r>
            <a:r>
              <a:rPr lang="en-AU" sz="2800" dirty="0"/>
              <a:t>listed. </a:t>
            </a:r>
          </a:p>
        </p:txBody>
      </p:sp>
      <p:pic>
        <p:nvPicPr>
          <p:cNvPr id="8" name="Picture 1">
            <a:extLst>
              <a:ext uri="{FF2B5EF4-FFF2-40B4-BE49-F238E27FC236}">
                <a16:creationId xmlns:a16="http://schemas.microsoft.com/office/drawing/2014/main" xmlns="" id="{A20902B0-5AAD-49D9-A46C-4061451C44EE}"/>
              </a:ext>
            </a:extLst>
          </p:cNvPr>
          <p:cNvPicPr>
            <a:picLocks noChangeAspect="1" noChangeArrowheads="1"/>
          </p:cNvPicPr>
          <p:nvPr/>
        </p:nvPicPr>
        <p:blipFill>
          <a:blip r:embed="rId2" cstate="print"/>
          <a:srcRect/>
          <a:stretch>
            <a:fillRect/>
          </a:stretch>
        </p:blipFill>
        <p:spPr bwMode="auto">
          <a:xfrm>
            <a:off x="4648200" y="1123950"/>
            <a:ext cx="4429125" cy="5581650"/>
          </a:xfrm>
          <a:prstGeom prst="rect">
            <a:avLst/>
          </a:prstGeom>
          <a:noFill/>
          <a:ln w="9525">
            <a:noFill/>
            <a:miter lim="800000"/>
            <a:headEnd/>
            <a:tailEnd/>
          </a:ln>
        </p:spPr>
      </p:pic>
    </p:spTree>
    <p:extLst>
      <p:ext uri="{BB962C8B-B14F-4D97-AF65-F5344CB8AC3E}">
        <p14:creationId xmlns:p14="http://schemas.microsoft.com/office/powerpoint/2010/main" val="3708047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fade">
                                      <p:cBhvr>
                                        <p:cTn id="17" dur="500"/>
                                        <p:tgtEl>
                                          <p:spTgt spid="7">
                                            <p:txEl>
                                              <p:pRg st="3" end="3"/>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7">
                                            <p:txEl>
                                              <p:pRg st="4" end="4"/>
                                            </p:txEl>
                                          </p:spTgt>
                                        </p:tgtEl>
                                        <p:attrNameLst>
                                          <p:attrName>style.visibility</p:attrName>
                                        </p:attrNameLst>
                                      </p:cBhvr>
                                      <p:to>
                                        <p:strVal val="visible"/>
                                      </p:to>
                                    </p:set>
                                    <p:animEffect transition="in" filter="fade">
                                      <p:cBhvr>
                                        <p:cTn id="20"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D75F17B9-3D26-4C81-8774-4F45D015B6F9}"/>
              </a:ext>
            </a:extLst>
          </p:cNvPr>
          <p:cNvSpPr>
            <a:spLocks noGrp="1"/>
          </p:cNvSpPr>
          <p:nvPr>
            <p:ph type="body" sz="quarter" idx="12"/>
          </p:nvPr>
        </p:nvSpPr>
        <p:spPr/>
        <p:txBody>
          <a:bodyPr/>
          <a:lstStyle/>
          <a:p>
            <a:r>
              <a:rPr lang="en-AU" dirty="0">
                <a:solidFill>
                  <a:srgbClr val="FF0000"/>
                </a:solidFill>
              </a:rPr>
              <a:t>Objectives of the Study: </a:t>
            </a:r>
            <a:r>
              <a:rPr lang="en-AU" sz="3200" dirty="0">
                <a:solidFill>
                  <a:schemeClr val="tx2">
                    <a:lumMod val="60000"/>
                    <a:lumOff val="40000"/>
                  </a:schemeClr>
                </a:solidFill>
              </a:rPr>
              <a:t>Example </a:t>
            </a:r>
            <a:endParaRPr lang="en-AU" dirty="0">
              <a:solidFill>
                <a:schemeClr val="tx2">
                  <a:lumMod val="60000"/>
                  <a:lumOff val="40000"/>
                </a:schemeClr>
              </a:solidFill>
            </a:endParaRPr>
          </a:p>
        </p:txBody>
      </p:sp>
      <p:sp>
        <p:nvSpPr>
          <p:cNvPr id="4" name="Date Placeholder 3">
            <a:extLst>
              <a:ext uri="{FF2B5EF4-FFF2-40B4-BE49-F238E27FC236}">
                <a16:creationId xmlns:a16="http://schemas.microsoft.com/office/drawing/2014/main" xmlns="" id="{346125CF-407D-43F3-8979-B13A95182626}"/>
              </a:ext>
            </a:extLst>
          </p:cNvPr>
          <p:cNvSpPr>
            <a:spLocks noGrp="1"/>
          </p:cNvSpPr>
          <p:nvPr>
            <p:ph type="dt" sz="half" idx="10"/>
          </p:nvPr>
        </p:nvSpPr>
        <p:spPr/>
        <p:txBody>
          <a:bodyPr/>
          <a:lstStyle/>
          <a:p>
            <a:pPr>
              <a:defRPr/>
            </a:pPr>
            <a:fld id="{69A52D0F-A1E2-42CE-91A9-618E0BB64790}" type="datetime1">
              <a:rPr lang="en-US" smtClean="0"/>
              <a:t>7/6/2022</a:t>
            </a:fld>
            <a:endParaRPr lang="en-US"/>
          </a:p>
        </p:txBody>
      </p:sp>
      <p:sp>
        <p:nvSpPr>
          <p:cNvPr id="6" name="Slide Number Placeholder 5">
            <a:extLst>
              <a:ext uri="{FF2B5EF4-FFF2-40B4-BE49-F238E27FC236}">
                <a16:creationId xmlns:a16="http://schemas.microsoft.com/office/drawing/2014/main" xmlns="" id="{840173D6-D236-4445-8F0F-7BABCFDC7D5B}"/>
              </a:ext>
            </a:extLst>
          </p:cNvPr>
          <p:cNvSpPr>
            <a:spLocks noGrp="1"/>
          </p:cNvSpPr>
          <p:nvPr>
            <p:ph type="sldNum" sz="quarter" idx="14"/>
          </p:nvPr>
        </p:nvSpPr>
        <p:spPr/>
        <p:txBody>
          <a:bodyPr/>
          <a:lstStyle/>
          <a:p>
            <a:pPr>
              <a:defRPr/>
            </a:pPr>
            <a:fld id="{A4D7D840-3C4D-4535-9FCE-221E1C945AAA}" type="slidenum">
              <a:rPr lang="en-US" smtClean="0"/>
              <a:pPr>
                <a:defRPr/>
              </a:pPr>
              <a:t>19</a:t>
            </a:fld>
            <a:endParaRPr lang="en-US"/>
          </a:p>
        </p:txBody>
      </p:sp>
      <p:sp>
        <p:nvSpPr>
          <p:cNvPr id="7" name="Subtitle 2">
            <a:extLst>
              <a:ext uri="{FF2B5EF4-FFF2-40B4-BE49-F238E27FC236}">
                <a16:creationId xmlns:a16="http://schemas.microsoft.com/office/drawing/2014/main" xmlns="" id="{736BBA6A-B531-4879-AEFA-17D491DFD5A5}"/>
              </a:ext>
            </a:extLst>
          </p:cNvPr>
          <p:cNvSpPr txBox="1">
            <a:spLocks/>
          </p:cNvSpPr>
          <p:nvPr/>
        </p:nvSpPr>
        <p:spPr>
          <a:xfrm>
            <a:off x="152400" y="1052656"/>
            <a:ext cx="8839200" cy="5348144"/>
          </a:xfrm>
          <a:prstGeom prst="rect">
            <a:avLst/>
          </a:prstGeom>
        </p:spPr>
        <p:txBody>
          <a:bodyPr vert="horz" lIns="91440" tIns="45720" rIns="91440" bIns="45720" rtlCol="0">
            <a:noAutofit/>
          </a:bodyPr>
          <a:lstStyle/>
          <a:p>
            <a:r>
              <a:rPr lang="en-AU" sz="2800" b="1" dirty="0">
                <a:solidFill>
                  <a:srgbClr val="7030A0"/>
                </a:solidFill>
              </a:rPr>
              <a:t>Problem Statement: </a:t>
            </a:r>
          </a:p>
          <a:p>
            <a:r>
              <a:rPr lang="en-AU" sz="2800" dirty="0"/>
              <a:t>When will a MEMs based silicon micro-switch fail if it is exposed to the atmosphere?</a:t>
            </a:r>
          </a:p>
          <a:p>
            <a:endParaRPr lang="en-AU" sz="2400" dirty="0"/>
          </a:p>
          <a:p>
            <a:r>
              <a:rPr lang="en-AU" sz="2800" b="1" dirty="0">
                <a:solidFill>
                  <a:srgbClr val="CC0099"/>
                </a:solidFill>
              </a:rPr>
              <a:t>Objectives: </a:t>
            </a:r>
          </a:p>
          <a:p>
            <a:pPr marL="914400" lvl="1" indent="-457200">
              <a:spcAft>
                <a:spcPts val="1200"/>
              </a:spcAft>
              <a:buFont typeface="Wingdings" panose="05000000000000000000" pitchFamily="2" charset="2"/>
              <a:buChar char="Ø"/>
            </a:pPr>
            <a:r>
              <a:rPr lang="en-AU" sz="2500" dirty="0"/>
              <a:t>To measure the surface contamination of silicon exposed to the atmosphere; </a:t>
            </a:r>
          </a:p>
          <a:p>
            <a:pPr marL="914400" lvl="1" indent="-457200">
              <a:spcAft>
                <a:spcPts val="1200"/>
              </a:spcAft>
              <a:buFont typeface="Wingdings" panose="05000000000000000000" pitchFamily="2" charset="2"/>
              <a:buChar char="Ø"/>
            </a:pPr>
            <a:r>
              <a:rPr lang="en-AU" sz="2500" dirty="0">
                <a:solidFill>
                  <a:srgbClr val="0070C0"/>
                </a:solidFill>
              </a:rPr>
              <a:t>To measure the mechanical properties of a silicon beam when subjected to continued use; </a:t>
            </a:r>
          </a:p>
          <a:p>
            <a:pPr marL="914400" lvl="1" indent="-457200">
              <a:spcAft>
                <a:spcPts val="1200"/>
              </a:spcAft>
              <a:buFont typeface="Wingdings" panose="05000000000000000000" pitchFamily="2" charset="2"/>
              <a:buChar char="Ø"/>
            </a:pPr>
            <a:r>
              <a:rPr lang="en-AU" sz="2500" dirty="0"/>
              <a:t>To model the experimentally derived data using 3D multi-physics</a:t>
            </a:r>
            <a:r>
              <a:rPr lang="en-AU" sz="2800" dirty="0"/>
              <a:t>. </a:t>
            </a:r>
          </a:p>
        </p:txBody>
      </p:sp>
    </p:spTree>
    <p:extLst>
      <p:ext uri="{BB962C8B-B14F-4D97-AF65-F5344CB8AC3E}">
        <p14:creationId xmlns:p14="http://schemas.microsoft.com/office/powerpoint/2010/main" val="3244032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fade">
                                      <p:cBhvr>
                                        <p:cTn id="17" dur="500"/>
                                        <p:tgtEl>
                                          <p:spTgt spid="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4" end="4"/>
                                            </p:txEl>
                                          </p:spTgt>
                                        </p:tgtEl>
                                        <p:attrNameLst>
                                          <p:attrName>style.visibility</p:attrName>
                                        </p:attrNameLst>
                                      </p:cBhvr>
                                      <p:to>
                                        <p:strVal val="visible"/>
                                      </p:to>
                                    </p:set>
                                    <p:animEffect transition="in" filter="fade">
                                      <p:cBhvr>
                                        <p:cTn id="22" dur="500"/>
                                        <p:tgtEl>
                                          <p:spTgt spid="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animEffect transition="in" filter="fade">
                                      <p:cBhvr>
                                        <p:cTn id="27" dur="500"/>
                                        <p:tgtEl>
                                          <p:spTgt spid="7">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
                                            <p:txEl>
                                              <p:pRg st="6" end="6"/>
                                            </p:txEl>
                                          </p:spTgt>
                                        </p:tgtEl>
                                        <p:attrNameLst>
                                          <p:attrName>style.visibility</p:attrName>
                                        </p:attrNameLst>
                                      </p:cBhvr>
                                      <p:to>
                                        <p:strVal val="visible"/>
                                      </p:to>
                                    </p:set>
                                    <p:animEffect transition="in" filter="fade">
                                      <p:cBhvr>
                                        <p:cTn id="32" dur="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D75F17B9-3D26-4C81-8774-4F45D015B6F9}"/>
              </a:ext>
            </a:extLst>
          </p:cNvPr>
          <p:cNvSpPr>
            <a:spLocks noGrp="1"/>
          </p:cNvSpPr>
          <p:nvPr>
            <p:ph type="body" sz="quarter" idx="12"/>
          </p:nvPr>
        </p:nvSpPr>
        <p:spPr/>
        <p:txBody>
          <a:bodyPr/>
          <a:lstStyle/>
          <a:p>
            <a:pPr lvl="0">
              <a:spcBef>
                <a:spcPct val="0"/>
              </a:spcBef>
              <a:defRPr/>
            </a:pPr>
            <a:r>
              <a:rPr lang="en-AU" dirty="0">
                <a:solidFill>
                  <a:srgbClr val="FF0000"/>
                </a:solidFill>
              </a:rPr>
              <a:t>Measurement Procedures</a:t>
            </a:r>
          </a:p>
        </p:txBody>
      </p:sp>
      <p:sp>
        <p:nvSpPr>
          <p:cNvPr id="4" name="Date Placeholder 3">
            <a:extLst>
              <a:ext uri="{FF2B5EF4-FFF2-40B4-BE49-F238E27FC236}">
                <a16:creationId xmlns:a16="http://schemas.microsoft.com/office/drawing/2014/main" xmlns="" id="{346125CF-407D-43F3-8979-B13A95182626}"/>
              </a:ext>
            </a:extLst>
          </p:cNvPr>
          <p:cNvSpPr>
            <a:spLocks noGrp="1"/>
          </p:cNvSpPr>
          <p:nvPr>
            <p:ph type="dt" sz="half" idx="10"/>
          </p:nvPr>
        </p:nvSpPr>
        <p:spPr/>
        <p:txBody>
          <a:bodyPr/>
          <a:lstStyle/>
          <a:p>
            <a:pPr>
              <a:defRPr/>
            </a:pPr>
            <a:fld id="{69A52D0F-A1E2-42CE-91A9-618E0BB64790}" type="datetime1">
              <a:rPr lang="en-US" smtClean="0"/>
              <a:t>7/6/2022</a:t>
            </a:fld>
            <a:endParaRPr lang="en-US"/>
          </a:p>
        </p:txBody>
      </p:sp>
      <p:sp>
        <p:nvSpPr>
          <p:cNvPr id="6" name="Slide Number Placeholder 5">
            <a:extLst>
              <a:ext uri="{FF2B5EF4-FFF2-40B4-BE49-F238E27FC236}">
                <a16:creationId xmlns:a16="http://schemas.microsoft.com/office/drawing/2014/main" xmlns="" id="{840173D6-D236-4445-8F0F-7BABCFDC7D5B}"/>
              </a:ext>
            </a:extLst>
          </p:cNvPr>
          <p:cNvSpPr>
            <a:spLocks noGrp="1"/>
          </p:cNvSpPr>
          <p:nvPr>
            <p:ph type="sldNum" sz="quarter" idx="14"/>
          </p:nvPr>
        </p:nvSpPr>
        <p:spPr/>
        <p:txBody>
          <a:bodyPr/>
          <a:lstStyle/>
          <a:p>
            <a:pPr>
              <a:defRPr/>
            </a:pPr>
            <a:fld id="{A4D7D840-3C4D-4535-9FCE-221E1C945AAA}" type="slidenum">
              <a:rPr lang="en-US" smtClean="0"/>
              <a:pPr>
                <a:defRPr/>
              </a:pPr>
              <a:t>20</a:t>
            </a:fld>
            <a:endParaRPr lang="en-US"/>
          </a:p>
        </p:txBody>
      </p:sp>
      <p:sp>
        <p:nvSpPr>
          <p:cNvPr id="7" name="Subtitle 2">
            <a:extLst>
              <a:ext uri="{FF2B5EF4-FFF2-40B4-BE49-F238E27FC236}">
                <a16:creationId xmlns:a16="http://schemas.microsoft.com/office/drawing/2014/main" xmlns="" id="{736BBA6A-B531-4879-AEFA-17D491DFD5A5}"/>
              </a:ext>
            </a:extLst>
          </p:cNvPr>
          <p:cNvSpPr txBox="1">
            <a:spLocks/>
          </p:cNvSpPr>
          <p:nvPr/>
        </p:nvSpPr>
        <p:spPr>
          <a:xfrm>
            <a:off x="152400" y="1052656"/>
            <a:ext cx="8839200" cy="5181600"/>
          </a:xfrm>
          <a:prstGeom prst="rect">
            <a:avLst/>
          </a:prstGeom>
        </p:spPr>
        <p:txBody>
          <a:bodyPr vert="horz" lIns="91440" tIns="45720" rIns="91440" bIns="45720" rtlCol="0">
            <a:noAutofit/>
          </a:bodyPr>
          <a:lstStyle/>
          <a:p>
            <a:pPr marL="457200" indent="-457200">
              <a:spcAft>
                <a:spcPts val="1800"/>
              </a:spcAft>
              <a:buFont typeface="Wingdings" panose="05000000000000000000" pitchFamily="2" charset="2"/>
              <a:buChar char="q"/>
            </a:pPr>
            <a:r>
              <a:rPr lang="en-AU" sz="2800" dirty="0">
                <a:solidFill>
                  <a:srgbClr val="0070C0"/>
                </a:solidFill>
              </a:rPr>
              <a:t>Justify your choice of research tool, highlighting its strengths and pointing out its weaknesses. </a:t>
            </a:r>
          </a:p>
          <a:p>
            <a:pPr marL="457200" indent="-457200">
              <a:spcAft>
                <a:spcPts val="1800"/>
              </a:spcAft>
              <a:buFont typeface="Wingdings" panose="05000000000000000000" pitchFamily="2" charset="2"/>
              <a:buChar char="q"/>
            </a:pPr>
            <a:r>
              <a:rPr lang="en-AU" sz="2800" dirty="0">
                <a:solidFill>
                  <a:srgbClr val="7030A0"/>
                </a:solidFill>
              </a:rPr>
              <a:t>Then outline the major segments of your research tool and their relevance to the main objectives of the study. </a:t>
            </a:r>
          </a:p>
          <a:p>
            <a:pPr marL="457200" indent="-457200">
              <a:spcAft>
                <a:spcPts val="1800"/>
              </a:spcAft>
              <a:buFont typeface="Wingdings" panose="05000000000000000000" pitchFamily="2" charset="2"/>
              <a:buChar char="q"/>
            </a:pPr>
            <a:r>
              <a:rPr lang="en-AU" sz="2800" dirty="0"/>
              <a:t>If you are using a standard instrument, briefly discuss the availability of evidence on its reliability and validity. If you adapt or modify it in any way, describe and explain the changes you have made. </a:t>
            </a:r>
          </a:p>
          <a:p>
            <a:pPr marL="457200" indent="-457200">
              <a:spcAft>
                <a:spcPts val="1800"/>
              </a:spcAft>
              <a:buFont typeface="Wingdings" panose="05000000000000000000" pitchFamily="2" charset="2"/>
              <a:buChar char="q"/>
            </a:pPr>
            <a:r>
              <a:rPr lang="en-AU" sz="2800" dirty="0">
                <a:solidFill>
                  <a:srgbClr val="CC0099"/>
                </a:solidFill>
              </a:rPr>
              <a:t>Ideally, for quantitative studies you should attach a copy of the research instrument to your proposal. </a:t>
            </a:r>
          </a:p>
        </p:txBody>
      </p:sp>
    </p:spTree>
    <p:extLst>
      <p:ext uri="{BB962C8B-B14F-4D97-AF65-F5344CB8AC3E}">
        <p14:creationId xmlns:p14="http://schemas.microsoft.com/office/powerpoint/2010/main" val="2836966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D75F17B9-3D26-4C81-8774-4F45D015B6F9}"/>
              </a:ext>
            </a:extLst>
          </p:cNvPr>
          <p:cNvSpPr>
            <a:spLocks noGrp="1"/>
          </p:cNvSpPr>
          <p:nvPr>
            <p:ph type="body" sz="quarter" idx="12"/>
          </p:nvPr>
        </p:nvSpPr>
        <p:spPr/>
        <p:txBody>
          <a:bodyPr/>
          <a:lstStyle/>
          <a:p>
            <a:pPr lvl="0">
              <a:spcBef>
                <a:spcPct val="0"/>
              </a:spcBef>
              <a:defRPr/>
            </a:pPr>
            <a:r>
              <a:rPr lang="en-AU" dirty="0">
                <a:solidFill>
                  <a:srgbClr val="FF0000"/>
                </a:solidFill>
              </a:rPr>
              <a:t>Ethical Issues</a:t>
            </a:r>
          </a:p>
        </p:txBody>
      </p:sp>
      <p:sp>
        <p:nvSpPr>
          <p:cNvPr id="4" name="Date Placeholder 3">
            <a:extLst>
              <a:ext uri="{FF2B5EF4-FFF2-40B4-BE49-F238E27FC236}">
                <a16:creationId xmlns:a16="http://schemas.microsoft.com/office/drawing/2014/main" xmlns="" id="{346125CF-407D-43F3-8979-B13A95182626}"/>
              </a:ext>
            </a:extLst>
          </p:cNvPr>
          <p:cNvSpPr>
            <a:spLocks noGrp="1"/>
          </p:cNvSpPr>
          <p:nvPr>
            <p:ph type="dt" sz="half" idx="10"/>
          </p:nvPr>
        </p:nvSpPr>
        <p:spPr/>
        <p:txBody>
          <a:bodyPr/>
          <a:lstStyle/>
          <a:p>
            <a:pPr>
              <a:defRPr/>
            </a:pPr>
            <a:fld id="{69A52D0F-A1E2-42CE-91A9-618E0BB64790}" type="datetime1">
              <a:rPr lang="en-US" smtClean="0"/>
              <a:t>7/6/2022</a:t>
            </a:fld>
            <a:endParaRPr lang="en-US"/>
          </a:p>
        </p:txBody>
      </p:sp>
      <p:sp>
        <p:nvSpPr>
          <p:cNvPr id="6" name="Slide Number Placeholder 5">
            <a:extLst>
              <a:ext uri="{FF2B5EF4-FFF2-40B4-BE49-F238E27FC236}">
                <a16:creationId xmlns:a16="http://schemas.microsoft.com/office/drawing/2014/main" xmlns="" id="{840173D6-D236-4445-8F0F-7BABCFDC7D5B}"/>
              </a:ext>
            </a:extLst>
          </p:cNvPr>
          <p:cNvSpPr>
            <a:spLocks noGrp="1"/>
          </p:cNvSpPr>
          <p:nvPr>
            <p:ph type="sldNum" sz="quarter" idx="14"/>
          </p:nvPr>
        </p:nvSpPr>
        <p:spPr/>
        <p:txBody>
          <a:bodyPr/>
          <a:lstStyle/>
          <a:p>
            <a:pPr>
              <a:defRPr/>
            </a:pPr>
            <a:fld id="{A4D7D840-3C4D-4535-9FCE-221E1C945AAA}" type="slidenum">
              <a:rPr lang="en-US" smtClean="0"/>
              <a:pPr>
                <a:defRPr/>
              </a:pPr>
              <a:t>21</a:t>
            </a:fld>
            <a:endParaRPr lang="en-US"/>
          </a:p>
        </p:txBody>
      </p:sp>
      <p:sp>
        <p:nvSpPr>
          <p:cNvPr id="7" name="Subtitle 2">
            <a:extLst>
              <a:ext uri="{FF2B5EF4-FFF2-40B4-BE49-F238E27FC236}">
                <a16:creationId xmlns:a16="http://schemas.microsoft.com/office/drawing/2014/main" xmlns="" id="{736BBA6A-B531-4879-AEFA-17D491DFD5A5}"/>
              </a:ext>
            </a:extLst>
          </p:cNvPr>
          <p:cNvSpPr txBox="1">
            <a:spLocks/>
          </p:cNvSpPr>
          <p:nvPr/>
        </p:nvSpPr>
        <p:spPr>
          <a:xfrm>
            <a:off x="152400" y="1052656"/>
            <a:ext cx="3962400" cy="5181600"/>
          </a:xfrm>
          <a:prstGeom prst="rect">
            <a:avLst/>
          </a:prstGeom>
        </p:spPr>
        <p:txBody>
          <a:bodyPr vert="horz" lIns="91440" tIns="45720" rIns="91440" bIns="45720" rtlCol="0">
            <a:noAutofit/>
          </a:bodyPr>
          <a:lstStyle/>
          <a:p>
            <a:pPr marL="457200" indent="-457200" algn="just">
              <a:buFont typeface="Wingdings" panose="05000000000000000000" pitchFamily="2" charset="2"/>
              <a:buChar char="§"/>
            </a:pPr>
            <a:r>
              <a:rPr lang="en-AU" sz="2200" dirty="0"/>
              <a:t>All academic institutions are particular about any ethical issues that research may have.</a:t>
            </a:r>
          </a:p>
          <a:p>
            <a:pPr marL="457200" indent="-457200" algn="just">
              <a:buFont typeface="Wingdings" panose="05000000000000000000" pitchFamily="2" charset="2"/>
              <a:buChar char="§"/>
            </a:pPr>
            <a:endParaRPr lang="en-AU" sz="2200" dirty="0"/>
          </a:p>
          <a:p>
            <a:pPr marL="342900" indent="-342900" algn="just">
              <a:buFont typeface="Wingdings" panose="05000000000000000000" pitchFamily="2" charset="2"/>
              <a:buChar char="§"/>
            </a:pPr>
            <a:r>
              <a:rPr lang="en-AU" sz="2200" dirty="0">
                <a:solidFill>
                  <a:srgbClr val="CC0099"/>
                </a:solidFill>
              </a:rPr>
              <a:t>To deal with them, all institutions have some form of policy on ethics. </a:t>
            </a:r>
          </a:p>
          <a:p>
            <a:pPr marL="342900" indent="-342900" algn="just">
              <a:buFont typeface="Wingdings" panose="05000000000000000000" pitchFamily="2" charset="2"/>
              <a:buChar char="§"/>
            </a:pPr>
            <a:endParaRPr lang="en-AU" sz="2200" dirty="0"/>
          </a:p>
          <a:p>
            <a:pPr marL="342900" indent="-342900" algn="just">
              <a:buFont typeface="Wingdings" panose="05000000000000000000" pitchFamily="2" charset="2"/>
              <a:buChar char="§"/>
            </a:pPr>
            <a:r>
              <a:rPr lang="en-AU" sz="2200" dirty="0"/>
              <a:t>You need to be acquainted with your institution’s policy. It is imperative that in your proposal you identify any ethical issues and describe how you propose to deal with them</a:t>
            </a:r>
            <a:endParaRPr lang="en-AU" sz="2200" dirty="0">
              <a:solidFill>
                <a:srgbClr val="CC0099"/>
              </a:solidFill>
            </a:endParaRPr>
          </a:p>
        </p:txBody>
      </p:sp>
      <p:pic>
        <p:nvPicPr>
          <p:cNvPr id="8" name="Picture 2" descr="Image result for comic cartoon on research ethics">
            <a:extLst>
              <a:ext uri="{FF2B5EF4-FFF2-40B4-BE49-F238E27FC236}">
                <a16:creationId xmlns:a16="http://schemas.microsoft.com/office/drawing/2014/main" xmlns="" id="{4C10C509-EC22-4B13-9570-AEB9C4D3FB04}"/>
              </a:ext>
            </a:extLst>
          </p:cNvPr>
          <p:cNvPicPr>
            <a:picLocks noChangeAspect="1" noChangeArrowheads="1"/>
          </p:cNvPicPr>
          <p:nvPr/>
        </p:nvPicPr>
        <p:blipFill>
          <a:blip r:embed="rId2" cstate="print"/>
          <a:srcRect/>
          <a:stretch>
            <a:fillRect/>
          </a:stretch>
        </p:blipFill>
        <p:spPr bwMode="auto">
          <a:xfrm>
            <a:off x="4781151" y="1052656"/>
            <a:ext cx="4210449" cy="5181600"/>
          </a:xfrm>
          <a:prstGeom prst="rect">
            <a:avLst/>
          </a:prstGeom>
          <a:noFill/>
        </p:spPr>
      </p:pic>
    </p:spTree>
    <p:extLst>
      <p:ext uri="{BB962C8B-B14F-4D97-AF65-F5344CB8AC3E}">
        <p14:creationId xmlns:p14="http://schemas.microsoft.com/office/powerpoint/2010/main" val="2542497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animEffect transition="in" filter="fade">
                                      <p:cBhvr>
                                        <p:cTn id="17"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9B7ABC46-6261-4523-9E5B-1139A97A9144}"/>
              </a:ext>
            </a:extLst>
          </p:cNvPr>
          <p:cNvSpPr>
            <a:spLocks noGrp="1"/>
          </p:cNvSpPr>
          <p:nvPr>
            <p:ph type="body" sz="quarter" idx="12"/>
          </p:nvPr>
        </p:nvSpPr>
        <p:spPr/>
        <p:txBody>
          <a:bodyPr/>
          <a:lstStyle/>
          <a:p>
            <a:r>
              <a:rPr lang="en-AU" dirty="0">
                <a:solidFill>
                  <a:srgbClr val="FF0000"/>
                </a:solidFill>
              </a:rPr>
              <a:t>Problems and Limitations</a:t>
            </a:r>
          </a:p>
        </p:txBody>
      </p:sp>
      <p:sp>
        <p:nvSpPr>
          <p:cNvPr id="3" name="Text Placeholder 2">
            <a:extLst>
              <a:ext uri="{FF2B5EF4-FFF2-40B4-BE49-F238E27FC236}">
                <a16:creationId xmlns:a16="http://schemas.microsoft.com/office/drawing/2014/main" xmlns="" id="{CE7115EF-E687-4FE4-80F9-538BBACA0B18}"/>
              </a:ext>
            </a:extLst>
          </p:cNvPr>
          <p:cNvSpPr>
            <a:spLocks noGrp="1"/>
          </p:cNvSpPr>
          <p:nvPr>
            <p:ph type="body" sz="quarter" idx="13"/>
          </p:nvPr>
        </p:nvSpPr>
        <p:spPr>
          <a:xfrm>
            <a:off x="2" y="990600"/>
            <a:ext cx="9136063" cy="5446717"/>
          </a:xfrm>
        </p:spPr>
        <p:txBody>
          <a:bodyPr/>
          <a:lstStyle/>
          <a:p>
            <a:pPr marL="457200" indent="-457200" algn="just">
              <a:spcAft>
                <a:spcPts val="1800"/>
              </a:spcAft>
              <a:buFont typeface="Wingdings" panose="05000000000000000000" pitchFamily="2" charset="2"/>
              <a:buChar char="q"/>
            </a:pPr>
            <a:r>
              <a:rPr lang="en-AU" dirty="0">
                <a:solidFill>
                  <a:srgbClr val="0070C0"/>
                </a:solidFill>
              </a:rPr>
              <a:t>This section should list any problems you think you might encounter concerning, for example, the availability of data, securing permission from the agency/organisation to carry out the study, obtaining the sample, or any other aspect of the study. </a:t>
            </a:r>
          </a:p>
          <a:p>
            <a:pPr marL="457200" indent="-457200" algn="just">
              <a:spcAft>
                <a:spcPts val="1800"/>
              </a:spcAft>
              <a:buFont typeface="Wingdings" panose="05000000000000000000" pitchFamily="2" charset="2"/>
              <a:buChar char="q"/>
            </a:pPr>
            <a:r>
              <a:rPr lang="en-AU" dirty="0"/>
              <a:t>Problems refer to difficulties relating to logistical details. </a:t>
            </a:r>
          </a:p>
          <a:p>
            <a:pPr marL="457200" indent="-457200" algn="just">
              <a:spcAft>
                <a:spcPts val="1800"/>
              </a:spcAft>
              <a:buFont typeface="Wingdings" panose="05000000000000000000" pitchFamily="2" charset="2"/>
              <a:buChar char="q"/>
            </a:pPr>
            <a:r>
              <a:rPr lang="en-AU" dirty="0">
                <a:solidFill>
                  <a:srgbClr val="0070C0"/>
                </a:solidFill>
              </a:rPr>
              <a:t>It is important to be aware of – and communicate – any limitations that could affect the validity of your conclusions and generalisations. </a:t>
            </a:r>
          </a:p>
          <a:p>
            <a:endParaRPr lang="en-US" dirty="0"/>
          </a:p>
        </p:txBody>
      </p:sp>
      <p:sp>
        <p:nvSpPr>
          <p:cNvPr id="4" name="Date Placeholder 3">
            <a:extLst>
              <a:ext uri="{FF2B5EF4-FFF2-40B4-BE49-F238E27FC236}">
                <a16:creationId xmlns:a16="http://schemas.microsoft.com/office/drawing/2014/main" xmlns="" id="{808E602B-B3C0-4C29-879D-F937A79526B0}"/>
              </a:ext>
            </a:extLst>
          </p:cNvPr>
          <p:cNvSpPr>
            <a:spLocks noGrp="1"/>
          </p:cNvSpPr>
          <p:nvPr>
            <p:ph type="dt" sz="half" idx="10"/>
          </p:nvPr>
        </p:nvSpPr>
        <p:spPr/>
        <p:txBody>
          <a:bodyPr/>
          <a:lstStyle/>
          <a:p>
            <a:pPr>
              <a:defRPr/>
            </a:pPr>
            <a:fld id="{69A52D0F-A1E2-42CE-91A9-618E0BB64790}" type="datetime1">
              <a:rPr lang="en-US" smtClean="0"/>
              <a:t>7/6/2022</a:t>
            </a:fld>
            <a:endParaRPr lang="en-US"/>
          </a:p>
        </p:txBody>
      </p:sp>
      <p:sp>
        <p:nvSpPr>
          <p:cNvPr id="6" name="Slide Number Placeholder 5">
            <a:extLst>
              <a:ext uri="{FF2B5EF4-FFF2-40B4-BE49-F238E27FC236}">
                <a16:creationId xmlns:a16="http://schemas.microsoft.com/office/drawing/2014/main" xmlns="" id="{40A5518B-2A59-4E31-BB12-FC503B545E95}"/>
              </a:ext>
            </a:extLst>
          </p:cNvPr>
          <p:cNvSpPr>
            <a:spLocks noGrp="1"/>
          </p:cNvSpPr>
          <p:nvPr>
            <p:ph type="sldNum" sz="quarter" idx="14"/>
          </p:nvPr>
        </p:nvSpPr>
        <p:spPr/>
        <p:txBody>
          <a:bodyPr/>
          <a:lstStyle/>
          <a:p>
            <a:pPr>
              <a:defRPr/>
            </a:pPr>
            <a:fld id="{A4D7D840-3C4D-4535-9FCE-221E1C945AAA}" type="slidenum">
              <a:rPr lang="en-US" smtClean="0"/>
              <a:pPr>
                <a:defRPr/>
              </a:pPr>
              <a:t>22</a:t>
            </a:fld>
            <a:endParaRPr lang="en-US"/>
          </a:p>
        </p:txBody>
      </p:sp>
    </p:spTree>
    <p:extLst>
      <p:ext uri="{BB962C8B-B14F-4D97-AF65-F5344CB8AC3E}">
        <p14:creationId xmlns:p14="http://schemas.microsoft.com/office/powerpoint/2010/main" val="455130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9B7ABC46-6261-4523-9E5B-1139A97A9144}"/>
              </a:ext>
            </a:extLst>
          </p:cNvPr>
          <p:cNvSpPr>
            <a:spLocks noGrp="1"/>
          </p:cNvSpPr>
          <p:nvPr>
            <p:ph type="body" sz="quarter" idx="12"/>
          </p:nvPr>
        </p:nvSpPr>
        <p:spPr/>
        <p:txBody>
          <a:bodyPr/>
          <a:lstStyle/>
          <a:p>
            <a:pPr lvl="0">
              <a:spcBef>
                <a:spcPct val="0"/>
              </a:spcBef>
              <a:defRPr/>
            </a:pPr>
            <a:r>
              <a:rPr lang="en-AU" dirty="0">
                <a:solidFill>
                  <a:srgbClr val="FF0000"/>
                </a:solidFill>
              </a:rPr>
              <a:t>Research Plan, Methodology &amp; Timing</a:t>
            </a:r>
          </a:p>
        </p:txBody>
      </p:sp>
      <p:sp>
        <p:nvSpPr>
          <p:cNvPr id="3" name="Text Placeholder 2">
            <a:extLst>
              <a:ext uri="{FF2B5EF4-FFF2-40B4-BE49-F238E27FC236}">
                <a16:creationId xmlns:a16="http://schemas.microsoft.com/office/drawing/2014/main" xmlns="" id="{CE7115EF-E687-4FE4-80F9-538BBACA0B18}"/>
              </a:ext>
            </a:extLst>
          </p:cNvPr>
          <p:cNvSpPr>
            <a:spLocks noGrp="1"/>
          </p:cNvSpPr>
          <p:nvPr>
            <p:ph type="body" sz="quarter" idx="13"/>
          </p:nvPr>
        </p:nvSpPr>
        <p:spPr>
          <a:xfrm>
            <a:off x="2" y="990600"/>
            <a:ext cx="9136063" cy="5446717"/>
          </a:xfrm>
        </p:spPr>
        <p:txBody>
          <a:bodyPr>
            <a:normAutofit/>
          </a:bodyPr>
          <a:lstStyle/>
          <a:p>
            <a:pPr marL="457200" indent="-457200">
              <a:spcAft>
                <a:spcPts val="1800"/>
              </a:spcAft>
              <a:buFont typeface="Wingdings" panose="05000000000000000000" pitchFamily="2" charset="2"/>
              <a:buChar char="q"/>
            </a:pPr>
            <a:r>
              <a:rPr lang="en-AU" sz="2800" dirty="0"/>
              <a:t>Experimental design </a:t>
            </a:r>
          </a:p>
          <a:p>
            <a:pPr marL="457200" indent="-457200">
              <a:spcAft>
                <a:spcPts val="1800"/>
              </a:spcAft>
              <a:buFont typeface="Wingdings" panose="05000000000000000000" pitchFamily="2" charset="2"/>
              <a:buChar char="q"/>
            </a:pPr>
            <a:r>
              <a:rPr lang="en-AU" sz="2800" dirty="0">
                <a:solidFill>
                  <a:srgbClr val="0070C0"/>
                </a:solidFill>
              </a:rPr>
              <a:t>Innovations </a:t>
            </a:r>
          </a:p>
          <a:p>
            <a:pPr marL="457200" indent="-457200">
              <a:spcAft>
                <a:spcPts val="1800"/>
              </a:spcAft>
              <a:buFont typeface="Wingdings" panose="05000000000000000000" pitchFamily="2" charset="2"/>
              <a:buChar char="q"/>
            </a:pPr>
            <a:r>
              <a:rPr lang="en-AU" sz="2800" dirty="0"/>
              <a:t>Limitations / anticipated difficulties </a:t>
            </a:r>
          </a:p>
          <a:p>
            <a:pPr marL="457200" indent="-457200">
              <a:spcAft>
                <a:spcPts val="1800"/>
              </a:spcAft>
              <a:buFont typeface="Wingdings" panose="05000000000000000000" pitchFamily="2" charset="2"/>
              <a:buChar char="q"/>
            </a:pPr>
            <a:r>
              <a:rPr lang="en-AU" sz="2800" dirty="0">
                <a:solidFill>
                  <a:srgbClr val="0070C0"/>
                </a:solidFill>
              </a:rPr>
              <a:t>Alternative approaches </a:t>
            </a:r>
          </a:p>
          <a:p>
            <a:pPr marL="457200" indent="-457200">
              <a:spcAft>
                <a:spcPts val="1800"/>
              </a:spcAft>
              <a:buFont typeface="Wingdings" panose="05000000000000000000" pitchFamily="2" charset="2"/>
              <a:buChar char="q"/>
            </a:pPr>
            <a:r>
              <a:rPr lang="en-AU" sz="2800" dirty="0"/>
              <a:t>Time sequence </a:t>
            </a:r>
          </a:p>
          <a:p>
            <a:endParaRPr lang="en-US" sz="2800" dirty="0"/>
          </a:p>
        </p:txBody>
      </p:sp>
      <p:sp>
        <p:nvSpPr>
          <p:cNvPr id="4" name="Date Placeholder 3">
            <a:extLst>
              <a:ext uri="{FF2B5EF4-FFF2-40B4-BE49-F238E27FC236}">
                <a16:creationId xmlns:a16="http://schemas.microsoft.com/office/drawing/2014/main" xmlns="" id="{808E602B-B3C0-4C29-879D-F937A79526B0}"/>
              </a:ext>
            </a:extLst>
          </p:cNvPr>
          <p:cNvSpPr>
            <a:spLocks noGrp="1"/>
          </p:cNvSpPr>
          <p:nvPr>
            <p:ph type="dt" sz="half" idx="10"/>
          </p:nvPr>
        </p:nvSpPr>
        <p:spPr/>
        <p:txBody>
          <a:bodyPr/>
          <a:lstStyle/>
          <a:p>
            <a:pPr>
              <a:defRPr/>
            </a:pPr>
            <a:fld id="{69A52D0F-A1E2-42CE-91A9-618E0BB64790}" type="datetime1">
              <a:rPr lang="en-US" smtClean="0"/>
              <a:t>7/6/2022</a:t>
            </a:fld>
            <a:endParaRPr lang="en-US"/>
          </a:p>
        </p:txBody>
      </p:sp>
      <p:sp>
        <p:nvSpPr>
          <p:cNvPr id="6" name="Slide Number Placeholder 5">
            <a:extLst>
              <a:ext uri="{FF2B5EF4-FFF2-40B4-BE49-F238E27FC236}">
                <a16:creationId xmlns:a16="http://schemas.microsoft.com/office/drawing/2014/main" xmlns="" id="{40A5518B-2A59-4E31-BB12-FC503B545E95}"/>
              </a:ext>
            </a:extLst>
          </p:cNvPr>
          <p:cNvSpPr>
            <a:spLocks noGrp="1"/>
          </p:cNvSpPr>
          <p:nvPr>
            <p:ph type="sldNum" sz="quarter" idx="14"/>
          </p:nvPr>
        </p:nvSpPr>
        <p:spPr/>
        <p:txBody>
          <a:bodyPr/>
          <a:lstStyle/>
          <a:p>
            <a:pPr>
              <a:defRPr/>
            </a:pPr>
            <a:fld id="{A4D7D840-3C4D-4535-9FCE-221E1C945AAA}" type="slidenum">
              <a:rPr lang="en-US" smtClean="0"/>
              <a:pPr>
                <a:defRPr/>
              </a:pPr>
              <a:t>23</a:t>
            </a:fld>
            <a:endParaRPr lang="en-US"/>
          </a:p>
        </p:txBody>
      </p:sp>
    </p:spTree>
    <p:extLst>
      <p:ext uri="{BB962C8B-B14F-4D97-AF65-F5344CB8AC3E}">
        <p14:creationId xmlns:p14="http://schemas.microsoft.com/office/powerpoint/2010/main" val="4200466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9B7ABC46-6261-4523-9E5B-1139A97A9144}"/>
              </a:ext>
            </a:extLst>
          </p:cNvPr>
          <p:cNvSpPr>
            <a:spLocks noGrp="1"/>
          </p:cNvSpPr>
          <p:nvPr>
            <p:ph type="body" sz="quarter" idx="12"/>
          </p:nvPr>
        </p:nvSpPr>
        <p:spPr/>
        <p:txBody>
          <a:bodyPr/>
          <a:lstStyle/>
          <a:p>
            <a:pPr lvl="0">
              <a:spcBef>
                <a:spcPct val="0"/>
              </a:spcBef>
              <a:defRPr/>
            </a:pPr>
            <a:r>
              <a:rPr lang="en-AU" dirty="0">
                <a:solidFill>
                  <a:srgbClr val="FF0000"/>
                </a:solidFill>
              </a:rPr>
              <a:t>Research Plan ...</a:t>
            </a:r>
          </a:p>
        </p:txBody>
      </p:sp>
      <p:sp>
        <p:nvSpPr>
          <p:cNvPr id="3" name="Text Placeholder 2">
            <a:extLst>
              <a:ext uri="{FF2B5EF4-FFF2-40B4-BE49-F238E27FC236}">
                <a16:creationId xmlns:a16="http://schemas.microsoft.com/office/drawing/2014/main" xmlns="" id="{CE7115EF-E687-4FE4-80F9-538BBACA0B18}"/>
              </a:ext>
            </a:extLst>
          </p:cNvPr>
          <p:cNvSpPr>
            <a:spLocks noGrp="1"/>
          </p:cNvSpPr>
          <p:nvPr>
            <p:ph type="body" sz="quarter" idx="13"/>
          </p:nvPr>
        </p:nvSpPr>
        <p:spPr>
          <a:xfrm>
            <a:off x="76199" y="990600"/>
            <a:ext cx="8839201" cy="5446717"/>
          </a:xfrm>
        </p:spPr>
        <p:txBody>
          <a:bodyPr>
            <a:normAutofit/>
          </a:bodyPr>
          <a:lstStyle/>
          <a:p>
            <a:pPr marL="571500" indent="-571500" algn="just">
              <a:buFont typeface="Wingdings" panose="05000000000000000000" pitchFamily="2" charset="2"/>
              <a:buChar char="q"/>
            </a:pPr>
            <a:r>
              <a:rPr lang="en-AU" sz="2800" dirty="0"/>
              <a:t>Organized sequentially by specific aims stated </a:t>
            </a:r>
          </a:p>
          <a:p>
            <a:pPr algn="just"/>
            <a:endParaRPr lang="en-AU" sz="2800" dirty="0">
              <a:solidFill>
                <a:srgbClr val="9900CC"/>
              </a:solidFill>
            </a:endParaRPr>
          </a:p>
          <a:p>
            <a:pPr marL="571500" indent="-571500" algn="just">
              <a:buFont typeface="Wingdings" panose="05000000000000000000" pitchFamily="2" charset="2"/>
              <a:buChar char="q"/>
            </a:pPr>
            <a:r>
              <a:rPr lang="en-AU" sz="2800" dirty="0">
                <a:solidFill>
                  <a:srgbClr val="CC0099"/>
                </a:solidFill>
              </a:rPr>
              <a:t>A detailed description of proposed experiments including: </a:t>
            </a:r>
          </a:p>
          <a:p>
            <a:pPr marL="1371600" lvl="2" indent="-457200" algn="just">
              <a:buFont typeface="Wingdings" panose="05000000000000000000" pitchFamily="2" charset="2"/>
              <a:buChar char="Ø"/>
            </a:pPr>
            <a:r>
              <a:rPr lang="en-AU" sz="2400" dirty="0"/>
              <a:t>Rationale </a:t>
            </a:r>
          </a:p>
          <a:p>
            <a:pPr marL="1371600" lvl="2" indent="-457200" algn="just">
              <a:buFont typeface="Wingdings" panose="05000000000000000000" pitchFamily="2" charset="2"/>
              <a:buChar char="Ø"/>
            </a:pPr>
            <a:r>
              <a:rPr lang="en-AU" sz="2400" dirty="0"/>
              <a:t>Design</a:t>
            </a:r>
          </a:p>
          <a:p>
            <a:pPr marL="1371600" lvl="2" indent="-457200" algn="just">
              <a:buFont typeface="Wingdings" panose="05000000000000000000" pitchFamily="2" charset="2"/>
              <a:buChar char="Ø"/>
            </a:pPr>
            <a:r>
              <a:rPr lang="en-AU" sz="2400" dirty="0"/>
              <a:t>Anticipated results and </a:t>
            </a:r>
          </a:p>
          <a:p>
            <a:pPr marL="1371600" lvl="2" indent="-457200" algn="just">
              <a:buFont typeface="Wingdings" panose="05000000000000000000" pitchFamily="2" charset="2"/>
              <a:buChar char="Ø"/>
            </a:pPr>
            <a:r>
              <a:rPr lang="en-AU" sz="2400" dirty="0"/>
              <a:t>Alternative strategies </a:t>
            </a:r>
          </a:p>
          <a:p>
            <a:pPr marL="1371600" lvl="2" indent="-457200" algn="just">
              <a:buFont typeface="Wingdings" panose="05000000000000000000" pitchFamily="2" charset="2"/>
              <a:buChar char="Ø"/>
            </a:pPr>
            <a:endParaRPr lang="en-AU" dirty="0">
              <a:solidFill>
                <a:srgbClr val="9900CC"/>
              </a:solidFill>
            </a:endParaRPr>
          </a:p>
          <a:p>
            <a:pPr marL="571500" indent="-571500" algn="just">
              <a:buFont typeface="Wingdings" panose="05000000000000000000" pitchFamily="2" charset="2"/>
              <a:buChar char="q"/>
            </a:pPr>
            <a:r>
              <a:rPr lang="en-AU" sz="2800" dirty="0">
                <a:solidFill>
                  <a:srgbClr val="7030A0"/>
                </a:solidFill>
              </a:rPr>
              <a:t>Should be planned to methodically address the specific questions stated under specific aims </a:t>
            </a:r>
          </a:p>
          <a:p>
            <a:endParaRPr lang="en-US" sz="2800" dirty="0"/>
          </a:p>
        </p:txBody>
      </p:sp>
      <p:sp>
        <p:nvSpPr>
          <p:cNvPr id="4" name="Date Placeholder 3">
            <a:extLst>
              <a:ext uri="{FF2B5EF4-FFF2-40B4-BE49-F238E27FC236}">
                <a16:creationId xmlns:a16="http://schemas.microsoft.com/office/drawing/2014/main" xmlns="" id="{808E602B-B3C0-4C29-879D-F937A79526B0}"/>
              </a:ext>
            </a:extLst>
          </p:cNvPr>
          <p:cNvSpPr>
            <a:spLocks noGrp="1"/>
          </p:cNvSpPr>
          <p:nvPr>
            <p:ph type="dt" sz="half" idx="10"/>
          </p:nvPr>
        </p:nvSpPr>
        <p:spPr/>
        <p:txBody>
          <a:bodyPr/>
          <a:lstStyle/>
          <a:p>
            <a:pPr>
              <a:defRPr/>
            </a:pPr>
            <a:fld id="{69A52D0F-A1E2-42CE-91A9-618E0BB64790}" type="datetime1">
              <a:rPr lang="en-US" smtClean="0"/>
              <a:t>7/6/2022</a:t>
            </a:fld>
            <a:endParaRPr lang="en-US"/>
          </a:p>
        </p:txBody>
      </p:sp>
      <p:sp>
        <p:nvSpPr>
          <p:cNvPr id="6" name="Slide Number Placeholder 5">
            <a:extLst>
              <a:ext uri="{FF2B5EF4-FFF2-40B4-BE49-F238E27FC236}">
                <a16:creationId xmlns:a16="http://schemas.microsoft.com/office/drawing/2014/main" xmlns="" id="{40A5518B-2A59-4E31-BB12-FC503B545E95}"/>
              </a:ext>
            </a:extLst>
          </p:cNvPr>
          <p:cNvSpPr>
            <a:spLocks noGrp="1"/>
          </p:cNvSpPr>
          <p:nvPr>
            <p:ph type="sldNum" sz="quarter" idx="14"/>
          </p:nvPr>
        </p:nvSpPr>
        <p:spPr/>
        <p:txBody>
          <a:bodyPr/>
          <a:lstStyle/>
          <a:p>
            <a:pPr>
              <a:defRPr/>
            </a:pPr>
            <a:fld id="{A4D7D840-3C4D-4535-9FCE-221E1C945AAA}" type="slidenum">
              <a:rPr lang="en-US" smtClean="0"/>
              <a:pPr>
                <a:defRPr/>
              </a:pPr>
              <a:t>24</a:t>
            </a:fld>
            <a:endParaRPr lang="en-US"/>
          </a:p>
        </p:txBody>
      </p:sp>
    </p:spTree>
    <p:extLst>
      <p:ext uri="{BB962C8B-B14F-4D97-AF65-F5344CB8AC3E}">
        <p14:creationId xmlns:p14="http://schemas.microsoft.com/office/powerpoint/2010/main" val="3583592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9B7ABC46-6261-4523-9E5B-1139A97A9144}"/>
              </a:ext>
            </a:extLst>
          </p:cNvPr>
          <p:cNvSpPr>
            <a:spLocks noGrp="1"/>
          </p:cNvSpPr>
          <p:nvPr>
            <p:ph type="body" sz="quarter" idx="12"/>
          </p:nvPr>
        </p:nvSpPr>
        <p:spPr/>
        <p:txBody>
          <a:bodyPr/>
          <a:lstStyle/>
          <a:p>
            <a:pPr lvl="0">
              <a:spcBef>
                <a:spcPct val="0"/>
              </a:spcBef>
              <a:defRPr/>
            </a:pPr>
            <a:r>
              <a:rPr lang="en-AU" dirty="0">
                <a:solidFill>
                  <a:srgbClr val="FF0000"/>
                </a:solidFill>
              </a:rPr>
              <a:t>Analysis of Data</a:t>
            </a:r>
          </a:p>
        </p:txBody>
      </p:sp>
      <p:sp>
        <p:nvSpPr>
          <p:cNvPr id="3" name="Text Placeholder 2">
            <a:extLst>
              <a:ext uri="{FF2B5EF4-FFF2-40B4-BE49-F238E27FC236}">
                <a16:creationId xmlns:a16="http://schemas.microsoft.com/office/drawing/2014/main" xmlns="" id="{CE7115EF-E687-4FE4-80F9-538BBACA0B18}"/>
              </a:ext>
            </a:extLst>
          </p:cNvPr>
          <p:cNvSpPr>
            <a:spLocks noGrp="1"/>
          </p:cNvSpPr>
          <p:nvPr>
            <p:ph type="body" sz="quarter" idx="13"/>
          </p:nvPr>
        </p:nvSpPr>
        <p:spPr>
          <a:xfrm>
            <a:off x="76199" y="990600"/>
            <a:ext cx="8839201" cy="5446717"/>
          </a:xfrm>
        </p:spPr>
        <p:txBody>
          <a:bodyPr>
            <a:normAutofit lnSpcReduction="10000"/>
          </a:bodyPr>
          <a:lstStyle/>
          <a:p>
            <a:pPr marL="457200" indent="-457200" algn="just">
              <a:spcAft>
                <a:spcPts val="1800"/>
              </a:spcAft>
              <a:buFont typeface="Wingdings" panose="05000000000000000000" pitchFamily="2" charset="2"/>
              <a:buChar char="q"/>
            </a:pPr>
            <a:r>
              <a:rPr lang="en-AU" sz="2800" dirty="0">
                <a:solidFill>
                  <a:srgbClr val="0070C0"/>
                </a:solidFill>
              </a:rPr>
              <a:t>In general terms, describe the strategy you intend to use for data analysis. Specify whether the data will be analysed manually or by computer. </a:t>
            </a:r>
          </a:p>
          <a:p>
            <a:pPr marL="457200" indent="-457200" algn="just">
              <a:spcAft>
                <a:spcPts val="1800"/>
              </a:spcAft>
              <a:buFont typeface="Wingdings" panose="05000000000000000000" pitchFamily="2" charset="2"/>
              <a:buChar char="q"/>
            </a:pPr>
            <a:r>
              <a:rPr lang="en-AU" sz="2800" dirty="0"/>
              <a:t>For computer analysis, identify the program and where appropriate the statistical procedures you plan to perform on the data. </a:t>
            </a:r>
          </a:p>
          <a:p>
            <a:pPr marL="457200" indent="-457200" algn="just">
              <a:spcAft>
                <a:spcPts val="1800"/>
              </a:spcAft>
              <a:buFont typeface="Wingdings" panose="05000000000000000000" pitchFamily="2" charset="2"/>
              <a:buChar char="q"/>
            </a:pPr>
            <a:r>
              <a:rPr lang="en-AU" sz="2800" dirty="0">
                <a:solidFill>
                  <a:srgbClr val="0070C0"/>
                </a:solidFill>
              </a:rPr>
              <a:t>For quantitative studies also identify the main variables for cross-tabulation. </a:t>
            </a:r>
          </a:p>
          <a:p>
            <a:pPr marL="457200" indent="-457200" algn="just">
              <a:spcAft>
                <a:spcPts val="1800"/>
              </a:spcAft>
              <a:buFont typeface="Wingdings" panose="05000000000000000000" pitchFamily="2" charset="2"/>
              <a:buChar char="q"/>
            </a:pPr>
            <a:r>
              <a:rPr lang="en-AU" sz="2800" dirty="0"/>
              <a:t>You need to specify which particular strategy you are proposing for data analysis for your study</a:t>
            </a:r>
            <a:r>
              <a:rPr lang="en-AU" sz="2800" dirty="0">
                <a:solidFill>
                  <a:srgbClr val="0070C0"/>
                </a:solidFill>
              </a:rPr>
              <a:t>. </a:t>
            </a:r>
          </a:p>
          <a:p>
            <a:pPr marL="0" indent="0">
              <a:buNone/>
            </a:pPr>
            <a:endParaRPr lang="en-US" sz="2800" dirty="0">
              <a:solidFill>
                <a:srgbClr val="0070C0"/>
              </a:solidFill>
            </a:endParaRPr>
          </a:p>
        </p:txBody>
      </p:sp>
      <p:sp>
        <p:nvSpPr>
          <p:cNvPr id="4" name="Date Placeholder 3">
            <a:extLst>
              <a:ext uri="{FF2B5EF4-FFF2-40B4-BE49-F238E27FC236}">
                <a16:creationId xmlns:a16="http://schemas.microsoft.com/office/drawing/2014/main" xmlns="" id="{808E602B-B3C0-4C29-879D-F937A79526B0}"/>
              </a:ext>
            </a:extLst>
          </p:cNvPr>
          <p:cNvSpPr>
            <a:spLocks noGrp="1"/>
          </p:cNvSpPr>
          <p:nvPr>
            <p:ph type="dt" sz="half" idx="10"/>
          </p:nvPr>
        </p:nvSpPr>
        <p:spPr/>
        <p:txBody>
          <a:bodyPr/>
          <a:lstStyle/>
          <a:p>
            <a:pPr>
              <a:defRPr/>
            </a:pPr>
            <a:fld id="{69A52D0F-A1E2-42CE-91A9-618E0BB64790}" type="datetime1">
              <a:rPr lang="en-US" smtClean="0"/>
              <a:t>7/6/2022</a:t>
            </a:fld>
            <a:endParaRPr lang="en-US"/>
          </a:p>
        </p:txBody>
      </p:sp>
      <p:sp>
        <p:nvSpPr>
          <p:cNvPr id="6" name="Slide Number Placeholder 5">
            <a:extLst>
              <a:ext uri="{FF2B5EF4-FFF2-40B4-BE49-F238E27FC236}">
                <a16:creationId xmlns:a16="http://schemas.microsoft.com/office/drawing/2014/main" xmlns="" id="{40A5518B-2A59-4E31-BB12-FC503B545E95}"/>
              </a:ext>
            </a:extLst>
          </p:cNvPr>
          <p:cNvSpPr>
            <a:spLocks noGrp="1"/>
          </p:cNvSpPr>
          <p:nvPr>
            <p:ph type="sldNum" sz="quarter" idx="14"/>
          </p:nvPr>
        </p:nvSpPr>
        <p:spPr/>
        <p:txBody>
          <a:bodyPr/>
          <a:lstStyle/>
          <a:p>
            <a:pPr>
              <a:defRPr/>
            </a:pPr>
            <a:fld id="{A4D7D840-3C4D-4535-9FCE-221E1C945AAA}" type="slidenum">
              <a:rPr lang="en-US" smtClean="0"/>
              <a:pPr>
                <a:defRPr/>
              </a:pPr>
              <a:t>25</a:t>
            </a:fld>
            <a:endParaRPr lang="en-US"/>
          </a:p>
        </p:txBody>
      </p:sp>
    </p:spTree>
    <p:extLst>
      <p:ext uri="{BB962C8B-B14F-4D97-AF65-F5344CB8AC3E}">
        <p14:creationId xmlns:p14="http://schemas.microsoft.com/office/powerpoint/2010/main" val="3189803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9B7ABC46-6261-4523-9E5B-1139A97A9144}"/>
              </a:ext>
            </a:extLst>
          </p:cNvPr>
          <p:cNvSpPr>
            <a:spLocks noGrp="1"/>
          </p:cNvSpPr>
          <p:nvPr>
            <p:ph type="body" sz="quarter" idx="12"/>
          </p:nvPr>
        </p:nvSpPr>
        <p:spPr/>
        <p:txBody>
          <a:bodyPr/>
          <a:lstStyle/>
          <a:p>
            <a:pPr lvl="0">
              <a:spcBef>
                <a:spcPct val="0"/>
              </a:spcBef>
              <a:defRPr/>
            </a:pPr>
            <a:r>
              <a:rPr lang="en-AU" dirty="0">
                <a:solidFill>
                  <a:srgbClr val="FF0000"/>
                </a:solidFill>
              </a:rPr>
              <a:t>Significance, Outcomes &amp; Innovation</a:t>
            </a:r>
          </a:p>
        </p:txBody>
      </p:sp>
      <p:sp>
        <p:nvSpPr>
          <p:cNvPr id="3" name="Text Placeholder 2">
            <a:extLst>
              <a:ext uri="{FF2B5EF4-FFF2-40B4-BE49-F238E27FC236}">
                <a16:creationId xmlns:a16="http://schemas.microsoft.com/office/drawing/2014/main" xmlns="" id="{CE7115EF-E687-4FE4-80F9-538BBACA0B18}"/>
              </a:ext>
            </a:extLst>
          </p:cNvPr>
          <p:cNvSpPr>
            <a:spLocks noGrp="1"/>
          </p:cNvSpPr>
          <p:nvPr>
            <p:ph type="body" sz="quarter" idx="13"/>
          </p:nvPr>
        </p:nvSpPr>
        <p:spPr>
          <a:xfrm>
            <a:off x="76199" y="990600"/>
            <a:ext cx="8839201" cy="5446717"/>
          </a:xfrm>
        </p:spPr>
        <p:txBody>
          <a:bodyPr>
            <a:normAutofit fontScale="92500" lnSpcReduction="20000"/>
          </a:bodyPr>
          <a:lstStyle/>
          <a:p>
            <a:pPr algn="just">
              <a:spcAft>
                <a:spcPts val="1800"/>
              </a:spcAft>
              <a:buFont typeface="Wingdings" panose="05000000000000000000" pitchFamily="2" charset="2"/>
              <a:buChar char="q"/>
            </a:pPr>
            <a:r>
              <a:rPr lang="en-AU" sz="2800" dirty="0"/>
              <a:t>Show how the results of your research will fill identified gaps in existing knowledge. Will the results of your research have benefits the country and/or the funding agency? </a:t>
            </a:r>
          </a:p>
          <a:p>
            <a:pPr algn="just">
              <a:spcAft>
                <a:spcPts val="1800"/>
              </a:spcAft>
              <a:buFont typeface="Wingdings" panose="05000000000000000000" pitchFamily="2" charset="2"/>
              <a:buChar char="q"/>
            </a:pPr>
            <a:r>
              <a:rPr lang="en-AU" sz="2800" dirty="0">
                <a:solidFill>
                  <a:srgbClr val="0070C0"/>
                </a:solidFill>
              </a:rPr>
              <a:t>Provide a list of deliverables which will arise from the project. Deliverables are things which can be accessed by others such as reports, software code, presentations, images, etc. </a:t>
            </a:r>
          </a:p>
          <a:p>
            <a:pPr algn="just">
              <a:spcAft>
                <a:spcPts val="1800"/>
              </a:spcAft>
              <a:buFont typeface="Wingdings" panose="05000000000000000000" pitchFamily="2" charset="2"/>
              <a:buChar char="q"/>
            </a:pPr>
            <a:r>
              <a:rPr lang="en-AU" sz="2800" dirty="0"/>
              <a:t>Reports, presentations, patents, designs, objects, etc. can be delivered to the granting authority as an indication of progress in the research project. </a:t>
            </a:r>
          </a:p>
          <a:p>
            <a:pPr algn="just">
              <a:spcAft>
                <a:spcPts val="1800"/>
              </a:spcAft>
              <a:buFont typeface="Wingdings" panose="05000000000000000000" pitchFamily="2" charset="2"/>
              <a:buChar char="q"/>
            </a:pPr>
            <a:r>
              <a:rPr lang="en-AU" sz="2800" dirty="0">
                <a:solidFill>
                  <a:srgbClr val="0070C0"/>
                </a:solidFill>
              </a:rPr>
              <a:t>New knowledge is only created when it is publicly available. In some cases, the research team might specify the conferences and journals where their results will be disseminated. </a:t>
            </a:r>
          </a:p>
          <a:p>
            <a:pPr marL="0" indent="0">
              <a:buNone/>
            </a:pPr>
            <a:endParaRPr lang="en-US" sz="2800" dirty="0">
              <a:solidFill>
                <a:srgbClr val="0070C0"/>
              </a:solidFill>
            </a:endParaRPr>
          </a:p>
        </p:txBody>
      </p:sp>
      <p:sp>
        <p:nvSpPr>
          <p:cNvPr id="4" name="Date Placeholder 3">
            <a:extLst>
              <a:ext uri="{FF2B5EF4-FFF2-40B4-BE49-F238E27FC236}">
                <a16:creationId xmlns:a16="http://schemas.microsoft.com/office/drawing/2014/main" xmlns="" id="{808E602B-B3C0-4C29-879D-F937A79526B0}"/>
              </a:ext>
            </a:extLst>
          </p:cNvPr>
          <p:cNvSpPr>
            <a:spLocks noGrp="1"/>
          </p:cNvSpPr>
          <p:nvPr>
            <p:ph type="dt" sz="half" idx="10"/>
          </p:nvPr>
        </p:nvSpPr>
        <p:spPr/>
        <p:txBody>
          <a:bodyPr/>
          <a:lstStyle/>
          <a:p>
            <a:pPr>
              <a:defRPr/>
            </a:pPr>
            <a:fld id="{69A52D0F-A1E2-42CE-91A9-618E0BB64790}" type="datetime1">
              <a:rPr lang="en-US" smtClean="0"/>
              <a:t>7/6/2022</a:t>
            </a:fld>
            <a:endParaRPr lang="en-US"/>
          </a:p>
        </p:txBody>
      </p:sp>
      <p:sp>
        <p:nvSpPr>
          <p:cNvPr id="6" name="Slide Number Placeholder 5">
            <a:extLst>
              <a:ext uri="{FF2B5EF4-FFF2-40B4-BE49-F238E27FC236}">
                <a16:creationId xmlns:a16="http://schemas.microsoft.com/office/drawing/2014/main" xmlns="" id="{40A5518B-2A59-4E31-BB12-FC503B545E95}"/>
              </a:ext>
            </a:extLst>
          </p:cNvPr>
          <p:cNvSpPr>
            <a:spLocks noGrp="1"/>
          </p:cNvSpPr>
          <p:nvPr>
            <p:ph type="sldNum" sz="quarter" idx="14"/>
          </p:nvPr>
        </p:nvSpPr>
        <p:spPr/>
        <p:txBody>
          <a:bodyPr/>
          <a:lstStyle/>
          <a:p>
            <a:pPr>
              <a:defRPr/>
            </a:pPr>
            <a:fld id="{A4D7D840-3C4D-4535-9FCE-221E1C945AAA}" type="slidenum">
              <a:rPr lang="en-US" smtClean="0"/>
              <a:pPr>
                <a:defRPr/>
              </a:pPr>
              <a:t>26</a:t>
            </a:fld>
            <a:endParaRPr lang="en-US"/>
          </a:p>
        </p:txBody>
      </p:sp>
    </p:spTree>
    <p:extLst>
      <p:ext uri="{BB962C8B-B14F-4D97-AF65-F5344CB8AC3E}">
        <p14:creationId xmlns:p14="http://schemas.microsoft.com/office/powerpoint/2010/main" val="3526410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04E5B6C9-03A7-4440-8416-687B3D45566A}"/>
              </a:ext>
            </a:extLst>
          </p:cNvPr>
          <p:cNvSpPr>
            <a:spLocks noGrp="1"/>
          </p:cNvSpPr>
          <p:nvPr>
            <p:ph type="body" sz="quarter" idx="12"/>
          </p:nvPr>
        </p:nvSpPr>
        <p:spPr/>
        <p:txBody>
          <a:bodyPr/>
          <a:lstStyle/>
          <a:p>
            <a:r>
              <a:rPr lang="en-US" sz="4000" dirty="0">
                <a:solidFill>
                  <a:srgbClr val="FF0000"/>
                </a:solidFill>
              </a:rPr>
              <a:t>budget</a:t>
            </a:r>
          </a:p>
        </p:txBody>
      </p:sp>
      <p:sp>
        <p:nvSpPr>
          <p:cNvPr id="4" name="Date Placeholder 3">
            <a:extLst>
              <a:ext uri="{FF2B5EF4-FFF2-40B4-BE49-F238E27FC236}">
                <a16:creationId xmlns:a16="http://schemas.microsoft.com/office/drawing/2014/main" xmlns="" id="{19CEF374-C75C-4855-8A5F-2B993C72D901}"/>
              </a:ext>
            </a:extLst>
          </p:cNvPr>
          <p:cNvSpPr>
            <a:spLocks noGrp="1"/>
          </p:cNvSpPr>
          <p:nvPr>
            <p:ph type="dt" sz="half" idx="10"/>
          </p:nvPr>
        </p:nvSpPr>
        <p:spPr/>
        <p:txBody>
          <a:bodyPr/>
          <a:lstStyle/>
          <a:p>
            <a:pPr>
              <a:defRPr/>
            </a:pPr>
            <a:fld id="{69A52D0F-A1E2-42CE-91A9-618E0BB64790}" type="datetime1">
              <a:rPr lang="en-US" smtClean="0"/>
              <a:t>7/6/2022</a:t>
            </a:fld>
            <a:endParaRPr lang="en-US"/>
          </a:p>
        </p:txBody>
      </p:sp>
      <p:sp>
        <p:nvSpPr>
          <p:cNvPr id="6" name="Slide Number Placeholder 5">
            <a:extLst>
              <a:ext uri="{FF2B5EF4-FFF2-40B4-BE49-F238E27FC236}">
                <a16:creationId xmlns:a16="http://schemas.microsoft.com/office/drawing/2014/main" xmlns="" id="{AB2DC46F-872B-413B-BCE9-2703109B262F}"/>
              </a:ext>
            </a:extLst>
          </p:cNvPr>
          <p:cNvSpPr>
            <a:spLocks noGrp="1"/>
          </p:cNvSpPr>
          <p:nvPr>
            <p:ph type="sldNum" sz="quarter" idx="14"/>
          </p:nvPr>
        </p:nvSpPr>
        <p:spPr/>
        <p:txBody>
          <a:bodyPr/>
          <a:lstStyle/>
          <a:p>
            <a:pPr>
              <a:defRPr/>
            </a:pPr>
            <a:fld id="{A4D7D840-3C4D-4535-9FCE-221E1C945AAA}" type="slidenum">
              <a:rPr lang="en-US" smtClean="0"/>
              <a:pPr>
                <a:defRPr/>
              </a:pPr>
              <a:t>27</a:t>
            </a:fld>
            <a:endParaRPr lang="en-US"/>
          </a:p>
        </p:txBody>
      </p:sp>
      <p:pic>
        <p:nvPicPr>
          <p:cNvPr id="7" name="Picture 2" descr="Image result for comic cartoon on project budget">
            <a:extLst>
              <a:ext uri="{FF2B5EF4-FFF2-40B4-BE49-F238E27FC236}">
                <a16:creationId xmlns:a16="http://schemas.microsoft.com/office/drawing/2014/main" xmlns="" id="{3DF336DF-ACE3-4D56-9BB3-3E70A9D675E7}"/>
              </a:ext>
            </a:extLst>
          </p:cNvPr>
          <p:cNvPicPr>
            <a:picLocks noChangeAspect="1" noChangeArrowheads="1"/>
          </p:cNvPicPr>
          <p:nvPr/>
        </p:nvPicPr>
        <p:blipFill>
          <a:blip r:embed="rId2" cstate="print"/>
          <a:srcRect/>
          <a:stretch>
            <a:fillRect/>
          </a:stretch>
        </p:blipFill>
        <p:spPr bwMode="auto">
          <a:xfrm>
            <a:off x="5029200" y="1143000"/>
            <a:ext cx="4044462" cy="5113338"/>
          </a:xfrm>
          <a:prstGeom prst="rect">
            <a:avLst/>
          </a:prstGeom>
          <a:noFill/>
        </p:spPr>
      </p:pic>
      <p:sp>
        <p:nvSpPr>
          <p:cNvPr id="8" name="Subtitle 2">
            <a:extLst>
              <a:ext uri="{FF2B5EF4-FFF2-40B4-BE49-F238E27FC236}">
                <a16:creationId xmlns:a16="http://schemas.microsoft.com/office/drawing/2014/main" xmlns="" id="{B4C98896-05AD-4754-BA22-A64570AF06B1}"/>
              </a:ext>
            </a:extLst>
          </p:cNvPr>
          <p:cNvSpPr txBox="1">
            <a:spLocks/>
          </p:cNvSpPr>
          <p:nvPr/>
        </p:nvSpPr>
        <p:spPr>
          <a:xfrm>
            <a:off x="152400" y="990600"/>
            <a:ext cx="4876800" cy="5638800"/>
          </a:xfrm>
          <a:prstGeom prst="rect">
            <a:avLst/>
          </a:prstGeom>
        </p:spPr>
        <p:txBody>
          <a:bodyPr vert="horz" lIns="91440" tIns="45720" rIns="91440" bIns="45720" rtlCol="0">
            <a:noAutofit/>
          </a:bodyPr>
          <a:lstStyle/>
          <a:p>
            <a:pPr marL="342900" indent="-342900">
              <a:buFont typeface="Wingdings" panose="05000000000000000000" pitchFamily="2" charset="2"/>
              <a:buChar char="q"/>
            </a:pPr>
            <a:r>
              <a:rPr lang="en-AU" sz="2000" dirty="0">
                <a:solidFill>
                  <a:srgbClr val="0070C0"/>
                </a:solidFill>
              </a:rPr>
              <a:t>The budget is a very important aspect of the research proposal. The research plan must be a cost effective strategy for the interested partners. </a:t>
            </a:r>
          </a:p>
          <a:p>
            <a:pPr marL="342900" indent="-342900">
              <a:buFont typeface="Wingdings" panose="05000000000000000000" pitchFamily="2" charset="2"/>
              <a:buChar char="q"/>
            </a:pPr>
            <a:r>
              <a:rPr lang="en-AU" sz="2000" dirty="0"/>
              <a:t>Don’t inflate figures </a:t>
            </a:r>
          </a:p>
          <a:p>
            <a:pPr lvl="1"/>
            <a:r>
              <a:rPr lang="en-AU" sz="2000" dirty="0"/>
              <a:t>An inflated, unjustified budget is likely to result in no funding or reduced funding of the project. </a:t>
            </a:r>
          </a:p>
          <a:p>
            <a:pPr marL="342900" indent="-342900">
              <a:buFont typeface="Wingdings" panose="05000000000000000000" pitchFamily="2" charset="2"/>
              <a:buChar char="q"/>
            </a:pPr>
            <a:r>
              <a:rPr lang="en-AU" sz="2000" dirty="0">
                <a:solidFill>
                  <a:srgbClr val="0070C0"/>
                </a:solidFill>
              </a:rPr>
              <a:t>Make accurate calculations </a:t>
            </a:r>
          </a:p>
          <a:p>
            <a:pPr marL="342900" indent="-342900">
              <a:buFont typeface="Wingdings" panose="05000000000000000000" pitchFamily="2" charset="2"/>
              <a:buChar char="q"/>
            </a:pPr>
            <a:r>
              <a:rPr lang="en-AU" sz="2000" dirty="0"/>
              <a:t>Direct Costs </a:t>
            </a:r>
          </a:p>
          <a:p>
            <a:pPr marL="342900" indent="-342900">
              <a:buFont typeface="Wingdings" panose="05000000000000000000" pitchFamily="2" charset="2"/>
              <a:buChar char="q"/>
            </a:pPr>
            <a:r>
              <a:rPr lang="en-AU" sz="2000" dirty="0"/>
              <a:t>can be specifically documented, </a:t>
            </a:r>
            <a:r>
              <a:rPr lang="en-AU" sz="2000" dirty="0" err="1"/>
              <a:t>eg</a:t>
            </a:r>
            <a:r>
              <a:rPr lang="en-AU" sz="2000" dirty="0"/>
              <a:t>: </a:t>
            </a:r>
          </a:p>
          <a:p>
            <a:pPr marL="800100" lvl="1" indent="-342900">
              <a:buFont typeface="Wingdings" panose="05000000000000000000" pitchFamily="2" charset="2"/>
              <a:buChar char="Ø"/>
            </a:pPr>
            <a:r>
              <a:rPr lang="en-AU" sz="2000" dirty="0"/>
              <a:t>salaries; </a:t>
            </a:r>
          </a:p>
          <a:p>
            <a:pPr marL="800100" lvl="1" indent="-342900">
              <a:buFont typeface="Wingdings" panose="05000000000000000000" pitchFamily="2" charset="2"/>
              <a:buChar char="Ø"/>
            </a:pPr>
            <a:r>
              <a:rPr lang="en-AU" sz="2000" dirty="0">
                <a:solidFill>
                  <a:srgbClr val="0070C0"/>
                </a:solidFill>
              </a:rPr>
              <a:t>operating expenses (printing, consumables); </a:t>
            </a:r>
          </a:p>
          <a:p>
            <a:pPr marL="800100" lvl="1" indent="-342900">
              <a:buFont typeface="Wingdings" panose="05000000000000000000" pitchFamily="2" charset="2"/>
              <a:buChar char="Ø"/>
            </a:pPr>
            <a:r>
              <a:rPr lang="en-AU" sz="2000" dirty="0"/>
              <a:t>travel (mileage, fares, lodging, sustenance); </a:t>
            </a:r>
          </a:p>
          <a:p>
            <a:pPr marL="800100" lvl="1" indent="-342900">
              <a:buFont typeface="Wingdings" panose="05000000000000000000" pitchFamily="2" charset="2"/>
              <a:buChar char="Ø"/>
            </a:pPr>
            <a:r>
              <a:rPr lang="en-AU" sz="2000" dirty="0">
                <a:solidFill>
                  <a:srgbClr val="0070C0"/>
                </a:solidFill>
              </a:rPr>
              <a:t>equipment; </a:t>
            </a:r>
          </a:p>
          <a:p>
            <a:pPr lvl="3"/>
            <a:r>
              <a:rPr lang="en-AU" sz="2000" dirty="0"/>
              <a:t>etc. ..</a:t>
            </a: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AU" sz="20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AU" sz="2000" b="0"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2399757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animEffect transition="in" filter="fade">
                                      <p:cBhvr>
                                        <p:cTn id="15" dur="500"/>
                                        <p:tgtEl>
                                          <p:spTgt spid="8">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8">
                                            <p:txEl>
                                              <p:pRg st="3" end="3"/>
                                            </p:txEl>
                                          </p:spTgt>
                                        </p:tgtEl>
                                        <p:attrNameLst>
                                          <p:attrName>style.visibility</p:attrName>
                                        </p:attrNameLst>
                                      </p:cBhvr>
                                      <p:to>
                                        <p:strVal val="visible"/>
                                      </p:to>
                                    </p:set>
                                    <p:animEffect transition="in" filter="fade">
                                      <p:cBhvr>
                                        <p:cTn id="20" dur="500"/>
                                        <p:tgtEl>
                                          <p:spTgt spid="8">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
                                            <p:txEl>
                                              <p:pRg st="4" end="4"/>
                                            </p:txEl>
                                          </p:spTgt>
                                        </p:tgtEl>
                                        <p:attrNameLst>
                                          <p:attrName>style.visibility</p:attrName>
                                        </p:attrNameLst>
                                      </p:cBhvr>
                                      <p:to>
                                        <p:strVal val="visible"/>
                                      </p:to>
                                    </p:set>
                                    <p:anim calcmode="lin" valueType="num">
                                      <p:cBhvr additive="base">
                                        <p:cTn id="25"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
                                            <p:txEl>
                                              <p:pRg st="5" end="5"/>
                                            </p:txEl>
                                          </p:spTgt>
                                        </p:tgtEl>
                                        <p:attrNameLst>
                                          <p:attrName>style.visibility</p:attrName>
                                        </p:attrNameLst>
                                      </p:cBhvr>
                                      <p:to>
                                        <p:strVal val="visible"/>
                                      </p:to>
                                    </p:set>
                                    <p:anim calcmode="lin" valueType="num">
                                      <p:cBhvr additive="base">
                                        <p:cTn id="31"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nodeType="clickEffect">
                                  <p:stCondLst>
                                    <p:cond delay="0"/>
                                  </p:stCondLst>
                                  <p:childTnLst>
                                    <p:set>
                                      <p:cBhvr>
                                        <p:cTn id="36" dur="1" fill="hold">
                                          <p:stCondLst>
                                            <p:cond delay="0"/>
                                          </p:stCondLst>
                                        </p:cTn>
                                        <p:tgtEl>
                                          <p:spTgt spid="8">
                                            <p:txEl>
                                              <p:pRg st="6" end="6"/>
                                            </p:txEl>
                                          </p:spTgt>
                                        </p:tgtEl>
                                        <p:attrNameLst>
                                          <p:attrName>style.visibility</p:attrName>
                                        </p:attrNameLst>
                                      </p:cBhvr>
                                      <p:to>
                                        <p:strVal val="visible"/>
                                      </p:to>
                                    </p:set>
                                    <p:anim calcmode="lin" valueType="num">
                                      <p:cBhvr>
                                        <p:cTn id="37" dur="1000" fill="hold"/>
                                        <p:tgtEl>
                                          <p:spTgt spid="8">
                                            <p:txEl>
                                              <p:pRg st="6" end="6"/>
                                            </p:txEl>
                                          </p:spTgt>
                                        </p:tgtEl>
                                        <p:attrNameLst>
                                          <p:attrName>ppt_w</p:attrName>
                                        </p:attrNameLst>
                                      </p:cBhvr>
                                      <p:tavLst>
                                        <p:tav tm="0">
                                          <p:val>
                                            <p:fltVal val="0"/>
                                          </p:val>
                                        </p:tav>
                                        <p:tav tm="100000">
                                          <p:val>
                                            <p:strVal val="#ppt_w"/>
                                          </p:val>
                                        </p:tav>
                                      </p:tavLst>
                                    </p:anim>
                                    <p:anim calcmode="lin" valueType="num">
                                      <p:cBhvr>
                                        <p:cTn id="38" dur="1000" fill="hold"/>
                                        <p:tgtEl>
                                          <p:spTgt spid="8">
                                            <p:txEl>
                                              <p:pRg st="6" end="6"/>
                                            </p:txEl>
                                          </p:spTgt>
                                        </p:tgtEl>
                                        <p:attrNameLst>
                                          <p:attrName>ppt_h</p:attrName>
                                        </p:attrNameLst>
                                      </p:cBhvr>
                                      <p:tavLst>
                                        <p:tav tm="0">
                                          <p:val>
                                            <p:fltVal val="0"/>
                                          </p:val>
                                        </p:tav>
                                        <p:tav tm="100000">
                                          <p:val>
                                            <p:strVal val="#ppt_h"/>
                                          </p:val>
                                        </p:tav>
                                      </p:tavLst>
                                    </p:anim>
                                    <p:anim calcmode="lin" valueType="num">
                                      <p:cBhvr>
                                        <p:cTn id="39" dur="1000" fill="hold"/>
                                        <p:tgtEl>
                                          <p:spTgt spid="8">
                                            <p:txEl>
                                              <p:pRg st="6" end="6"/>
                                            </p:txEl>
                                          </p:spTgt>
                                        </p:tgtEl>
                                        <p:attrNameLst>
                                          <p:attrName>style.rotation</p:attrName>
                                        </p:attrNameLst>
                                      </p:cBhvr>
                                      <p:tavLst>
                                        <p:tav tm="0">
                                          <p:val>
                                            <p:fltVal val="90"/>
                                          </p:val>
                                        </p:tav>
                                        <p:tav tm="100000">
                                          <p:val>
                                            <p:fltVal val="0"/>
                                          </p:val>
                                        </p:tav>
                                      </p:tavLst>
                                    </p:anim>
                                    <p:animEffect transition="in" filter="fade">
                                      <p:cBhvr>
                                        <p:cTn id="40" dur="1000"/>
                                        <p:tgtEl>
                                          <p:spTgt spid="8">
                                            <p:txEl>
                                              <p:pRg st="6" end="6"/>
                                            </p:txEl>
                                          </p:spTgt>
                                        </p:tgtEl>
                                      </p:cBhvr>
                                    </p:animEffect>
                                  </p:childTnLst>
                                </p:cTn>
                              </p:par>
                              <p:par>
                                <p:cTn id="41" presetID="31" presetClass="entr" presetSubtype="0" fill="hold" nodeType="withEffect">
                                  <p:stCondLst>
                                    <p:cond delay="0"/>
                                  </p:stCondLst>
                                  <p:childTnLst>
                                    <p:set>
                                      <p:cBhvr>
                                        <p:cTn id="42" dur="1" fill="hold">
                                          <p:stCondLst>
                                            <p:cond delay="0"/>
                                          </p:stCondLst>
                                        </p:cTn>
                                        <p:tgtEl>
                                          <p:spTgt spid="8">
                                            <p:txEl>
                                              <p:pRg st="7" end="7"/>
                                            </p:txEl>
                                          </p:spTgt>
                                        </p:tgtEl>
                                        <p:attrNameLst>
                                          <p:attrName>style.visibility</p:attrName>
                                        </p:attrNameLst>
                                      </p:cBhvr>
                                      <p:to>
                                        <p:strVal val="visible"/>
                                      </p:to>
                                    </p:set>
                                    <p:anim calcmode="lin" valueType="num">
                                      <p:cBhvr>
                                        <p:cTn id="43" dur="1000" fill="hold"/>
                                        <p:tgtEl>
                                          <p:spTgt spid="8">
                                            <p:txEl>
                                              <p:pRg st="7" end="7"/>
                                            </p:txEl>
                                          </p:spTgt>
                                        </p:tgtEl>
                                        <p:attrNameLst>
                                          <p:attrName>ppt_w</p:attrName>
                                        </p:attrNameLst>
                                      </p:cBhvr>
                                      <p:tavLst>
                                        <p:tav tm="0">
                                          <p:val>
                                            <p:fltVal val="0"/>
                                          </p:val>
                                        </p:tav>
                                        <p:tav tm="100000">
                                          <p:val>
                                            <p:strVal val="#ppt_w"/>
                                          </p:val>
                                        </p:tav>
                                      </p:tavLst>
                                    </p:anim>
                                    <p:anim calcmode="lin" valueType="num">
                                      <p:cBhvr>
                                        <p:cTn id="44" dur="1000" fill="hold"/>
                                        <p:tgtEl>
                                          <p:spTgt spid="8">
                                            <p:txEl>
                                              <p:pRg st="7" end="7"/>
                                            </p:txEl>
                                          </p:spTgt>
                                        </p:tgtEl>
                                        <p:attrNameLst>
                                          <p:attrName>ppt_h</p:attrName>
                                        </p:attrNameLst>
                                      </p:cBhvr>
                                      <p:tavLst>
                                        <p:tav tm="0">
                                          <p:val>
                                            <p:fltVal val="0"/>
                                          </p:val>
                                        </p:tav>
                                        <p:tav tm="100000">
                                          <p:val>
                                            <p:strVal val="#ppt_h"/>
                                          </p:val>
                                        </p:tav>
                                      </p:tavLst>
                                    </p:anim>
                                    <p:anim calcmode="lin" valueType="num">
                                      <p:cBhvr>
                                        <p:cTn id="45" dur="1000" fill="hold"/>
                                        <p:tgtEl>
                                          <p:spTgt spid="8">
                                            <p:txEl>
                                              <p:pRg st="7" end="7"/>
                                            </p:txEl>
                                          </p:spTgt>
                                        </p:tgtEl>
                                        <p:attrNameLst>
                                          <p:attrName>style.rotation</p:attrName>
                                        </p:attrNameLst>
                                      </p:cBhvr>
                                      <p:tavLst>
                                        <p:tav tm="0">
                                          <p:val>
                                            <p:fltVal val="90"/>
                                          </p:val>
                                        </p:tav>
                                        <p:tav tm="100000">
                                          <p:val>
                                            <p:fltVal val="0"/>
                                          </p:val>
                                        </p:tav>
                                      </p:tavLst>
                                    </p:anim>
                                    <p:animEffect transition="in" filter="fade">
                                      <p:cBhvr>
                                        <p:cTn id="46" dur="1000"/>
                                        <p:tgtEl>
                                          <p:spTgt spid="8">
                                            <p:txEl>
                                              <p:pRg st="7" end="7"/>
                                            </p:txEl>
                                          </p:spTgt>
                                        </p:tgtEl>
                                      </p:cBhvr>
                                    </p:animEffect>
                                  </p:childTnLst>
                                </p:cTn>
                              </p:par>
                              <p:par>
                                <p:cTn id="47" presetID="31" presetClass="entr" presetSubtype="0" fill="hold" nodeType="withEffect">
                                  <p:stCondLst>
                                    <p:cond delay="0"/>
                                  </p:stCondLst>
                                  <p:childTnLst>
                                    <p:set>
                                      <p:cBhvr>
                                        <p:cTn id="48" dur="1" fill="hold">
                                          <p:stCondLst>
                                            <p:cond delay="0"/>
                                          </p:stCondLst>
                                        </p:cTn>
                                        <p:tgtEl>
                                          <p:spTgt spid="8">
                                            <p:txEl>
                                              <p:pRg st="8" end="8"/>
                                            </p:txEl>
                                          </p:spTgt>
                                        </p:tgtEl>
                                        <p:attrNameLst>
                                          <p:attrName>style.visibility</p:attrName>
                                        </p:attrNameLst>
                                      </p:cBhvr>
                                      <p:to>
                                        <p:strVal val="visible"/>
                                      </p:to>
                                    </p:set>
                                    <p:anim calcmode="lin" valueType="num">
                                      <p:cBhvr>
                                        <p:cTn id="49" dur="1000" fill="hold"/>
                                        <p:tgtEl>
                                          <p:spTgt spid="8">
                                            <p:txEl>
                                              <p:pRg st="8" end="8"/>
                                            </p:txEl>
                                          </p:spTgt>
                                        </p:tgtEl>
                                        <p:attrNameLst>
                                          <p:attrName>ppt_w</p:attrName>
                                        </p:attrNameLst>
                                      </p:cBhvr>
                                      <p:tavLst>
                                        <p:tav tm="0">
                                          <p:val>
                                            <p:fltVal val="0"/>
                                          </p:val>
                                        </p:tav>
                                        <p:tav tm="100000">
                                          <p:val>
                                            <p:strVal val="#ppt_w"/>
                                          </p:val>
                                        </p:tav>
                                      </p:tavLst>
                                    </p:anim>
                                    <p:anim calcmode="lin" valueType="num">
                                      <p:cBhvr>
                                        <p:cTn id="50" dur="1000" fill="hold"/>
                                        <p:tgtEl>
                                          <p:spTgt spid="8">
                                            <p:txEl>
                                              <p:pRg st="8" end="8"/>
                                            </p:txEl>
                                          </p:spTgt>
                                        </p:tgtEl>
                                        <p:attrNameLst>
                                          <p:attrName>ppt_h</p:attrName>
                                        </p:attrNameLst>
                                      </p:cBhvr>
                                      <p:tavLst>
                                        <p:tav tm="0">
                                          <p:val>
                                            <p:fltVal val="0"/>
                                          </p:val>
                                        </p:tav>
                                        <p:tav tm="100000">
                                          <p:val>
                                            <p:strVal val="#ppt_h"/>
                                          </p:val>
                                        </p:tav>
                                      </p:tavLst>
                                    </p:anim>
                                    <p:anim calcmode="lin" valueType="num">
                                      <p:cBhvr>
                                        <p:cTn id="51" dur="1000" fill="hold"/>
                                        <p:tgtEl>
                                          <p:spTgt spid="8">
                                            <p:txEl>
                                              <p:pRg st="8" end="8"/>
                                            </p:txEl>
                                          </p:spTgt>
                                        </p:tgtEl>
                                        <p:attrNameLst>
                                          <p:attrName>style.rotation</p:attrName>
                                        </p:attrNameLst>
                                      </p:cBhvr>
                                      <p:tavLst>
                                        <p:tav tm="0">
                                          <p:val>
                                            <p:fltVal val="90"/>
                                          </p:val>
                                        </p:tav>
                                        <p:tav tm="100000">
                                          <p:val>
                                            <p:fltVal val="0"/>
                                          </p:val>
                                        </p:tav>
                                      </p:tavLst>
                                    </p:anim>
                                    <p:animEffect transition="in" filter="fade">
                                      <p:cBhvr>
                                        <p:cTn id="52" dur="1000"/>
                                        <p:tgtEl>
                                          <p:spTgt spid="8">
                                            <p:txEl>
                                              <p:pRg st="8" end="8"/>
                                            </p:txEl>
                                          </p:spTgt>
                                        </p:tgtEl>
                                      </p:cBhvr>
                                    </p:animEffect>
                                  </p:childTnLst>
                                </p:cTn>
                              </p:par>
                              <p:par>
                                <p:cTn id="53" presetID="31" presetClass="entr" presetSubtype="0" fill="hold" nodeType="withEffect">
                                  <p:stCondLst>
                                    <p:cond delay="0"/>
                                  </p:stCondLst>
                                  <p:childTnLst>
                                    <p:set>
                                      <p:cBhvr>
                                        <p:cTn id="54" dur="1" fill="hold">
                                          <p:stCondLst>
                                            <p:cond delay="0"/>
                                          </p:stCondLst>
                                        </p:cTn>
                                        <p:tgtEl>
                                          <p:spTgt spid="8">
                                            <p:txEl>
                                              <p:pRg st="9" end="9"/>
                                            </p:txEl>
                                          </p:spTgt>
                                        </p:tgtEl>
                                        <p:attrNameLst>
                                          <p:attrName>style.visibility</p:attrName>
                                        </p:attrNameLst>
                                      </p:cBhvr>
                                      <p:to>
                                        <p:strVal val="visible"/>
                                      </p:to>
                                    </p:set>
                                    <p:anim calcmode="lin" valueType="num">
                                      <p:cBhvr>
                                        <p:cTn id="55" dur="1000" fill="hold"/>
                                        <p:tgtEl>
                                          <p:spTgt spid="8">
                                            <p:txEl>
                                              <p:pRg st="9" end="9"/>
                                            </p:txEl>
                                          </p:spTgt>
                                        </p:tgtEl>
                                        <p:attrNameLst>
                                          <p:attrName>ppt_w</p:attrName>
                                        </p:attrNameLst>
                                      </p:cBhvr>
                                      <p:tavLst>
                                        <p:tav tm="0">
                                          <p:val>
                                            <p:fltVal val="0"/>
                                          </p:val>
                                        </p:tav>
                                        <p:tav tm="100000">
                                          <p:val>
                                            <p:strVal val="#ppt_w"/>
                                          </p:val>
                                        </p:tav>
                                      </p:tavLst>
                                    </p:anim>
                                    <p:anim calcmode="lin" valueType="num">
                                      <p:cBhvr>
                                        <p:cTn id="56" dur="1000" fill="hold"/>
                                        <p:tgtEl>
                                          <p:spTgt spid="8">
                                            <p:txEl>
                                              <p:pRg st="9" end="9"/>
                                            </p:txEl>
                                          </p:spTgt>
                                        </p:tgtEl>
                                        <p:attrNameLst>
                                          <p:attrName>ppt_h</p:attrName>
                                        </p:attrNameLst>
                                      </p:cBhvr>
                                      <p:tavLst>
                                        <p:tav tm="0">
                                          <p:val>
                                            <p:fltVal val="0"/>
                                          </p:val>
                                        </p:tav>
                                        <p:tav tm="100000">
                                          <p:val>
                                            <p:strVal val="#ppt_h"/>
                                          </p:val>
                                        </p:tav>
                                      </p:tavLst>
                                    </p:anim>
                                    <p:anim calcmode="lin" valueType="num">
                                      <p:cBhvr>
                                        <p:cTn id="57" dur="1000" fill="hold"/>
                                        <p:tgtEl>
                                          <p:spTgt spid="8">
                                            <p:txEl>
                                              <p:pRg st="9" end="9"/>
                                            </p:txEl>
                                          </p:spTgt>
                                        </p:tgtEl>
                                        <p:attrNameLst>
                                          <p:attrName>style.rotation</p:attrName>
                                        </p:attrNameLst>
                                      </p:cBhvr>
                                      <p:tavLst>
                                        <p:tav tm="0">
                                          <p:val>
                                            <p:fltVal val="90"/>
                                          </p:val>
                                        </p:tav>
                                        <p:tav tm="100000">
                                          <p:val>
                                            <p:fltVal val="0"/>
                                          </p:val>
                                        </p:tav>
                                      </p:tavLst>
                                    </p:anim>
                                    <p:animEffect transition="in" filter="fade">
                                      <p:cBhvr>
                                        <p:cTn id="58" dur="1000"/>
                                        <p:tgtEl>
                                          <p:spTgt spid="8">
                                            <p:txEl>
                                              <p:pRg st="9" end="9"/>
                                            </p:txEl>
                                          </p:spTgt>
                                        </p:tgtEl>
                                      </p:cBhvr>
                                    </p:animEffect>
                                  </p:childTnLst>
                                </p:cTn>
                              </p:par>
                              <p:par>
                                <p:cTn id="59" presetID="31" presetClass="entr" presetSubtype="0" fill="hold" nodeType="withEffect">
                                  <p:stCondLst>
                                    <p:cond delay="0"/>
                                  </p:stCondLst>
                                  <p:childTnLst>
                                    <p:set>
                                      <p:cBhvr>
                                        <p:cTn id="60" dur="1" fill="hold">
                                          <p:stCondLst>
                                            <p:cond delay="0"/>
                                          </p:stCondLst>
                                        </p:cTn>
                                        <p:tgtEl>
                                          <p:spTgt spid="8">
                                            <p:txEl>
                                              <p:pRg st="10" end="10"/>
                                            </p:txEl>
                                          </p:spTgt>
                                        </p:tgtEl>
                                        <p:attrNameLst>
                                          <p:attrName>style.visibility</p:attrName>
                                        </p:attrNameLst>
                                      </p:cBhvr>
                                      <p:to>
                                        <p:strVal val="visible"/>
                                      </p:to>
                                    </p:set>
                                    <p:anim calcmode="lin" valueType="num">
                                      <p:cBhvr>
                                        <p:cTn id="61" dur="1000" fill="hold"/>
                                        <p:tgtEl>
                                          <p:spTgt spid="8">
                                            <p:txEl>
                                              <p:pRg st="10" end="10"/>
                                            </p:txEl>
                                          </p:spTgt>
                                        </p:tgtEl>
                                        <p:attrNameLst>
                                          <p:attrName>ppt_w</p:attrName>
                                        </p:attrNameLst>
                                      </p:cBhvr>
                                      <p:tavLst>
                                        <p:tav tm="0">
                                          <p:val>
                                            <p:fltVal val="0"/>
                                          </p:val>
                                        </p:tav>
                                        <p:tav tm="100000">
                                          <p:val>
                                            <p:strVal val="#ppt_w"/>
                                          </p:val>
                                        </p:tav>
                                      </p:tavLst>
                                    </p:anim>
                                    <p:anim calcmode="lin" valueType="num">
                                      <p:cBhvr>
                                        <p:cTn id="62" dur="1000" fill="hold"/>
                                        <p:tgtEl>
                                          <p:spTgt spid="8">
                                            <p:txEl>
                                              <p:pRg st="10" end="10"/>
                                            </p:txEl>
                                          </p:spTgt>
                                        </p:tgtEl>
                                        <p:attrNameLst>
                                          <p:attrName>ppt_h</p:attrName>
                                        </p:attrNameLst>
                                      </p:cBhvr>
                                      <p:tavLst>
                                        <p:tav tm="0">
                                          <p:val>
                                            <p:fltVal val="0"/>
                                          </p:val>
                                        </p:tav>
                                        <p:tav tm="100000">
                                          <p:val>
                                            <p:strVal val="#ppt_h"/>
                                          </p:val>
                                        </p:tav>
                                      </p:tavLst>
                                    </p:anim>
                                    <p:anim calcmode="lin" valueType="num">
                                      <p:cBhvr>
                                        <p:cTn id="63" dur="1000" fill="hold"/>
                                        <p:tgtEl>
                                          <p:spTgt spid="8">
                                            <p:txEl>
                                              <p:pRg st="10" end="10"/>
                                            </p:txEl>
                                          </p:spTgt>
                                        </p:tgtEl>
                                        <p:attrNameLst>
                                          <p:attrName>style.rotation</p:attrName>
                                        </p:attrNameLst>
                                      </p:cBhvr>
                                      <p:tavLst>
                                        <p:tav tm="0">
                                          <p:val>
                                            <p:fltVal val="90"/>
                                          </p:val>
                                        </p:tav>
                                        <p:tav tm="100000">
                                          <p:val>
                                            <p:fltVal val="0"/>
                                          </p:val>
                                        </p:tav>
                                      </p:tavLst>
                                    </p:anim>
                                    <p:animEffect transition="in" filter="fade">
                                      <p:cBhvr>
                                        <p:cTn id="64" dur="1000"/>
                                        <p:tgtEl>
                                          <p:spTgt spid="8">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0CD4B65C-3140-44C7-9146-075E547F9D82}"/>
              </a:ext>
            </a:extLst>
          </p:cNvPr>
          <p:cNvSpPr>
            <a:spLocks noGrp="1"/>
          </p:cNvSpPr>
          <p:nvPr>
            <p:ph type="body" sz="quarter" idx="12"/>
          </p:nvPr>
        </p:nvSpPr>
        <p:spPr/>
        <p:txBody>
          <a:bodyPr/>
          <a:lstStyle/>
          <a:p>
            <a:r>
              <a:rPr lang="en-US" dirty="0">
                <a:solidFill>
                  <a:srgbClr val="FF0000"/>
                </a:solidFill>
              </a:rPr>
              <a:t>Budget…</a:t>
            </a:r>
          </a:p>
        </p:txBody>
      </p:sp>
      <p:sp>
        <p:nvSpPr>
          <p:cNvPr id="3" name="Text Placeholder 2">
            <a:extLst>
              <a:ext uri="{FF2B5EF4-FFF2-40B4-BE49-F238E27FC236}">
                <a16:creationId xmlns:a16="http://schemas.microsoft.com/office/drawing/2014/main" xmlns="" id="{8D8088AF-BF2B-410D-9548-8F405B74D346}"/>
              </a:ext>
            </a:extLst>
          </p:cNvPr>
          <p:cNvSpPr>
            <a:spLocks noGrp="1"/>
          </p:cNvSpPr>
          <p:nvPr>
            <p:ph type="body" sz="quarter" idx="13"/>
          </p:nvPr>
        </p:nvSpPr>
        <p:spPr/>
        <p:txBody>
          <a:bodyPr/>
          <a:lstStyle/>
          <a:p>
            <a:pPr marL="457200" indent="-457200">
              <a:buFont typeface="Wingdings" panose="05000000000000000000" pitchFamily="2" charset="2"/>
              <a:buChar char="q"/>
            </a:pPr>
            <a:r>
              <a:rPr lang="en-AU" sz="2800" dirty="0"/>
              <a:t>Indirect Costs </a:t>
            </a:r>
          </a:p>
          <a:p>
            <a:pPr marL="914400" lvl="1" indent="-457200">
              <a:buFont typeface="Wingdings" panose="05000000000000000000" pitchFamily="2" charset="2"/>
              <a:buChar char="Ø"/>
            </a:pPr>
            <a:r>
              <a:rPr lang="en-AU" sz="2800" dirty="0"/>
              <a:t>real costs that cannot be easily identified as specific to a particular project, </a:t>
            </a:r>
            <a:r>
              <a:rPr lang="en-AU" sz="2800" dirty="0" err="1"/>
              <a:t>eg</a:t>
            </a:r>
            <a:r>
              <a:rPr lang="en-AU" sz="2800" dirty="0"/>
              <a:t>: </a:t>
            </a:r>
          </a:p>
          <a:p>
            <a:pPr marL="1828800" lvl="3" indent="-457200">
              <a:buFont typeface="Wingdings" panose="05000000000000000000" pitchFamily="2" charset="2"/>
              <a:buChar char="v"/>
            </a:pPr>
            <a:r>
              <a:rPr lang="en-AU" sz="2800" dirty="0"/>
              <a:t>utilities; </a:t>
            </a:r>
          </a:p>
          <a:p>
            <a:pPr marL="1828800" lvl="3" indent="-457200">
              <a:buFont typeface="Wingdings" panose="05000000000000000000" pitchFamily="2" charset="2"/>
              <a:buChar char="v"/>
            </a:pPr>
            <a:r>
              <a:rPr lang="en-AU" sz="2800" dirty="0"/>
              <a:t>maintenance of space and equipment; </a:t>
            </a:r>
          </a:p>
          <a:p>
            <a:pPr marL="1828800" lvl="3" indent="-457200">
              <a:buFont typeface="Wingdings" panose="05000000000000000000" pitchFamily="2" charset="2"/>
              <a:buChar char="v"/>
            </a:pPr>
            <a:r>
              <a:rPr lang="en-AU" sz="2800" dirty="0"/>
              <a:t>security; </a:t>
            </a:r>
          </a:p>
          <a:p>
            <a:pPr marL="1828800" lvl="3" indent="-457200">
              <a:buFont typeface="Wingdings" panose="05000000000000000000" pitchFamily="2" charset="2"/>
              <a:buChar char="v"/>
            </a:pPr>
            <a:r>
              <a:rPr lang="en-AU" sz="2800" dirty="0"/>
              <a:t>computer services; </a:t>
            </a:r>
          </a:p>
          <a:p>
            <a:pPr marL="1828800" lvl="3" indent="-457200">
              <a:buFont typeface="Wingdings" panose="05000000000000000000" pitchFamily="2" charset="2"/>
              <a:buChar char="v"/>
            </a:pPr>
            <a:r>
              <a:rPr lang="en-AU" sz="2800" dirty="0"/>
              <a:t>legal services; </a:t>
            </a:r>
          </a:p>
          <a:p>
            <a:pPr marL="1828800" lvl="3" indent="-457200">
              <a:buFont typeface="Wingdings" panose="05000000000000000000" pitchFamily="2" charset="2"/>
              <a:buChar char="v"/>
            </a:pPr>
            <a:r>
              <a:rPr lang="en-AU" sz="2800" dirty="0"/>
              <a:t>accounting services; </a:t>
            </a:r>
          </a:p>
          <a:p>
            <a:pPr marL="1828800" lvl="3" indent="-457200">
              <a:buFont typeface="Wingdings" panose="05000000000000000000" pitchFamily="2" charset="2"/>
              <a:buChar char="v"/>
            </a:pPr>
            <a:r>
              <a:rPr lang="en-AU" sz="2800" dirty="0"/>
              <a:t>payroll services. </a:t>
            </a:r>
          </a:p>
          <a:p>
            <a:endParaRPr lang="en-US" dirty="0"/>
          </a:p>
        </p:txBody>
      </p:sp>
      <p:sp>
        <p:nvSpPr>
          <p:cNvPr id="4" name="Date Placeholder 3">
            <a:extLst>
              <a:ext uri="{FF2B5EF4-FFF2-40B4-BE49-F238E27FC236}">
                <a16:creationId xmlns:a16="http://schemas.microsoft.com/office/drawing/2014/main" xmlns="" id="{26CD163B-9810-4EA3-8EBF-A59DC51F0C68}"/>
              </a:ext>
            </a:extLst>
          </p:cNvPr>
          <p:cNvSpPr>
            <a:spLocks noGrp="1"/>
          </p:cNvSpPr>
          <p:nvPr>
            <p:ph type="dt" sz="half" idx="10"/>
          </p:nvPr>
        </p:nvSpPr>
        <p:spPr/>
        <p:txBody>
          <a:bodyPr/>
          <a:lstStyle/>
          <a:p>
            <a:pPr>
              <a:defRPr/>
            </a:pPr>
            <a:fld id="{69A52D0F-A1E2-42CE-91A9-618E0BB64790}" type="datetime1">
              <a:rPr lang="en-US" smtClean="0"/>
              <a:t>7/6/2022</a:t>
            </a:fld>
            <a:endParaRPr lang="en-US"/>
          </a:p>
        </p:txBody>
      </p:sp>
      <p:sp>
        <p:nvSpPr>
          <p:cNvPr id="6" name="Slide Number Placeholder 5">
            <a:extLst>
              <a:ext uri="{FF2B5EF4-FFF2-40B4-BE49-F238E27FC236}">
                <a16:creationId xmlns:a16="http://schemas.microsoft.com/office/drawing/2014/main" xmlns="" id="{D88890B0-A122-479B-8100-4D81E153010A}"/>
              </a:ext>
            </a:extLst>
          </p:cNvPr>
          <p:cNvSpPr>
            <a:spLocks noGrp="1"/>
          </p:cNvSpPr>
          <p:nvPr>
            <p:ph type="sldNum" sz="quarter" idx="14"/>
          </p:nvPr>
        </p:nvSpPr>
        <p:spPr/>
        <p:txBody>
          <a:bodyPr/>
          <a:lstStyle/>
          <a:p>
            <a:pPr>
              <a:defRPr/>
            </a:pPr>
            <a:fld id="{A4D7D840-3C4D-4535-9FCE-221E1C945AAA}" type="slidenum">
              <a:rPr lang="en-US" smtClean="0"/>
              <a:pPr>
                <a:defRPr/>
              </a:pPr>
              <a:t>28</a:t>
            </a:fld>
            <a:endParaRPr lang="en-US"/>
          </a:p>
        </p:txBody>
      </p:sp>
    </p:spTree>
    <p:extLst>
      <p:ext uri="{BB962C8B-B14F-4D97-AF65-F5344CB8AC3E}">
        <p14:creationId xmlns:p14="http://schemas.microsoft.com/office/powerpoint/2010/main" val="32495864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FD05818C-A7B4-403D-94E6-E36D16154B6A}"/>
              </a:ext>
            </a:extLst>
          </p:cNvPr>
          <p:cNvSpPr>
            <a:spLocks noGrp="1"/>
          </p:cNvSpPr>
          <p:nvPr>
            <p:ph type="body" sz="quarter" idx="12"/>
          </p:nvPr>
        </p:nvSpPr>
        <p:spPr/>
        <p:txBody>
          <a:bodyPr/>
          <a:lstStyle/>
          <a:p>
            <a:r>
              <a:rPr lang="en-AU" dirty="0">
                <a:solidFill>
                  <a:srgbClr val="FF0000"/>
                </a:solidFill>
              </a:rPr>
              <a:t>Budget Justification</a:t>
            </a:r>
          </a:p>
        </p:txBody>
      </p:sp>
      <p:sp>
        <p:nvSpPr>
          <p:cNvPr id="3" name="Text Placeholder 2">
            <a:extLst>
              <a:ext uri="{FF2B5EF4-FFF2-40B4-BE49-F238E27FC236}">
                <a16:creationId xmlns:a16="http://schemas.microsoft.com/office/drawing/2014/main" xmlns="" id="{374C0489-BFFA-4B87-927B-E9ECAD3B35C7}"/>
              </a:ext>
            </a:extLst>
          </p:cNvPr>
          <p:cNvSpPr>
            <a:spLocks noGrp="1"/>
          </p:cNvSpPr>
          <p:nvPr>
            <p:ph type="body" sz="quarter" idx="13"/>
          </p:nvPr>
        </p:nvSpPr>
        <p:spPr/>
        <p:txBody>
          <a:bodyPr>
            <a:normAutofit/>
          </a:bodyPr>
          <a:lstStyle/>
          <a:p>
            <a:pPr>
              <a:spcAft>
                <a:spcPts val="1800"/>
              </a:spcAft>
              <a:buFont typeface="Wingdings" panose="05000000000000000000" pitchFamily="2" charset="2"/>
              <a:buChar char="q"/>
            </a:pPr>
            <a:r>
              <a:rPr lang="en-AU" sz="2800" dirty="0"/>
              <a:t>Justify </a:t>
            </a:r>
            <a:r>
              <a:rPr lang="en-AU" sz="2800" i="1" dirty="0"/>
              <a:t>every item. </a:t>
            </a:r>
            <a:r>
              <a:rPr lang="en-AU" sz="2800" dirty="0"/>
              <a:t>Do not merely restate proposed expenditure.</a:t>
            </a:r>
            <a:r>
              <a:rPr lang="en-AU" sz="2800" i="1" dirty="0"/>
              <a:t> </a:t>
            </a:r>
          </a:p>
          <a:p>
            <a:pPr>
              <a:spcAft>
                <a:spcPts val="1800"/>
              </a:spcAft>
              <a:buFont typeface="Wingdings" panose="05000000000000000000" pitchFamily="2" charset="2"/>
              <a:buChar char="q"/>
            </a:pPr>
            <a:r>
              <a:rPr lang="en-AU" sz="2800" dirty="0">
                <a:solidFill>
                  <a:schemeClr val="tx2">
                    <a:lumMod val="60000"/>
                    <a:lumOff val="40000"/>
                  </a:schemeClr>
                </a:solidFill>
              </a:rPr>
              <a:t>The justification of the budget must match the research methods and analysis outlined in the research proposal. </a:t>
            </a:r>
          </a:p>
          <a:p>
            <a:pPr>
              <a:spcAft>
                <a:spcPts val="1800"/>
              </a:spcAft>
              <a:buFont typeface="Wingdings" panose="05000000000000000000" pitchFamily="2" charset="2"/>
              <a:buChar char="q"/>
            </a:pPr>
            <a:r>
              <a:rPr lang="en-AU" sz="2800" dirty="0"/>
              <a:t>Explain why the project could not proceed/would not be successful without these items </a:t>
            </a:r>
          </a:p>
          <a:p>
            <a:pPr>
              <a:buFont typeface="Wingdings" panose="05000000000000000000" pitchFamily="2" charset="2"/>
              <a:buChar char="q"/>
            </a:pPr>
            <a:endParaRPr lang="en-US" sz="2800" dirty="0"/>
          </a:p>
        </p:txBody>
      </p:sp>
      <p:sp>
        <p:nvSpPr>
          <p:cNvPr id="4" name="Date Placeholder 3">
            <a:extLst>
              <a:ext uri="{FF2B5EF4-FFF2-40B4-BE49-F238E27FC236}">
                <a16:creationId xmlns:a16="http://schemas.microsoft.com/office/drawing/2014/main" xmlns="" id="{D4DBBA60-A257-4D0B-A15F-F4E2B275EC9C}"/>
              </a:ext>
            </a:extLst>
          </p:cNvPr>
          <p:cNvSpPr>
            <a:spLocks noGrp="1"/>
          </p:cNvSpPr>
          <p:nvPr>
            <p:ph type="dt" sz="half" idx="10"/>
          </p:nvPr>
        </p:nvSpPr>
        <p:spPr/>
        <p:txBody>
          <a:bodyPr/>
          <a:lstStyle/>
          <a:p>
            <a:pPr>
              <a:defRPr/>
            </a:pPr>
            <a:fld id="{69A52D0F-A1E2-42CE-91A9-618E0BB64790}" type="datetime1">
              <a:rPr lang="en-US" smtClean="0"/>
              <a:t>7/6/2022</a:t>
            </a:fld>
            <a:endParaRPr lang="en-US"/>
          </a:p>
        </p:txBody>
      </p:sp>
      <p:sp>
        <p:nvSpPr>
          <p:cNvPr id="6" name="Slide Number Placeholder 5">
            <a:extLst>
              <a:ext uri="{FF2B5EF4-FFF2-40B4-BE49-F238E27FC236}">
                <a16:creationId xmlns:a16="http://schemas.microsoft.com/office/drawing/2014/main" xmlns="" id="{58E6E1D0-ACD9-4502-9EE7-82D74A3A2FB6}"/>
              </a:ext>
            </a:extLst>
          </p:cNvPr>
          <p:cNvSpPr>
            <a:spLocks noGrp="1"/>
          </p:cNvSpPr>
          <p:nvPr>
            <p:ph type="sldNum" sz="quarter" idx="14"/>
          </p:nvPr>
        </p:nvSpPr>
        <p:spPr/>
        <p:txBody>
          <a:bodyPr/>
          <a:lstStyle/>
          <a:p>
            <a:pPr>
              <a:defRPr/>
            </a:pPr>
            <a:fld id="{A4D7D840-3C4D-4535-9FCE-221E1C945AAA}" type="slidenum">
              <a:rPr lang="en-US" smtClean="0"/>
              <a:pPr>
                <a:defRPr/>
              </a:pPr>
              <a:t>29</a:t>
            </a:fld>
            <a:endParaRPr lang="en-US"/>
          </a:p>
        </p:txBody>
      </p:sp>
    </p:spTree>
    <p:extLst>
      <p:ext uri="{BB962C8B-B14F-4D97-AF65-F5344CB8AC3E}">
        <p14:creationId xmlns:p14="http://schemas.microsoft.com/office/powerpoint/2010/main" val="3835693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2"/>
          <p:cNvPicPr>
            <a:picLocks noChangeAspect="1" noChangeArrowheads="1"/>
          </p:cNvPicPr>
          <p:nvPr/>
        </p:nvPicPr>
        <p:blipFill>
          <a:blip r:embed="rId2" cstate="print"/>
          <a:srcRect/>
          <a:stretch>
            <a:fillRect/>
          </a:stretch>
        </p:blipFill>
        <p:spPr bwMode="auto">
          <a:xfrm>
            <a:off x="838200" y="381000"/>
            <a:ext cx="7619999" cy="6096000"/>
          </a:xfrm>
          <a:prstGeom prst="rect">
            <a:avLst/>
          </a:prstGeom>
          <a:noFill/>
          <a:ln w="9525">
            <a:noFill/>
            <a:miter lim="800000"/>
            <a:headEnd/>
            <a:tailEnd/>
          </a:ln>
        </p:spPr>
      </p:pic>
      <p:sp>
        <p:nvSpPr>
          <p:cNvPr id="2" name="Date Placeholder 1">
            <a:extLst>
              <a:ext uri="{FF2B5EF4-FFF2-40B4-BE49-F238E27FC236}">
                <a16:creationId xmlns:a16="http://schemas.microsoft.com/office/drawing/2014/main" xmlns="" id="{02EBEE4C-B4D0-4959-98B3-F685990435E4}"/>
              </a:ext>
            </a:extLst>
          </p:cNvPr>
          <p:cNvSpPr>
            <a:spLocks noGrp="1"/>
          </p:cNvSpPr>
          <p:nvPr>
            <p:ph type="dt" sz="half" idx="10"/>
          </p:nvPr>
        </p:nvSpPr>
        <p:spPr/>
        <p:txBody>
          <a:bodyPr/>
          <a:lstStyle/>
          <a:p>
            <a:fld id="{D12AF041-F811-46A4-97C5-2939FFDCE324}" type="datetime1">
              <a:rPr lang="en-US" smtClean="0"/>
              <a:t>7/6/2022</a:t>
            </a:fld>
            <a:endParaRPr lang="en-US"/>
          </a:p>
        </p:txBody>
      </p:sp>
      <p:sp>
        <p:nvSpPr>
          <p:cNvPr id="4" name="Slide Number Placeholder 3">
            <a:extLst>
              <a:ext uri="{FF2B5EF4-FFF2-40B4-BE49-F238E27FC236}">
                <a16:creationId xmlns:a16="http://schemas.microsoft.com/office/drawing/2014/main" xmlns="" id="{3302CBAD-EB4B-42A1-8947-C006EB9860DD}"/>
              </a:ext>
            </a:extLst>
          </p:cNvPr>
          <p:cNvSpPr>
            <a:spLocks noGrp="1"/>
          </p:cNvSpPr>
          <p:nvPr>
            <p:ph type="sldNum" sz="quarter" idx="12"/>
          </p:nvPr>
        </p:nvSpPr>
        <p:spPr/>
        <p:txBody>
          <a:bodyPr/>
          <a:lstStyle/>
          <a:p>
            <a:fld id="{B6F15528-21DE-4FAA-801E-634DDDAF4B2B}" type="slidenum">
              <a:rPr lang="en-US" smtClean="0"/>
              <a:pPr/>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9C070803-E97C-45C6-963B-F40320869FFD}"/>
              </a:ext>
            </a:extLst>
          </p:cNvPr>
          <p:cNvSpPr>
            <a:spLocks noGrp="1"/>
          </p:cNvSpPr>
          <p:nvPr>
            <p:ph type="body" sz="quarter" idx="12"/>
          </p:nvPr>
        </p:nvSpPr>
        <p:spPr/>
        <p:txBody>
          <a:bodyPr/>
          <a:lstStyle/>
          <a:p>
            <a:r>
              <a:rPr lang="en-AU" sz="4000" dirty="0">
                <a:solidFill>
                  <a:srgbClr val="FF0000"/>
                </a:solidFill>
              </a:rPr>
              <a:t>Conflict of Interest</a:t>
            </a:r>
          </a:p>
        </p:txBody>
      </p:sp>
      <p:sp>
        <p:nvSpPr>
          <p:cNvPr id="3" name="Text Placeholder 2">
            <a:extLst>
              <a:ext uri="{FF2B5EF4-FFF2-40B4-BE49-F238E27FC236}">
                <a16:creationId xmlns:a16="http://schemas.microsoft.com/office/drawing/2014/main" xmlns="" id="{1A59E7E8-6F0A-4469-A7F1-1702A94747B1}"/>
              </a:ext>
            </a:extLst>
          </p:cNvPr>
          <p:cNvSpPr>
            <a:spLocks noGrp="1"/>
          </p:cNvSpPr>
          <p:nvPr>
            <p:ph type="body" sz="quarter" idx="13"/>
          </p:nvPr>
        </p:nvSpPr>
        <p:spPr>
          <a:xfrm>
            <a:off x="2" y="1066800"/>
            <a:ext cx="9136063" cy="5370517"/>
          </a:xfrm>
        </p:spPr>
        <p:txBody>
          <a:bodyPr>
            <a:normAutofit/>
          </a:bodyPr>
          <a:lstStyle/>
          <a:p>
            <a:pPr marL="457200" indent="-457200" algn="just">
              <a:spcAft>
                <a:spcPts val="1800"/>
              </a:spcAft>
              <a:buFont typeface="Wingdings" panose="05000000000000000000" pitchFamily="2" charset="2"/>
              <a:buChar char="q"/>
            </a:pPr>
            <a:r>
              <a:rPr lang="en-AU" sz="2600" dirty="0"/>
              <a:t>When a research team receives funding from a commercial partner, some ethical issues might arise</a:t>
            </a:r>
          </a:p>
          <a:p>
            <a:pPr marL="457200" indent="-457200" algn="just">
              <a:spcAft>
                <a:spcPts val="1800"/>
              </a:spcAft>
              <a:buFont typeface="Wingdings" panose="05000000000000000000" pitchFamily="2" charset="2"/>
              <a:buChar char="q"/>
            </a:pPr>
            <a:r>
              <a:rPr lang="en-AU" sz="2600" dirty="0">
                <a:solidFill>
                  <a:srgbClr val="0070C0"/>
                </a:solidFill>
              </a:rPr>
              <a:t>In particular, researchers must ensure that the results are presented in an unbiased manner and that all conflicts of interest are clearly stated in any publications, presentations and reports </a:t>
            </a:r>
          </a:p>
          <a:p>
            <a:pPr marL="457200" indent="-457200" algn="just">
              <a:spcAft>
                <a:spcPts val="1800"/>
              </a:spcAft>
              <a:buFont typeface="Wingdings" panose="05000000000000000000" pitchFamily="2" charset="2"/>
              <a:buChar char="q"/>
            </a:pPr>
            <a:r>
              <a:rPr lang="en-AU" sz="2600" dirty="0"/>
              <a:t>This can be done in the acknowledgements section of the published paper </a:t>
            </a:r>
          </a:p>
          <a:p>
            <a:pPr marL="0" indent="0" algn="just">
              <a:spcAft>
                <a:spcPts val="1800"/>
              </a:spcAft>
              <a:buNone/>
            </a:pPr>
            <a:endParaRPr lang="en-AU" sz="2600" dirty="0">
              <a:highlight>
                <a:srgbClr val="FFFF00"/>
              </a:highlight>
            </a:endParaRPr>
          </a:p>
          <a:p>
            <a:endParaRPr lang="en-US" sz="2600" dirty="0"/>
          </a:p>
        </p:txBody>
      </p:sp>
      <p:sp>
        <p:nvSpPr>
          <p:cNvPr id="4" name="Date Placeholder 3">
            <a:extLst>
              <a:ext uri="{FF2B5EF4-FFF2-40B4-BE49-F238E27FC236}">
                <a16:creationId xmlns:a16="http://schemas.microsoft.com/office/drawing/2014/main" xmlns="" id="{F6B9EEFF-3A9C-4D2B-8A60-E0CE78883B52}"/>
              </a:ext>
            </a:extLst>
          </p:cNvPr>
          <p:cNvSpPr>
            <a:spLocks noGrp="1"/>
          </p:cNvSpPr>
          <p:nvPr>
            <p:ph type="dt" sz="half" idx="10"/>
          </p:nvPr>
        </p:nvSpPr>
        <p:spPr/>
        <p:txBody>
          <a:bodyPr/>
          <a:lstStyle/>
          <a:p>
            <a:pPr>
              <a:defRPr/>
            </a:pPr>
            <a:fld id="{69A52D0F-A1E2-42CE-91A9-618E0BB64790}" type="datetime1">
              <a:rPr lang="en-US" smtClean="0"/>
              <a:t>7/6/2022</a:t>
            </a:fld>
            <a:endParaRPr lang="en-US"/>
          </a:p>
        </p:txBody>
      </p:sp>
      <p:sp>
        <p:nvSpPr>
          <p:cNvPr id="6" name="Slide Number Placeholder 5">
            <a:extLst>
              <a:ext uri="{FF2B5EF4-FFF2-40B4-BE49-F238E27FC236}">
                <a16:creationId xmlns:a16="http://schemas.microsoft.com/office/drawing/2014/main" xmlns="" id="{1A4FA761-63D5-4805-90A6-3B4D80B9999B}"/>
              </a:ext>
            </a:extLst>
          </p:cNvPr>
          <p:cNvSpPr>
            <a:spLocks noGrp="1"/>
          </p:cNvSpPr>
          <p:nvPr>
            <p:ph type="sldNum" sz="quarter" idx="14"/>
          </p:nvPr>
        </p:nvSpPr>
        <p:spPr/>
        <p:txBody>
          <a:bodyPr/>
          <a:lstStyle/>
          <a:p>
            <a:pPr>
              <a:defRPr/>
            </a:pPr>
            <a:fld id="{A4D7D840-3C4D-4535-9FCE-221E1C945AAA}" type="slidenum">
              <a:rPr lang="en-US" smtClean="0"/>
              <a:pPr>
                <a:defRPr/>
              </a:pPr>
              <a:t>31</a:t>
            </a:fld>
            <a:endParaRPr lang="en-US"/>
          </a:p>
        </p:txBody>
      </p:sp>
    </p:spTree>
    <p:extLst>
      <p:ext uri="{BB962C8B-B14F-4D97-AF65-F5344CB8AC3E}">
        <p14:creationId xmlns:p14="http://schemas.microsoft.com/office/powerpoint/2010/main" val="1137789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9C070803-E97C-45C6-963B-F40320869FFD}"/>
              </a:ext>
            </a:extLst>
          </p:cNvPr>
          <p:cNvSpPr>
            <a:spLocks noGrp="1"/>
          </p:cNvSpPr>
          <p:nvPr>
            <p:ph type="body" sz="quarter" idx="12"/>
          </p:nvPr>
        </p:nvSpPr>
        <p:spPr/>
        <p:txBody>
          <a:bodyPr/>
          <a:lstStyle/>
          <a:p>
            <a:pPr lvl="0">
              <a:spcBef>
                <a:spcPct val="0"/>
              </a:spcBef>
              <a:defRPr/>
            </a:pPr>
            <a:r>
              <a:rPr lang="en-AU" sz="4000" dirty="0">
                <a:solidFill>
                  <a:srgbClr val="FF0000"/>
                </a:solidFill>
              </a:rPr>
              <a:t>Research Team</a:t>
            </a:r>
          </a:p>
        </p:txBody>
      </p:sp>
      <p:sp>
        <p:nvSpPr>
          <p:cNvPr id="3" name="Text Placeholder 2">
            <a:extLst>
              <a:ext uri="{FF2B5EF4-FFF2-40B4-BE49-F238E27FC236}">
                <a16:creationId xmlns:a16="http://schemas.microsoft.com/office/drawing/2014/main" xmlns="" id="{1A59E7E8-6F0A-4469-A7F1-1702A94747B1}"/>
              </a:ext>
            </a:extLst>
          </p:cNvPr>
          <p:cNvSpPr>
            <a:spLocks noGrp="1"/>
          </p:cNvSpPr>
          <p:nvPr>
            <p:ph type="body" sz="quarter" idx="13"/>
          </p:nvPr>
        </p:nvSpPr>
        <p:spPr>
          <a:xfrm>
            <a:off x="2" y="1066800"/>
            <a:ext cx="9136063" cy="5370517"/>
          </a:xfrm>
        </p:spPr>
        <p:txBody>
          <a:bodyPr>
            <a:normAutofit/>
          </a:bodyPr>
          <a:lstStyle/>
          <a:p>
            <a:pPr marL="457200" indent="-457200" algn="just">
              <a:spcAft>
                <a:spcPts val="1800"/>
              </a:spcAft>
              <a:buFont typeface="Wingdings" panose="05000000000000000000" pitchFamily="2" charset="2"/>
              <a:buChar char="q"/>
            </a:pPr>
            <a:r>
              <a:rPr lang="en-AU" sz="2800" dirty="0"/>
              <a:t> </a:t>
            </a:r>
            <a:r>
              <a:rPr lang="en-AU" sz="2800" dirty="0">
                <a:solidFill>
                  <a:srgbClr val="CC0099"/>
                </a:solidFill>
              </a:rPr>
              <a:t>It is rare for a project to involve only one researcher. </a:t>
            </a:r>
          </a:p>
          <a:p>
            <a:pPr marL="457200" indent="-457200" algn="just">
              <a:spcAft>
                <a:spcPts val="1800"/>
              </a:spcAft>
              <a:buFont typeface="Wingdings" panose="05000000000000000000" pitchFamily="2" charset="2"/>
              <a:buChar char="q"/>
            </a:pPr>
            <a:r>
              <a:rPr lang="en-AU" sz="2800" dirty="0"/>
              <a:t>The project leader (often called the Chief Investigator or Principal Investigator) should take the lead in approaching people who will make a substantial contribution to the project. </a:t>
            </a:r>
          </a:p>
          <a:p>
            <a:pPr marL="457200" indent="-457200" algn="just">
              <a:spcAft>
                <a:spcPts val="1800"/>
              </a:spcAft>
              <a:buFont typeface="Wingdings" panose="05000000000000000000" pitchFamily="2" charset="2"/>
              <a:buChar char="q"/>
            </a:pPr>
            <a:r>
              <a:rPr lang="en-AU" sz="2800" dirty="0"/>
              <a:t>The project leader is the person who will manage the project in all respects, who will be responsible for the expenditure of the budget, ensure that the milestones are met and the project outcomes are delivered. </a:t>
            </a:r>
          </a:p>
          <a:p>
            <a:endParaRPr lang="en-US" sz="2600" dirty="0"/>
          </a:p>
        </p:txBody>
      </p:sp>
      <p:sp>
        <p:nvSpPr>
          <p:cNvPr id="4" name="Date Placeholder 3">
            <a:extLst>
              <a:ext uri="{FF2B5EF4-FFF2-40B4-BE49-F238E27FC236}">
                <a16:creationId xmlns:a16="http://schemas.microsoft.com/office/drawing/2014/main" xmlns="" id="{F6B9EEFF-3A9C-4D2B-8A60-E0CE78883B52}"/>
              </a:ext>
            </a:extLst>
          </p:cNvPr>
          <p:cNvSpPr>
            <a:spLocks noGrp="1"/>
          </p:cNvSpPr>
          <p:nvPr>
            <p:ph type="dt" sz="half" idx="10"/>
          </p:nvPr>
        </p:nvSpPr>
        <p:spPr/>
        <p:txBody>
          <a:bodyPr/>
          <a:lstStyle/>
          <a:p>
            <a:pPr>
              <a:defRPr/>
            </a:pPr>
            <a:fld id="{69A52D0F-A1E2-42CE-91A9-618E0BB64790}" type="datetime1">
              <a:rPr lang="en-US" smtClean="0"/>
              <a:t>7/6/2022</a:t>
            </a:fld>
            <a:endParaRPr lang="en-US"/>
          </a:p>
        </p:txBody>
      </p:sp>
      <p:sp>
        <p:nvSpPr>
          <p:cNvPr id="6" name="Slide Number Placeholder 5">
            <a:extLst>
              <a:ext uri="{FF2B5EF4-FFF2-40B4-BE49-F238E27FC236}">
                <a16:creationId xmlns:a16="http://schemas.microsoft.com/office/drawing/2014/main" xmlns="" id="{1A4FA761-63D5-4805-90A6-3B4D80B9999B}"/>
              </a:ext>
            </a:extLst>
          </p:cNvPr>
          <p:cNvSpPr>
            <a:spLocks noGrp="1"/>
          </p:cNvSpPr>
          <p:nvPr>
            <p:ph type="sldNum" sz="quarter" idx="14"/>
          </p:nvPr>
        </p:nvSpPr>
        <p:spPr/>
        <p:txBody>
          <a:bodyPr/>
          <a:lstStyle/>
          <a:p>
            <a:pPr>
              <a:defRPr/>
            </a:pPr>
            <a:fld id="{A4D7D840-3C4D-4535-9FCE-221E1C945AAA}" type="slidenum">
              <a:rPr lang="en-US" smtClean="0"/>
              <a:pPr>
                <a:defRPr/>
              </a:pPr>
              <a:t>32</a:t>
            </a:fld>
            <a:endParaRPr lang="en-US"/>
          </a:p>
        </p:txBody>
      </p:sp>
    </p:spTree>
    <p:extLst>
      <p:ext uri="{BB962C8B-B14F-4D97-AF65-F5344CB8AC3E}">
        <p14:creationId xmlns:p14="http://schemas.microsoft.com/office/powerpoint/2010/main" val="1342897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9C070803-E97C-45C6-963B-F40320869FFD}"/>
              </a:ext>
            </a:extLst>
          </p:cNvPr>
          <p:cNvSpPr>
            <a:spLocks noGrp="1"/>
          </p:cNvSpPr>
          <p:nvPr>
            <p:ph type="body" sz="quarter" idx="12"/>
          </p:nvPr>
        </p:nvSpPr>
        <p:spPr/>
        <p:txBody>
          <a:bodyPr/>
          <a:lstStyle/>
          <a:p>
            <a:pPr lvl="0">
              <a:spcBef>
                <a:spcPct val="0"/>
              </a:spcBef>
              <a:defRPr/>
            </a:pPr>
            <a:r>
              <a:rPr lang="en-AU" sz="4000" dirty="0">
                <a:solidFill>
                  <a:srgbClr val="FF0000"/>
                </a:solidFill>
              </a:rPr>
              <a:t>Research Team…</a:t>
            </a:r>
          </a:p>
        </p:txBody>
      </p:sp>
      <p:sp>
        <p:nvSpPr>
          <p:cNvPr id="3" name="Text Placeholder 2">
            <a:extLst>
              <a:ext uri="{FF2B5EF4-FFF2-40B4-BE49-F238E27FC236}">
                <a16:creationId xmlns:a16="http://schemas.microsoft.com/office/drawing/2014/main" xmlns="" id="{1A59E7E8-6F0A-4469-A7F1-1702A94747B1}"/>
              </a:ext>
            </a:extLst>
          </p:cNvPr>
          <p:cNvSpPr>
            <a:spLocks noGrp="1"/>
          </p:cNvSpPr>
          <p:nvPr>
            <p:ph type="body" sz="quarter" idx="13"/>
          </p:nvPr>
        </p:nvSpPr>
        <p:spPr>
          <a:xfrm>
            <a:off x="2" y="1066800"/>
            <a:ext cx="9136063" cy="5370517"/>
          </a:xfrm>
        </p:spPr>
        <p:txBody>
          <a:bodyPr>
            <a:normAutofit/>
          </a:bodyPr>
          <a:lstStyle/>
          <a:p>
            <a:pPr marL="457200" indent="-457200">
              <a:spcAft>
                <a:spcPts val="1800"/>
              </a:spcAft>
              <a:buFont typeface="Wingdings" panose="05000000000000000000" pitchFamily="2" charset="2"/>
              <a:buChar char="q"/>
            </a:pPr>
            <a:r>
              <a:rPr lang="en-AU" sz="2800" dirty="0"/>
              <a:t> </a:t>
            </a:r>
            <a:r>
              <a:rPr lang="en-AU" dirty="0"/>
              <a:t>In higher education for a PhD thesis, the project leader is usually the research student, however, the thesis topic is commonly initiated by the primary academic supervisor. </a:t>
            </a:r>
          </a:p>
          <a:p>
            <a:pPr lvl="1">
              <a:spcAft>
                <a:spcPts val="1800"/>
              </a:spcAft>
            </a:pPr>
            <a:r>
              <a:rPr lang="en-AU" dirty="0"/>
              <a:t>–Commonly students do not control the expenditure of research funds. This is usually the responsibility of the primary supervisor. </a:t>
            </a:r>
          </a:p>
          <a:p>
            <a:pPr marL="457200" indent="-457200">
              <a:spcAft>
                <a:spcPts val="1800"/>
              </a:spcAft>
              <a:buFont typeface="Wingdings" panose="05000000000000000000" pitchFamily="2" charset="2"/>
              <a:buChar char="q"/>
            </a:pPr>
            <a:r>
              <a:rPr lang="en-AU" dirty="0"/>
              <a:t> If the project contains many co-researchers and collaborators: </a:t>
            </a:r>
          </a:p>
          <a:p>
            <a:pPr marL="1257300" lvl="2" indent="-342900">
              <a:spcAft>
                <a:spcPts val="1800"/>
              </a:spcAft>
              <a:buFont typeface="Wingdings" panose="05000000000000000000" pitchFamily="2" charset="2"/>
              <a:buChar char="Ø"/>
            </a:pPr>
            <a:r>
              <a:rPr lang="en-AU" sz="2400" dirty="0"/>
              <a:t>Explain the roles of each participant in the project. </a:t>
            </a:r>
          </a:p>
          <a:p>
            <a:pPr>
              <a:spcAft>
                <a:spcPts val="1800"/>
              </a:spcAft>
              <a:buFont typeface="Wingdings" panose="05000000000000000000" pitchFamily="2" charset="2"/>
              <a:buChar char="q"/>
            </a:pPr>
            <a:r>
              <a:rPr lang="en-AU" dirty="0"/>
              <a:t>Include MoU/</a:t>
            </a:r>
            <a:r>
              <a:rPr lang="en-AU" dirty="0" err="1"/>
              <a:t>MoA</a:t>
            </a:r>
            <a:r>
              <a:rPr lang="en-AU" dirty="0"/>
              <a:t>/LOI in the proposal when collaborating with other institution/industry </a:t>
            </a:r>
          </a:p>
          <a:p>
            <a:pPr marL="0" indent="0">
              <a:spcAft>
                <a:spcPts val="1800"/>
              </a:spcAft>
              <a:buNone/>
            </a:pPr>
            <a:endParaRPr lang="en-AU" dirty="0">
              <a:highlight>
                <a:srgbClr val="FFFF00"/>
              </a:highlight>
            </a:endParaRPr>
          </a:p>
        </p:txBody>
      </p:sp>
      <p:sp>
        <p:nvSpPr>
          <p:cNvPr id="4" name="Date Placeholder 3">
            <a:extLst>
              <a:ext uri="{FF2B5EF4-FFF2-40B4-BE49-F238E27FC236}">
                <a16:creationId xmlns:a16="http://schemas.microsoft.com/office/drawing/2014/main" xmlns="" id="{F6B9EEFF-3A9C-4D2B-8A60-E0CE78883B52}"/>
              </a:ext>
            </a:extLst>
          </p:cNvPr>
          <p:cNvSpPr>
            <a:spLocks noGrp="1"/>
          </p:cNvSpPr>
          <p:nvPr>
            <p:ph type="dt" sz="half" idx="10"/>
          </p:nvPr>
        </p:nvSpPr>
        <p:spPr/>
        <p:txBody>
          <a:bodyPr/>
          <a:lstStyle/>
          <a:p>
            <a:pPr>
              <a:defRPr/>
            </a:pPr>
            <a:fld id="{69A52D0F-A1E2-42CE-91A9-618E0BB64790}" type="datetime1">
              <a:rPr lang="en-US" smtClean="0"/>
              <a:t>7/6/2022</a:t>
            </a:fld>
            <a:endParaRPr lang="en-US"/>
          </a:p>
        </p:txBody>
      </p:sp>
      <p:sp>
        <p:nvSpPr>
          <p:cNvPr id="6" name="Slide Number Placeholder 5">
            <a:extLst>
              <a:ext uri="{FF2B5EF4-FFF2-40B4-BE49-F238E27FC236}">
                <a16:creationId xmlns:a16="http://schemas.microsoft.com/office/drawing/2014/main" xmlns="" id="{1A4FA761-63D5-4805-90A6-3B4D80B9999B}"/>
              </a:ext>
            </a:extLst>
          </p:cNvPr>
          <p:cNvSpPr>
            <a:spLocks noGrp="1"/>
          </p:cNvSpPr>
          <p:nvPr>
            <p:ph type="sldNum" sz="quarter" idx="14"/>
          </p:nvPr>
        </p:nvSpPr>
        <p:spPr/>
        <p:txBody>
          <a:bodyPr/>
          <a:lstStyle/>
          <a:p>
            <a:pPr>
              <a:defRPr/>
            </a:pPr>
            <a:fld id="{A4D7D840-3C4D-4535-9FCE-221E1C945AAA}" type="slidenum">
              <a:rPr lang="en-US" smtClean="0"/>
              <a:pPr>
                <a:defRPr/>
              </a:pPr>
              <a:t>33</a:t>
            </a:fld>
            <a:endParaRPr lang="en-US"/>
          </a:p>
        </p:txBody>
      </p:sp>
    </p:spTree>
    <p:extLst>
      <p:ext uri="{BB962C8B-B14F-4D97-AF65-F5344CB8AC3E}">
        <p14:creationId xmlns:p14="http://schemas.microsoft.com/office/powerpoint/2010/main" val="1639398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9C070803-E97C-45C6-963B-F40320869FFD}"/>
              </a:ext>
            </a:extLst>
          </p:cNvPr>
          <p:cNvSpPr>
            <a:spLocks noGrp="1"/>
          </p:cNvSpPr>
          <p:nvPr>
            <p:ph type="body" sz="quarter" idx="12"/>
          </p:nvPr>
        </p:nvSpPr>
        <p:spPr/>
        <p:txBody>
          <a:bodyPr/>
          <a:lstStyle/>
          <a:p>
            <a:pPr lvl="0">
              <a:spcBef>
                <a:spcPct val="0"/>
              </a:spcBef>
              <a:defRPr/>
            </a:pPr>
            <a:r>
              <a:rPr lang="en-AU" sz="4000" dirty="0">
                <a:solidFill>
                  <a:srgbClr val="FF0000"/>
                </a:solidFill>
              </a:rPr>
              <a:t>Research Schedule </a:t>
            </a:r>
          </a:p>
        </p:txBody>
      </p:sp>
      <p:sp>
        <p:nvSpPr>
          <p:cNvPr id="3" name="Text Placeholder 2">
            <a:extLst>
              <a:ext uri="{FF2B5EF4-FFF2-40B4-BE49-F238E27FC236}">
                <a16:creationId xmlns:a16="http://schemas.microsoft.com/office/drawing/2014/main" xmlns="" id="{1A59E7E8-6F0A-4469-A7F1-1702A94747B1}"/>
              </a:ext>
            </a:extLst>
          </p:cNvPr>
          <p:cNvSpPr>
            <a:spLocks noGrp="1"/>
          </p:cNvSpPr>
          <p:nvPr>
            <p:ph type="body" sz="quarter" idx="13"/>
          </p:nvPr>
        </p:nvSpPr>
        <p:spPr>
          <a:xfrm>
            <a:off x="2" y="1066800"/>
            <a:ext cx="9136063" cy="5370517"/>
          </a:xfrm>
        </p:spPr>
        <p:txBody>
          <a:bodyPr>
            <a:normAutofit/>
          </a:bodyPr>
          <a:lstStyle/>
          <a:p>
            <a:pPr marL="457200" indent="-457200">
              <a:spcAft>
                <a:spcPts val="1800"/>
              </a:spcAft>
              <a:buFont typeface="Wingdings" panose="05000000000000000000" pitchFamily="2" charset="2"/>
              <a:buChar char="q"/>
            </a:pPr>
            <a:r>
              <a:rPr lang="en-AU" sz="2800" dirty="0"/>
              <a:t> </a:t>
            </a:r>
            <a:r>
              <a:rPr lang="en-AU" dirty="0"/>
              <a:t>You must set yourself dates as you need to complete the research within a certain time-frame. </a:t>
            </a:r>
          </a:p>
          <a:p>
            <a:pPr marL="457200" indent="-457200">
              <a:spcAft>
                <a:spcPts val="1800"/>
              </a:spcAft>
              <a:buFont typeface="Wingdings" panose="05000000000000000000" pitchFamily="2" charset="2"/>
              <a:buChar char="q"/>
            </a:pPr>
            <a:r>
              <a:rPr lang="en-AU" dirty="0"/>
              <a:t>List the various operational steps you need to undertake and indicate against each the date by which you aim to complete that task. </a:t>
            </a:r>
          </a:p>
          <a:p>
            <a:pPr marL="457200" indent="-457200">
              <a:spcAft>
                <a:spcPts val="1800"/>
              </a:spcAft>
              <a:buFont typeface="Wingdings" panose="05000000000000000000" pitchFamily="2" charset="2"/>
              <a:buChar char="q"/>
            </a:pPr>
            <a:r>
              <a:rPr lang="en-AU" dirty="0"/>
              <a:t>Remember to keep some time towards the end as a ‘cushion’ for unforeseen circumstances. </a:t>
            </a:r>
          </a:p>
          <a:p>
            <a:pPr marL="457200" indent="-457200">
              <a:spcAft>
                <a:spcPts val="1800"/>
              </a:spcAft>
              <a:buFont typeface="Wingdings" panose="05000000000000000000" pitchFamily="2" charset="2"/>
              <a:buChar char="q"/>
            </a:pPr>
            <a:r>
              <a:rPr lang="en-AU" dirty="0"/>
              <a:t>In a research project, there is a long and unexpected delay in the delivery of a test instrument. </a:t>
            </a:r>
          </a:p>
          <a:p>
            <a:pPr marL="457200" indent="-457200">
              <a:spcAft>
                <a:spcPts val="1800"/>
              </a:spcAft>
              <a:buFont typeface="Wingdings" panose="05000000000000000000" pitchFamily="2" charset="2"/>
              <a:buChar char="q"/>
            </a:pPr>
            <a:r>
              <a:rPr lang="en-AU" dirty="0"/>
              <a:t>Develop a chart. </a:t>
            </a:r>
          </a:p>
        </p:txBody>
      </p:sp>
      <p:sp>
        <p:nvSpPr>
          <p:cNvPr id="4" name="Date Placeholder 3">
            <a:extLst>
              <a:ext uri="{FF2B5EF4-FFF2-40B4-BE49-F238E27FC236}">
                <a16:creationId xmlns:a16="http://schemas.microsoft.com/office/drawing/2014/main" xmlns="" id="{F6B9EEFF-3A9C-4D2B-8A60-E0CE78883B52}"/>
              </a:ext>
            </a:extLst>
          </p:cNvPr>
          <p:cNvSpPr>
            <a:spLocks noGrp="1"/>
          </p:cNvSpPr>
          <p:nvPr>
            <p:ph type="dt" sz="half" idx="10"/>
          </p:nvPr>
        </p:nvSpPr>
        <p:spPr/>
        <p:txBody>
          <a:bodyPr/>
          <a:lstStyle/>
          <a:p>
            <a:pPr>
              <a:defRPr/>
            </a:pPr>
            <a:fld id="{69A52D0F-A1E2-42CE-91A9-618E0BB64790}" type="datetime1">
              <a:rPr lang="en-US" smtClean="0"/>
              <a:t>7/6/2022</a:t>
            </a:fld>
            <a:endParaRPr lang="en-US"/>
          </a:p>
        </p:txBody>
      </p:sp>
      <p:sp>
        <p:nvSpPr>
          <p:cNvPr id="6" name="Slide Number Placeholder 5">
            <a:extLst>
              <a:ext uri="{FF2B5EF4-FFF2-40B4-BE49-F238E27FC236}">
                <a16:creationId xmlns:a16="http://schemas.microsoft.com/office/drawing/2014/main" xmlns="" id="{1A4FA761-63D5-4805-90A6-3B4D80B9999B}"/>
              </a:ext>
            </a:extLst>
          </p:cNvPr>
          <p:cNvSpPr>
            <a:spLocks noGrp="1"/>
          </p:cNvSpPr>
          <p:nvPr>
            <p:ph type="sldNum" sz="quarter" idx="14"/>
          </p:nvPr>
        </p:nvSpPr>
        <p:spPr/>
        <p:txBody>
          <a:bodyPr/>
          <a:lstStyle/>
          <a:p>
            <a:pPr>
              <a:defRPr/>
            </a:pPr>
            <a:fld id="{A4D7D840-3C4D-4535-9FCE-221E1C945AAA}" type="slidenum">
              <a:rPr lang="en-US" smtClean="0"/>
              <a:pPr>
                <a:defRPr/>
              </a:pPr>
              <a:t>34</a:t>
            </a:fld>
            <a:endParaRPr lang="en-US"/>
          </a:p>
        </p:txBody>
      </p:sp>
    </p:spTree>
    <p:extLst>
      <p:ext uri="{BB962C8B-B14F-4D97-AF65-F5344CB8AC3E}">
        <p14:creationId xmlns:p14="http://schemas.microsoft.com/office/powerpoint/2010/main" val="3087356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41850B67-24E4-4C0C-BA47-D68CA94F6F7B}"/>
              </a:ext>
            </a:extLst>
          </p:cNvPr>
          <p:cNvSpPr>
            <a:spLocks noGrp="1"/>
          </p:cNvSpPr>
          <p:nvPr>
            <p:ph type="body" sz="quarter" idx="12"/>
          </p:nvPr>
        </p:nvSpPr>
        <p:spPr/>
        <p:txBody>
          <a:bodyPr/>
          <a:lstStyle/>
          <a:p>
            <a:r>
              <a:rPr lang="en-AU" dirty="0">
                <a:solidFill>
                  <a:srgbClr val="FF0000"/>
                </a:solidFill>
              </a:rPr>
              <a:t>Gantt Chart</a:t>
            </a:r>
          </a:p>
        </p:txBody>
      </p:sp>
      <p:sp>
        <p:nvSpPr>
          <p:cNvPr id="4" name="Date Placeholder 3">
            <a:extLst>
              <a:ext uri="{FF2B5EF4-FFF2-40B4-BE49-F238E27FC236}">
                <a16:creationId xmlns:a16="http://schemas.microsoft.com/office/drawing/2014/main" xmlns="" id="{54CDEBE5-A306-47B9-A7C3-F27378CF64C7}"/>
              </a:ext>
            </a:extLst>
          </p:cNvPr>
          <p:cNvSpPr>
            <a:spLocks noGrp="1"/>
          </p:cNvSpPr>
          <p:nvPr>
            <p:ph type="dt" sz="half" idx="10"/>
          </p:nvPr>
        </p:nvSpPr>
        <p:spPr/>
        <p:txBody>
          <a:bodyPr/>
          <a:lstStyle/>
          <a:p>
            <a:pPr>
              <a:defRPr/>
            </a:pPr>
            <a:fld id="{69A52D0F-A1E2-42CE-91A9-618E0BB64790}" type="datetime1">
              <a:rPr lang="en-US" smtClean="0"/>
              <a:t>7/6/2022</a:t>
            </a:fld>
            <a:endParaRPr lang="en-US"/>
          </a:p>
        </p:txBody>
      </p:sp>
      <p:sp>
        <p:nvSpPr>
          <p:cNvPr id="6" name="Slide Number Placeholder 5">
            <a:extLst>
              <a:ext uri="{FF2B5EF4-FFF2-40B4-BE49-F238E27FC236}">
                <a16:creationId xmlns:a16="http://schemas.microsoft.com/office/drawing/2014/main" xmlns="" id="{1D67E3F1-C918-4824-B5B9-AA47F177B95F}"/>
              </a:ext>
            </a:extLst>
          </p:cNvPr>
          <p:cNvSpPr>
            <a:spLocks noGrp="1"/>
          </p:cNvSpPr>
          <p:nvPr>
            <p:ph type="sldNum" sz="quarter" idx="14"/>
          </p:nvPr>
        </p:nvSpPr>
        <p:spPr/>
        <p:txBody>
          <a:bodyPr/>
          <a:lstStyle/>
          <a:p>
            <a:pPr>
              <a:defRPr/>
            </a:pPr>
            <a:fld id="{A4D7D840-3C4D-4535-9FCE-221E1C945AAA}" type="slidenum">
              <a:rPr lang="en-US" smtClean="0"/>
              <a:pPr>
                <a:defRPr/>
              </a:pPr>
              <a:t>35</a:t>
            </a:fld>
            <a:endParaRPr lang="en-US"/>
          </a:p>
        </p:txBody>
      </p:sp>
      <p:pic>
        <p:nvPicPr>
          <p:cNvPr id="7" name="Picture 1">
            <a:extLst>
              <a:ext uri="{FF2B5EF4-FFF2-40B4-BE49-F238E27FC236}">
                <a16:creationId xmlns:a16="http://schemas.microsoft.com/office/drawing/2014/main" xmlns="" id="{DB2ADFC4-6041-420C-AC22-C31F885D0D7B}"/>
              </a:ext>
            </a:extLst>
          </p:cNvPr>
          <p:cNvPicPr>
            <a:picLocks noChangeAspect="1" noChangeArrowheads="1"/>
          </p:cNvPicPr>
          <p:nvPr/>
        </p:nvPicPr>
        <p:blipFill>
          <a:blip r:embed="rId2" cstate="print"/>
          <a:srcRect/>
          <a:stretch>
            <a:fillRect/>
          </a:stretch>
        </p:blipFill>
        <p:spPr bwMode="auto">
          <a:xfrm>
            <a:off x="303134" y="1752600"/>
            <a:ext cx="8536066" cy="3810000"/>
          </a:xfrm>
          <a:prstGeom prst="rect">
            <a:avLst/>
          </a:prstGeom>
          <a:noFill/>
          <a:ln w="9525">
            <a:noFill/>
            <a:miter lim="800000"/>
            <a:headEnd/>
            <a:tailEnd/>
          </a:ln>
        </p:spPr>
      </p:pic>
    </p:spTree>
    <p:extLst>
      <p:ext uri="{BB962C8B-B14F-4D97-AF65-F5344CB8AC3E}">
        <p14:creationId xmlns:p14="http://schemas.microsoft.com/office/powerpoint/2010/main" val="20646228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A7E090AF-E13E-4902-8F97-5190AB2E8320}"/>
              </a:ext>
            </a:extLst>
          </p:cNvPr>
          <p:cNvSpPr>
            <a:spLocks noGrp="1"/>
          </p:cNvSpPr>
          <p:nvPr>
            <p:ph type="body" sz="quarter" idx="12"/>
          </p:nvPr>
        </p:nvSpPr>
        <p:spPr/>
        <p:txBody>
          <a:bodyPr/>
          <a:lstStyle/>
          <a:p>
            <a:r>
              <a:rPr lang="en-AU" dirty="0">
                <a:solidFill>
                  <a:srgbClr val="FF0000"/>
                </a:solidFill>
              </a:rPr>
              <a:t>Research Timelines</a:t>
            </a:r>
          </a:p>
        </p:txBody>
      </p:sp>
      <p:sp>
        <p:nvSpPr>
          <p:cNvPr id="3" name="Text Placeholder 2">
            <a:extLst>
              <a:ext uri="{FF2B5EF4-FFF2-40B4-BE49-F238E27FC236}">
                <a16:creationId xmlns:a16="http://schemas.microsoft.com/office/drawing/2014/main" xmlns="" id="{D25CA61E-E55E-4B35-9669-786EDBE9973B}"/>
              </a:ext>
            </a:extLst>
          </p:cNvPr>
          <p:cNvSpPr>
            <a:spLocks noGrp="1"/>
          </p:cNvSpPr>
          <p:nvPr>
            <p:ph type="body" sz="quarter" idx="13"/>
          </p:nvPr>
        </p:nvSpPr>
        <p:spPr>
          <a:xfrm>
            <a:off x="2" y="914400"/>
            <a:ext cx="9136063" cy="5522917"/>
          </a:xfrm>
        </p:spPr>
        <p:txBody>
          <a:bodyPr/>
          <a:lstStyle/>
          <a:p>
            <a:pPr marL="571500" indent="-571500">
              <a:spcAft>
                <a:spcPts val="1800"/>
              </a:spcAft>
              <a:buFont typeface="Wingdings" panose="05000000000000000000" pitchFamily="2" charset="2"/>
              <a:buChar char="q"/>
            </a:pPr>
            <a:r>
              <a:rPr lang="en-AU" dirty="0"/>
              <a:t> Simple representation of timelines for a project. The crosses represent major time requirements. </a:t>
            </a:r>
          </a:p>
          <a:p>
            <a:pPr marL="571500" indent="-571500">
              <a:spcAft>
                <a:spcPts val="1800"/>
              </a:spcAft>
              <a:buFont typeface="Wingdings" panose="05000000000000000000" pitchFamily="2" charset="2"/>
              <a:buChar char="q"/>
            </a:pPr>
            <a:r>
              <a:rPr lang="en-AU" dirty="0">
                <a:solidFill>
                  <a:srgbClr val="9900CC"/>
                </a:solidFill>
              </a:rPr>
              <a:t>Q refers to one quarter of one year. Only the major deliverables  should be included. </a:t>
            </a:r>
          </a:p>
          <a:p>
            <a:pPr marL="571500" indent="-571500">
              <a:spcAft>
                <a:spcPts val="1800"/>
              </a:spcAft>
              <a:buFont typeface="Wingdings" panose="05000000000000000000" pitchFamily="2" charset="2"/>
              <a:buChar char="q"/>
            </a:pPr>
            <a:r>
              <a:rPr lang="en-AU" dirty="0"/>
              <a:t>The work titles must be specific (not generic as presented in this illustration). </a:t>
            </a:r>
          </a:p>
          <a:p>
            <a:endParaRPr lang="en-US" dirty="0"/>
          </a:p>
        </p:txBody>
      </p:sp>
      <p:sp>
        <p:nvSpPr>
          <p:cNvPr id="4" name="Date Placeholder 3">
            <a:extLst>
              <a:ext uri="{FF2B5EF4-FFF2-40B4-BE49-F238E27FC236}">
                <a16:creationId xmlns:a16="http://schemas.microsoft.com/office/drawing/2014/main" xmlns="" id="{6A89DD9A-ED06-4C4F-8B0D-D449B2E80371}"/>
              </a:ext>
            </a:extLst>
          </p:cNvPr>
          <p:cNvSpPr>
            <a:spLocks noGrp="1"/>
          </p:cNvSpPr>
          <p:nvPr>
            <p:ph type="dt" sz="half" idx="10"/>
          </p:nvPr>
        </p:nvSpPr>
        <p:spPr/>
        <p:txBody>
          <a:bodyPr/>
          <a:lstStyle/>
          <a:p>
            <a:pPr>
              <a:defRPr/>
            </a:pPr>
            <a:fld id="{69A52D0F-A1E2-42CE-91A9-618E0BB64790}" type="datetime1">
              <a:rPr lang="en-US" smtClean="0"/>
              <a:t>7/6/2022</a:t>
            </a:fld>
            <a:endParaRPr lang="en-US"/>
          </a:p>
        </p:txBody>
      </p:sp>
      <p:sp>
        <p:nvSpPr>
          <p:cNvPr id="6" name="Slide Number Placeholder 5">
            <a:extLst>
              <a:ext uri="{FF2B5EF4-FFF2-40B4-BE49-F238E27FC236}">
                <a16:creationId xmlns:a16="http://schemas.microsoft.com/office/drawing/2014/main" xmlns="" id="{B76E134F-FAA4-456F-9C4E-77F54451B99D}"/>
              </a:ext>
            </a:extLst>
          </p:cNvPr>
          <p:cNvSpPr>
            <a:spLocks noGrp="1"/>
          </p:cNvSpPr>
          <p:nvPr>
            <p:ph type="sldNum" sz="quarter" idx="14"/>
          </p:nvPr>
        </p:nvSpPr>
        <p:spPr/>
        <p:txBody>
          <a:bodyPr/>
          <a:lstStyle/>
          <a:p>
            <a:pPr>
              <a:defRPr/>
            </a:pPr>
            <a:fld id="{A4D7D840-3C4D-4535-9FCE-221E1C945AAA}" type="slidenum">
              <a:rPr lang="en-US" smtClean="0"/>
              <a:pPr>
                <a:defRPr/>
              </a:pPr>
              <a:t>36</a:t>
            </a:fld>
            <a:endParaRPr lang="en-US"/>
          </a:p>
        </p:txBody>
      </p:sp>
    </p:spTree>
    <p:extLst>
      <p:ext uri="{BB962C8B-B14F-4D97-AF65-F5344CB8AC3E}">
        <p14:creationId xmlns:p14="http://schemas.microsoft.com/office/powerpoint/2010/main" val="3951863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38175682-44EC-4C80-B4F6-B7BE2353F7E3}"/>
              </a:ext>
            </a:extLst>
          </p:cNvPr>
          <p:cNvSpPr>
            <a:spLocks noGrp="1"/>
          </p:cNvSpPr>
          <p:nvPr>
            <p:ph type="body" sz="quarter" idx="12"/>
          </p:nvPr>
        </p:nvSpPr>
        <p:spPr/>
        <p:txBody>
          <a:bodyPr/>
          <a:lstStyle/>
          <a:p>
            <a:r>
              <a:rPr lang="en-AU" dirty="0">
                <a:solidFill>
                  <a:srgbClr val="FF0000"/>
                </a:solidFill>
              </a:rPr>
              <a:t>Research Timelines</a:t>
            </a:r>
            <a:r>
              <a:rPr lang="en-US" dirty="0">
                <a:solidFill>
                  <a:srgbClr val="FF0000"/>
                </a:solidFill>
              </a:rPr>
              <a:t>…</a:t>
            </a:r>
            <a:endParaRPr lang="en-AU" dirty="0">
              <a:solidFill>
                <a:srgbClr val="FF0000"/>
              </a:solidFill>
            </a:endParaRPr>
          </a:p>
        </p:txBody>
      </p:sp>
      <p:sp>
        <p:nvSpPr>
          <p:cNvPr id="3" name="Text Placeholder 2">
            <a:extLst>
              <a:ext uri="{FF2B5EF4-FFF2-40B4-BE49-F238E27FC236}">
                <a16:creationId xmlns:a16="http://schemas.microsoft.com/office/drawing/2014/main" xmlns="" id="{1D03818A-4ED2-4562-974A-3280A1F7A448}"/>
              </a:ext>
            </a:extLst>
          </p:cNvPr>
          <p:cNvSpPr>
            <a:spLocks noGrp="1"/>
          </p:cNvSpPr>
          <p:nvPr>
            <p:ph type="body" sz="quarter" idx="13"/>
          </p:nvPr>
        </p:nvSpPr>
        <p:spPr/>
        <p:txBody>
          <a:bodyPr/>
          <a:lstStyle/>
          <a:p>
            <a:endParaRPr lang="en-US"/>
          </a:p>
        </p:txBody>
      </p:sp>
      <p:sp>
        <p:nvSpPr>
          <p:cNvPr id="4" name="Date Placeholder 3">
            <a:extLst>
              <a:ext uri="{FF2B5EF4-FFF2-40B4-BE49-F238E27FC236}">
                <a16:creationId xmlns:a16="http://schemas.microsoft.com/office/drawing/2014/main" xmlns="" id="{FB703A42-2C1C-4E42-B6A8-B6DCE515E857}"/>
              </a:ext>
            </a:extLst>
          </p:cNvPr>
          <p:cNvSpPr>
            <a:spLocks noGrp="1"/>
          </p:cNvSpPr>
          <p:nvPr>
            <p:ph type="dt" sz="half" idx="10"/>
          </p:nvPr>
        </p:nvSpPr>
        <p:spPr/>
        <p:txBody>
          <a:bodyPr/>
          <a:lstStyle/>
          <a:p>
            <a:pPr>
              <a:defRPr/>
            </a:pPr>
            <a:fld id="{69A52D0F-A1E2-42CE-91A9-618E0BB64790}" type="datetime1">
              <a:rPr lang="en-US" smtClean="0"/>
              <a:t>7/6/2022</a:t>
            </a:fld>
            <a:endParaRPr lang="en-US"/>
          </a:p>
        </p:txBody>
      </p:sp>
      <p:sp>
        <p:nvSpPr>
          <p:cNvPr id="6" name="Slide Number Placeholder 5">
            <a:extLst>
              <a:ext uri="{FF2B5EF4-FFF2-40B4-BE49-F238E27FC236}">
                <a16:creationId xmlns:a16="http://schemas.microsoft.com/office/drawing/2014/main" xmlns="" id="{B8D482CA-DC4B-4479-ADF5-58A803F9A4E7}"/>
              </a:ext>
            </a:extLst>
          </p:cNvPr>
          <p:cNvSpPr>
            <a:spLocks noGrp="1"/>
          </p:cNvSpPr>
          <p:nvPr>
            <p:ph type="sldNum" sz="quarter" idx="14"/>
          </p:nvPr>
        </p:nvSpPr>
        <p:spPr/>
        <p:txBody>
          <a:bodyPr/>
          <a:lstStyle/>
          <a:p>
            <a:pPr>
              <a:defRPr/>
            </a:pPr>
            <a:fld id="{A4D7D840-3C4D-4535-9FCE-221E1C945AAA}" type="slidenum">
              <a:rPr lang="en-US" smtClean="0"/>
              <a:pPr>
                <a:defRPr/>
              </a:pPr>
              <a:t>37</a:t>
            </a:fld>
            <a:endParaRPr lang="en-US"/>
          </a:p>
        </p:txBody>
      </p:sp>
      <p:pic>
        <p:nvPicPr>
          <p:cNvPr id="7" name="Picture 1">
            <a:extLst>
              <a:ext uri="{FF2B5EF4-FFF2-40B4-BE49-F238E27FC236}">
                <a16:creationId xmlns:a16="http://schemas.microsoft.com/office/drawing/2014/main" xmlns="" id="{0D25C640-B4A0-4A8C-86E6-B0470780A668}"/>
              </a:ext>
            </a:extLst>
          </p:cNvPr>
          <p:cNvPicPr>
            <a:picLocks noChangeAspect="1" noChangeArrowheads="1"/>
          </p:cNvPicPr>
          <p:nvPr/>
        </p:nvPicPr>
        <p:blipFill>
          <a:blip r:embed="rId2" cstate="print"/>
          <a:srcRect/>
          <a:stretch>
            <a:fillRect/>
          </a:stretch>
        </p:blipFill>
        <p:spPr bwMode="auto">
          <a:xfrm>
            <a:off x="228599" y="1828800"/>
            <a:ext cx="8624047" cy="3962400"/>
          </a:xfrm>
          <a:prstGeom prst="rect">
            <a:avLst/>
          </a:prstGeom>
          <a:noFill/>
          <a:ln w="9525">
            <a:noFill/>
            <a:miter lim="800000"/>
            <a:headEnd/>
            <a:tailEnd/>
          </a:ln>
        </p:spPr>
      </p:pic>
    </p:spTree>
    <p:extLst>
      <p:ext uri="{BB962C8B-B14F-4D97-AF65-F5344CB8AC3E}">
        <p14:creationId xmlns:p14="http://schemas.microsoft.com/office/powerpoint/2010/main" val="17105741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CD84120D-7A49-47DF-B742-2BCF7CC7E759}"/>
              </a:ext>
            </a:extLst>
          </p:cNvPr>
          <p:cNvSpPr>
            <a:spLocks noGrp="1"/>
          </p:cNvSpPr>
          <p:nvPr>
            <p:ph type="body" sz="quarter" idx="12"/>
          </p:nvPr>
        </p:nvSpPr>
        <p:spPr/>
        <p:txBody>
          <a:bodyPr/>
          <a:lstStyle/>
          <a:p>
            <a:r>
              <a:rPr lang="en-AU" dirty="0">
                <a:solidFill>
                  <a:srgbClr val="FF0000"/>
                </a:solidFill>
              </a:rPr>
              <a:t>Appendix</a:t>
            </a:r>
          </a:p>
        </p:txBody>
      </p:sp>
      <p:sp>
        <p:nvSpPr>
          <p:cNvPr id="3" name="Text Placeholder 2">
            <a:extLst>
              <a:ext uri="{FF2B5EF4-FFF2-40B4-BE49-F238E27FC236}">
                <a16:creationId xmlns:a16="http://schemas.microsoft.com/office/drawing/2014/main" xmlns="" id="{BF5F8B8E-463A-4EEB-A5F7-DE9162FF3C36}"/>
              </a:ext>
            </a:extLst>
          </p:cNvPr>
          <p:cNvSpPr>
            <a:spLocks noGrp="1"/>
          </p:cNvSpPr>
          <p:nvPr>
            <p:ph type="body" sz="quarter" idx="13"/>
          </p:nvPr>
        </p:nvSpPr>
        <p:spPr>
          <a:xfrm>
            <a:off x="2" y="914400"/>
            <a:ext cx="9136063" cy="5522917"/>
          </a:xfrm>
        </p:spPr>
        <p:txBody>
          <a:bodyPr>
            <a:normAutofit/>
          </a:bodyPr>
          <a:lstStyle/>
          <a:p>
            <a:pPr marL="457200" indent="-457200">
              <a:spcAft>
                <a:spcPts val="1800"/>
              </a:spcAft>
              <a:buFont typeface="Wingdings" panose="05000000000000000000" pitchFamily="2" charset="2"/>
              <a:buChar char="q"/>
            </a:pPr>
            <a:r>
              <a:rPr lang="en-AU" sz="2800" dirty="0"/>
              <a:t> Include relevant publications/ manuscripts in preparation from your lab </a:t>
            </a:r>
          </a:p>
          <a:p>
            <a:pPr marL="457200" indent="-457200">
              <a:spcAft>
                <a:spcPts val="1800"/>
              </a:spcAft>
              <a:buFont typeface="Wingdings" panose="05000000000000000000" pitchFamily="2" charset="2"/>
              <a:buChar char="q"/>
            </a:pPr>
            <a:r>
              <a:rPr lang="en-AU" sz="2800" dirty="0">
                <a:solidFill>
                  <a:srgbClr val="0070C0"/>
                </a:solidFill>
              </a:rPr>
              <a:t>Any detailed experimental protocols/methods that are too long to include in the grant </a:t>
            </a:r>
          </a:p>
          <a:p>
            <a:pPr marL="457200" indent="-457200">
              <a:spcAft>
                <a:spcPts val="1800"/>
              </a:spcAft>
              <a:buFont typeface="Wingdings" panose="05000000000000000000" pitchFamily="2" charset="2"/>
              <a:buChar char="q"/>
            </a:pPr>
            <a:r>
              <a:rPr lang="en-AU" sz="2800" dirty="0"/>
              <a:t>In the case of quantitative studies, attach your research instrument. </a:t>
            </a:r>
          </a:p>
          <a:p>
            <a:pPr marL="457200" indent="-457200">
              <a:spcAft>
                <a:spcPts val="1800"/>
              </a:spcAft>
              <a:buFont typeface="Wingdings" panose="05000000000000000000" pitchFamily="2" charset="2"/>
              <a:buChar char="q"/>
            </a:pPr>
            <a:r>
              <a:rPr lang="en-AU" sz="2800" dirty="0">
                <a:solidFill>
                  <a:srgbClr val="0070C0"/>
                </a:solidFill>
              </a:rPr>
              <a:t>Attach flowchart of your research activities </a:t>
            </a:r>
            <a:endParaRPr lang="en-US" sz="2800" dirty="0">
              <a:solidFill>
                <a:srgbClr val="0070C0"/>
              </a:solidFill>
            </a:endParaRPr>
          </a:p>
        </p:txBody>
      </p:sp>
      <p:sp>
        <p:nvSpPr>
          <p:cNvPr id="4" name="Date Placeholder 3">
            <a:extLst>
              <a:ext uri="{FF2B5EF4-FFF2-40B4-BE49-F238E27FC236}">
                <a16:creationId xmlns:a16="http://schemas.microsoft.com/office/drawing/2014/main" xmlns="" id="{5ADB381F-B966-4AF5-AB4A-FE71C0514D87}"/>
              </a:ext>
            </a:extLst>
          </p:cNvPr>
          <p:cNvSpPr>
            <a:spLocks noGrp="1"/>
          </p:cNvSpPr>
          <p:nvPr>
            <p:ph type="dt" sz="half" idx="10"/>
          </p:nvPr>
        </p:nvSpPr>
        <p:spPr/>
        <p:txBody>
          <a:bodyPr/>
          <a:lstStyle/>
          <a:p>
            <a:pPr>
              <a:defRPr/>
            </a:pPr>
            <a:fld id="{69A52D0F-A1E2-42CE-91A9-618E0BB64790}" type="datetime1">
              <a:rPr lang="en-US" smtClean="0"/>
              <a:t>7/6/2022</a:t>
            </a:fld>
            <a:endParaRPr lang="en-US"/>
          </a:p>
        </p:txBody>
      </p:sp>
      <p:sp>
        <p:nvSpPr>
          <p:cNvPr id="6" name="Slide Number Placeholder 5">
            <a:extLst>
              <a:ext uri="{FF2B5EF4-FFF2-40B4-BE49-F238E27FC236}">
                <a16:creationId xmlns:a16="http://schemas.microsoft.com/office/drawing/2014/main" xmlns="" id="{2A47505F-AFEA-4F13-8C6F-24C05FB86197}"/>
              </a:ext>
            </a:extLst>
          </p:cNvPr>
          <p:cNvSpPr>
            <a:spLocks noGrp="1"/>
          </p:cNvSpPr>
          <p:nvPr>
            <p:ph type="sldNum" sz="quarter" idx="14"/>
          </p:nvPr>
        </p:nvSpPr>
        <p:spPr/>
        <p:txBody>
          <a:bodyPr/>
          <a:lstStyle/>
          <a:p>
            <a:pPr>
              <a:defRPr/>
            </a:pPr>
            <a:fld id="{A4D7D840-3C4D-4535-9FCE-221E1C945AAA}" type="slidenum">
              <a:rPr lang="en-US" smtClean="0"/>
              <a:pPr>
                <a:defRPr/>
              </a:pPr>
              <a:t>38</a:t>
            </a:fld>
            <a:endParaRPr lang="en-US"/>
          </a:p>
        </p:txBody>
      </p:sp>
    </p:spTree>
    <p:extLst>
      <p:ext uri="{BB962C8B-B14F-4D97-AF65-F5344CB8AC3E}">
        <p14:creationId xmlns:p14="http://schemas.microsoft.com/office/powerpoint/2010/main" val="2977706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CD84120D-7A49-47DF-B742-2BCF7CC7E759}"/>
              </a:ext>
            </a:extLst>
          </p:cNvPr>
          <p:cNvSpPr>
            <a:spLocks noGrp="1"/>
          </p:cNvSpPr>
          <p:nvPr>
            <p:ph type="body" sz="quarter" idx="12"/>
          </p:nvPr>
        </p:nvSpPr>
        <p:spPr/>
        <p:txBody>
          <a:bodyPr/>
          <a:lstStyle/>
          <a:p>
            <a:pPr lvl="0">
              <a:spcBef>
                <a:spcPct val="0"/>
              </a:spcBef>
              <a:defRPr/>
            </a:pPr>
            <a:r>
              <a:rPr lang="en-AU" dirty="0">
                <a:solidFill>
                  <a:srgbClr val="FF0000"/>
                </a:solidFill>
              </a:rPr>
              <a:t>Reasons for Rejection</a:t>
            </a:r>
          </a:p>
        </p:txBody>
      </p:sp>
      <p:sp>
        <p:nvSpPr>
          <p:cNvPr id="3" name="Text Placeholder 2">
            <a:extLst>
              <a:ext uri="{FF2B5EF4-FFF2-40B4-BE49-F238E27FC236}">
                <a16:creationId xmlns:a16="http://schemas.microsoft.com/office/drawing/2014/main" xmlns="" id="{BF5F8B8E-463A-4EEB-A5F7-DE9162FF3C36}"/>
              </a:ext>
            </a:extLst>
          </p:cNvPr>
          <p:cNvSpPr>
            <a:spLocks noGrp="1"/>
          </p:cNvSpPr>
          <p:nvPr>
            <p:ph type="body" sz="quarter" idx="13"/>
          </p:nvPr>
        </p:nvSpPr>
        <p:spPr>
          <a:xfrm>
            <a:off x="3" y="914400"/>
            <a:ext cx="4800598" cy="5522917"/>
          </a:xfrm>
        </p:spPr>
        <p:txBody>
          <a:bodyPr>
            <a:normAutofit/>
          </a:bodyPr>
          <a:lstStyle/>
          <a:p>
            <a:pPr>
              <a:spcAft>
                <a:spcPts val="1200"/>
              </a:spcAft>
              <a:buFont typeface="Wingdings" panose="05000000000000000000" pitchFamily="2" charset="2"/>
              <a:buChar char="q"/>
            </a:pPr>
            <a:r>
              <a:rPr lang="en-AU" sz="2800" dirty="0"/>
              <a:t> </a:t>
            </a:r>
            <a:r>
              <a:rPr lang="en-AU" sz="2000" dirty="0">
                <a:solidFill>
                  <a:srgbClr val="0070C0"/>
                </a:solidFill>
              </a:rPr>
              <a:t>Absence of innovative ideas or hypothesis </a:t>
            </a:r>
          </a:p>
          <a:p>
            <a:pPr marL="800100" lvl="1" indent="-342900">
              <a:spcAft>
                <a:spcPts val="1200"/>
              </a:spcAft>
              <a:buFont typeface="Wingdings" panose="05000000000000000000" pitchFamily="2" charset="2"/>
              <a:buChar char="Ø"/>
            </a:pPr>
            <a:r>
              <a:rPr lang="en-AU" sz="2000" dirty="0"/>
              <a:t>Will provide only an incremental advance</a:t>
            </a:r>
          </a:p>
          <a:p>
            <a:pPr marL="800100" lvl="1" indent="-342900">
              <a:spcAft>
                <a:spcPts val="1200"/>
              </a:spcAft>
              <a:buFont typeface="Wingdings" panose="05000000000000000000" pitchFamily="2" charset="2"/>
              <a:buChar char="Ø"/>
            </a:pPr>
            <a:r>
              <a:rPr lang="en-AU" sz="2000" dirty="0">
                <a:solidFill>
                  <a:srgbClr val="0070C0"/>
                </a:solidFill>
              </a:rPr>
              <a:t>Not exciting or cutting edge </a:t>
            </a:r>
          </a:p>
          <a:p>
            <a:pPr>
              <a:spcAft>
                <a:spcPts val="1200"/>
              </a:spcAft>
              <a:buFont typeface="Wingdings" panose="05000000000000000000" pitchFamily="2" charset="2"/>
              <a:buChar char="q"/>
            </a:pPr>
            <a:r>
              <a:rPr lang="en-AU" sz="2000" dirty="0"/>
              <a:t>Errors </a:t>
            </a:r>
          </a:p>
          <a:p>
            <a:pPr marL="800100" lvl="1" indent="-342900">
              <a:spcAft>
                <a:spcPts val="1200"/>
              </a:spcAft>
              <a:buFont typeface="Wingdings" panose="05000000000000000000" pitchFamily="2" charset="2"/>
              <a:buChar char="Ø"/>
            </a:pPr>
            <a:r>
              <a:rPr lang="en-US" sz="2000" dirty="0"/>
              <a:t>Unclear or incomplete expression of aims </a:t>
            </a:r>
          </a:p>
          <a:p>
            <a:pPr marL="800100" lvl="1" indent="-342900">
              <a:spcAft>
                <a:spcPts val="1200"/>
              </a:spcAft>
              <a:buFont typeface="Wingdings" panose="05000000000000000000" pitchFamily="2" charset="2"/>
              <a:buChar char="Ø"/>
            </a:pPr>
            <a:r>
              <a:rPr lang="en-US" sz="2000" dirty="0">
                <a:solidFill>
                  <a:srgbClr val="0070C0"/>
                </a:solidFill>
              </a:rPr>
              <a:t>Faulty logic or experimental design </a:t>
            </a:r>
          </a:p>
          <a:p>
            <a:pPr marL="800100" lvl="1" indent="-342900">
              <a:spcAft>
                <a:spcPts val="1200"/>
              </a:spcAft>
              <a:buFont typeface="Wingdings" panose="05000000000000000000" pitchFamily="2" charset="2"/>
              <a:buChar char="Ø"/>
            </a:pPr>
            <a:r>
              <a:rPr lang="en-US" sz="2000" dirty="0"/>
              <a:t>Less than rigorous presentation </a:t>
            </a:r>
            <a:endParaRPr lang="en-AU" sz="2000" dirty="0"/>
          </a:p>
        </p:txBody>
      </p:sp>
      <p:sp>
        <p:nvSpPr>
          <p:cNvPr id="4" name="Date Placeholder 3">
            <a:extLst>
              <a:ext uri="{FF2B5EF4-FFF2-40B4-BE49-F238E27FC236}">
                <a16:creationId xmlns:a16="http://schemas.microsoft.com/office/drawing/2014/main" xmlns="" id="{5ADB381F-B966-4AF5-AB4A-FE71C0514D87}"/>
              </a:ext>
            </a:extLst>
          </p:cNvPr>
          <p:cNvSpPr>
            <a:spLocks noGrp="1"/>
          </p:cNvSpPr>
          <p:nvPr>
            <p:ph type="dt" sz="half" idx="10"/>
          </p:nvPr>
        </p:nvSpPr>
        <p:spPr/>
        <p:txBody>
          <a:bodyPr/>
          <a:lstStyle/>
          <a:p>
            <a:pPr>
              <a:defRPr/>
            </a:pPr>
            <a:fld id="{69A52D0F-A1E2-42CE-91A9-618E0BB64790}" type="datetime1">
              <a:rPr lang="en-US" smtClean="0"/>
              <a:t>7/6/2022</a:t>
            </a:fld>
            <a:endParaRPr lang="en-US"/>
          </a:p>
        </p:txBody>
      </p:sp>
      <p:sp>
        <p:nvSpPr>
          <p:cNvPr id="6" name="Slide Number Placeholder 5">
            <a:extLst>
              <a:ext uri="{FF2B5EF4-FFF2-40B4-BE49-F238E27FC236}">
                <a16:creationId xmlns:a16="http://schemas.microsoft.com/office/drawing/2014/main" xmlns="" id="{2A47505F-AFEA-4F13-8C6F-24C05FB86197}"/>
              </a:ext>
            </a:extLst>
          </p:cNvPr>
          <p:cNvSpPr>
            <a:spLocks noGrp="1"/>
          </p:cNvSpPr>
          <p:nvPr>
            <p:ph type="sldNum" sz="quarter" idx="14"/>
          </p:nvPr>
        </p:nvSpPr>
        <p:spPr/>
        <p:txBody>
          <a:bodyPr/>
          <a:lstStyle/>
          <a:p>
            <a:pPr>
              <a:defRPr/>
            </a:pPr>
            <a:fld id="{A4D7D840-3C4D-4535-9FCE-221E1C945AAA}" type="slidenum">
              <a:rPr lang="en-US" smtClean="0"/>
              <a:pPr>
                <a:defRPr/>
              </a:pPr>
              <a:t>39</a:t>
            </a:fld>
            <a:endParaRPr lang="en-US"/>
          </a:p>
        </p:txBody>
      </p:sp>
      <p:pic>
        <p:nvPicPr>
          <p:cNvPr id="7" name="Picture 1">
            <a:extLst>
              <a:ext uri="{FF2B5EF4-FFF2-40B4-BE49-F238E27FC236}">
                <a16:creationId xmlns:a16="http://schemas.microsoft.com/office/drawing/2014/main" xmlns="" id="{DFAD4E38-A393-4AB7-B8EB-179E3E5D8905}"/>
              </a:ext>
            </a:extLst>
          </p:cNvPr>
          <p:cNvPicPr>
            <a:picLocks noChangeAspect="1" noChangeArrowheads="1"/>
          </p:cNvPicPr>
          <p:nvPr/>
        </p:nvPicPr>
        <p:blipFill>
          <a:blip r:embed="rId2" cstate="print"/>
          <a:srcRect/>
          <a:stretch>
            <a:fillRect/>
          </a:stretch>
        </p:blipFill>
        <p:spPr bwMode="auto">
          <a:xfrm>
            <a:off x="4800601" y="1371600"/>
            <a:ext cx="4267199" cy="4534113"/>
          </a:xfrm>
          <a:prstGeom prst="rect">
            <a:avLst/>
          </a:prstGeom>
          <a:noFill/>
          <a:ln w="9525">
            <a:noFill/>
            <a:miter lim="800000"/>
            <a:headEnd/>
            <a:tailEnd/>
          </a:ln>
        </p:spPr>
      </p:pic>
    </p:spTree>
    <p:extLst>
      <p:ext uri="{BB962C8B-B14F-4D97-AF65-F5344CB8AC3E}">
        <p14:creationId xmlns:p14="http://schemas.microsoft.com/office/powerpoint/2010/main" val="4135580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CD84120D-7A49-47DF-B742-2BCF7CC7E759}"/>
              </a:ext>
            </a:extLst>
          </p:cNvPr>
          <p:cNvSpPr>
            <a:spLocks noGrp="1"/>
          </p:cNvSpPr>
          <p:nvPr>
            <p:ph type="body" sz="quarter" idx="12"/>
          </p:nvPr>
        </p:nvSpPr>
        <p:spPr/>
        <p:txBody>
          <a:bodyPr/>
          <a:lstStyle/>
          <a:p>
            <a:pPr lvl="0">
              <a:spcBef>
                <a:spcPct val="0"/>
              </a:spcBef>
              <a:defRPr/>
            </a:pPr>
            <a:r>
              <a:rPr lang="en-AU" dirty="0">
                <a:solidFill>
                  <a:srgbClr val="FF0000"/>
                </a:solidFill>
              </a:rPr>
              <a:t>Reasons for Rejection</a:t>
            </a:r>
          </a:p>
        </p:txBody>
      </p:sp>
      <p:sp>
        <p:nvSpPr>
          <p:cNvPr id="3" name="Text Placeholder 2">
            <a:extLst>
              <a:ext uri="{FF2B5EF4-FFF2-40B4-BE49-F238E27FC236}">
                <a16:creationId xmlns:a16="http://schemas.microsoft.com/office/drawing/2014/main" xmlns="" id="{BF5F8B8E-463A-4EEB-A5F7-DE9162FF3C36}"/>
              </a:ext>
            </a:extLst>
          </p:cNvPr>
          <p:cNvSpPr>
            <a:spLocks noGrp="1"/>
          </p:cNvSpPr>
          <p:nvPr>
            <p:ph type="body" sz="quarter" idx="13"/>
          </p:nvPr>
        </p:nvSpPr>
        <p:spPr>
          <a:xfrm>
            <a:off x="3" y="914400"/>
            <a:ext cx="4800598" cy="5522917"/>
          </a:xfrm>
        </p:spPr>
        <p:txBody>
          <a:bodyPr>
            <a:normAutofit/>
          </a:bodyPr>
          <a:lstStyle/>
          <a:p>
            <a:pPr>
              <a:spcAft>
                <a:spcPts val="1200"/>
              </a:spcAft>
              <a:buFont typeface="Wingdings" panose="05000000000000000000" pitchFamily="2" charset="2"/>
              <a:buChar char="q"/>
            </a:pPr>
            <a:r>
              <a:rPr lang="en-AU" sz="2800" dirty="0"/>
              <a:t> </a:t>
            </a:r>
            <a:r>
              <a:rPr lang="en-AU" dirty="0"/>
              <a:t> </a:t>
            </a:r>
            <a:r>
              <a:rPr lang="en-US" dirty="0"/>
              <a:t>Unrealistic, sloppy or incomplete </a:t>
            </a:r>
          </a:p>
          <a:p>
            <a:pPr>
              <a:spcAft>
                <a:spcPts val="1200"/>
              </a:spcAft>
              <a:buFont typeface="Wingdings" panose="05000000000000000000" pitchFamily="2" charset="2"/>
              <a:buChar char="q"/>
            </a:pPr>
            <a:r>
              <a:rPr lang="en-US" dirty="0"/>
              <a:t>Resources and facilities not in place </a:t>
            </a:r>
          </a:p>
          <a:p>
            <a:pPr marL="800100" lvl="1" indent="-342900">
              <a:spcAft>
                <a:spcPts val="1200"/>
              </a:spcAft>
              <a:buFont typeface="Wingdings" panose="05000000000000000000" pitchFamily="2" charset="2"/>
              <a:buChar char="Ø"/>
            </a:pPr>
            <a:r>
              <a:rPr lang="en-US" dirty="0"/>
              <a:t>PI qualifications/expertise not evident</a:t>
            </a:r>
          </a:p>
          <a:p>
            <a:pPr marL="800100" lvl="1" indent="-342900">
              <a:spcAft>
                <a:spcPts val="1200"/>
              </a:spcAft>
              <a:buFont typeface="Wingdings" panose="05000000000000000000" pitchFamily="2" charset="2"/>
              <a:buChar char="Ø"/>
            </a:pPr>
            <a:r>
              <a:rPr lang="en-US" dirty="0"/>
              <a:t>Necessary collaborations not documented </a:t>
            </a:r>
            <a:endParaRPr lang="en-AU" dirty="0"/>
          </a:p>
          <a:p>
            <a:pPr marL="0" indent="0">
              <a:spcAft>
                <a:spcPts val="1200"/>
              </a:spcAft>
              <a:buNone/>
            </a:pPr>
            <a:r>
              <a:rPr lang="en-AU" sz="2000" dirty="0">
                <a:solidFill>
                  <a:srgbClr val="0070C0"/>
                </a:solidFill>
              </a:rPr>
              <a:t> </a:t>
            </a:r>
          </a:p>
        </p:txBody>
      </p:sp>
      <p:sp>
        <p:nvSpPr>
          <p:cNvPr id="4" name="Date Placeholder 3">
            <a:extLst>
              <a:ext uri="{FF2B5EF4-FFF2-40B4-BE49-F238E27FC236}">
                <a16:creationId xmlns:a16="http://schemas.microsoft.com/office/drawing/2014/main" xmlns="" id="{5ADB381F-B966-4AF5-AB4A-FE71C0514D87}"/>
              </a:ext>
            </a:extLst>
          </p:cNvPr>
          <p:cNvSpPr>
            <a:spLocks noGrp="1"/>
          </p:cNvSpPr>
          <p:nvPr>
            <p:ph type="dt" sz="half" idx="10"/>
          </p:nvPr>
        </p:nvSpPr>
        <p:spPr/>
        <p:txBody>
          <a:bodyPr/>
          <a:lstStyle/>
          <a:p>
            <a:pPr>
              <a:defRPr/>
            </a:pPr>
            <a:fld id="{69A52D0F-A1E2-42CE-91A9-618E0BB64790}" type="datetime1">
              <a:rPr lang="en-US" smtClean="0"/>
              <a:t>7/6/2022</a:t>
            </a:fld>
            <a:endParaRPr lang="en-US"/>
          </a:p>
        </p:txBody>
      </p:sp>
      <p:sp>
        <p:nvSpPr>
          <p:cNvPr id="6" name="Slide Number Placeholder 5">
            <a:extLst>
              <a:ext uri="{FF2B5EF4-FFF2-40B4-BE49-F238E27FC236}">
                <a16:creationId xmlns:a16="http://schemas.microsoft.com/office/drawing/2014/main" xmlns="" id="{2A47505F-AFEA-4F13-8C6F-24C05FB86197}"/>
              </a:ext>
            </a:extLst>
          </p:cNvPr>
          <p:cNvSpPr>
            <a:spLocks noGrp="1"/>
          </p:cNvSpPr>
          <p:nvPr>
            <p:ph type="sldNum" sz="quarter" idx="14"/>
          </p:nvPr>
        </p:nvSpPr>
        <p:spPr/>
        <p:txBody>
          <a:bodyPr/>
          <a:lstStyle/>
          <a:p>
            <a:pPr>
              <a:defRPr/>
            </a:pPr>
            <a:fld id="{A4D7D840-3C4D-4535-9FCE-221E1C945AAA}" type="slidenum">
              <a:rPr lang="en-US" smtClean="0"/>
              <a:pPr>
                <a:defRPr/>
              </a:pPr>
              <a:t>40</a:t>
            </a:fld>
            <a:endParaRPr lang="en-US"/>
          </a:p>
        </p:txBody>
      </p:sp>
      <p:pic>
        <p:nvPicPr>
          <p:cNvPr id="7" name="Picture 1">
            <a:extLst>
              <a:ext uri="{FF2B5EF4-FFF2-40B4-BE49-F238E27FC236}">
                <a16:creationId xmlns:a16="http://schemas.microsoft.com/office/drawing/2014/main" xmlns="" id="{DFAD4E38-A393-4AB7-B8EB-179E3E5D8905}"/>
              </a:ext>
            </a:extLst>
          </p:cNvPr>
          <p:cNvPicPr>
            <a:picLocks noChangeAspect="1" noChangeArrowheads="1"/>
          </p:cNvPicPr>
          <p:nvPr/>
        </p:nvPicPr>
        <p:blipFill>
          <a:blip r:embed="rId2" cstate="print"/>
          <a:srcRect/>
          <a:stretch>
            <a:fillRect/>
          </a:stretch>
        </p:blipFill>
        <p:spPr bwMode="auto">
          <a:xfrm>
            <a:off x="4800601" y="1371600"/>
            <a:ext cx="4267199" cy="4534113"/>
          </a:xfrm>
          <a:prstGeom prst="rect">
            <a:avLst/>
          </a:prstGeom>
          <a:noFill/>
          <a:ln w="9525">
            <a:noFill/>
            <a:miter lim="800000"/>
            <a:headEnd/>
            <a:tailEnd/>
          </a:ln>
        </p:spPr>
      </p:pic>
    </p:spTree>
    <p:extLst>
      <p:ext uri="{BB962C8B-B14F-4D97-AF65-F5344CB8AC3E}">
        <p14:creationId xmlns:p14="http://schemas.microsoft.com/office/powerpoint/2010/main" val="2795556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8F9B5DA9-22CC-4FC6-B4A4-CBC1A15D35D2}"/>
              </a:ext>
            </a:extLst>
          </p:cNvPr>
          <p:cNvSpPr>
            <a:spLocks noGrp="1"/>
          </p:cNvSpPr>
          <p:nvPr>
            <p:ph type="body" sz="quarter" idx="12"/>
          </p:nvPr>
        </p:nvSpPr>
        <p:spPr/>
        <p:txBody>
          <a:bodyPr/>
          <a:lstStyle/>
          <a:p>
            <a:r>
              <a:rPr lang="en-US" dirty="0"/>
              <a:t>COTENTS OF RESEARCH PROPOSAL</a:t>
            </a:r>
          </a:p>
        </p:txBody>
      </p:sp>
      <p:sp>
        <p:nvSpPr>
          <p:cNvPr id="3" name="Text Placeholder 2">
            <a:extLst>
              <a:ext uri="{FF2B5EF4-FFF2-40B4-BE49-F238E27FC236}">
                <a16:creationId xmlns:a16="http://schemas.microsoft.com/office/drawing/2014/main" xmlns="" id="{3518AAF9-03C2-4912-8F2A-7E4467037BEF}"/>
              </a:ext>
            </a:extLst>
          </p:cNvPr>
          <p:cNvSpPr>
            <a:spLocks noGrp="1"/>
          </p:cNvSpPr>
          <p:nvPr>
            <p:ph type="body" sz="quarter" idx="13"/>
          </p:nvPr>
        </p:nvSpPr>
        <p:spPr/>
        <p:txBody>
          <a:bodyPr/>
          <a:lstStyle/>
          <a:p>
            <a:endParaRPr lang="en-US" dirty="0"/>
          </a:p>
        </p:txBody>
      </p:sp>
      <p:sp>
        <p:nvSpPr>
          <p:cNvPr id="4" name="Date Placeholder 3">
            <a:extLst>
              <a:ext uri="{FF2B5EF4-FFF2-40B4-BE49-F238E27FC236}">
                <a16:creationId xmlns:a16="http://schemas.microsoft.com/office/drawing/2014/main" xmlns="" id="{C7E43915-4D06-4954-8C2F-3598B397256A}"/>
              </a:ext>
            </a:extLst>
          </p:cNvPr>
          <p:cNvSpPr>
            <a:spLocks noGrp="1"/>
          </p:cNvSpPr>
          <p:nvPr>
            <p:ph type="dt" sz="half" idx="10"/>
          </p:nvPr>
        </p:nvSpPr>
        <p:spPr/>
        <p:txBody>
          <a:bodyPr/>
          <a:lstStyle/>
          <a:p>
            <a:pPr>
              <a:defRPr/>
            </a:pPr>
            <a:fld id="{69A52D0F-A1E2-42CE-91A9-618E0BB64790}" type="datetime1">
              <a:rPr lang="en-US" smtClean="0"/>
              <a:t>7/6/2022</a:t>
            </a:fld>
            <a:endParaRPr lang="en-US"/>
          </a:p>
        </p:txBody>
      </p:sp>
      <p:sp>
        <p:nvSpPr>
          <p:cNvPr id="6" name="Slide Number Placeholder 5">
            <a:extLst>
              <a:ext uri="{FF2B5EF4-FFF2-40B4-BE49-F238E27FC236}">
                <a16:creationId xmlns:a16="http://schemas.microsoft.com/office/drawing/2014/main" xmlns="" id="{DC7FC27F-9142-4EFF-A359-17E433BA5A8E}"/>
              </a:ext>
            </a:extLst>
          </p:cNvPr>
          <p:cNvSpPr>
            <a:spLocks noGrp="1"/>
          </p:cNvSpPr>
          <p:nvPr>
            <p:ph type="sldNum" sz="quarter" idx="14"/>
          </p:nvPr>
        </p:nvSpPr>
        <p:spPr/>
        <p:txBody>
          <a:bodyPr/>
          <a:lstStyle/>
          <a:p>
            <a:pPr>
              <a:defRPr/>
            </a:pPr>
            <a:fld id="{A4D7D840-3C4D-4535-9FCE-221E1C945AAA}" type="slidenum">
              <a:rPr lang="en-US" smtClean="0"/>
              <a:pPr>
                <a:defRPr/>
              </a:pPr>
              <a:t>41</a:t>
            </a:fld>
            <a:endParaRPr lang="en-US"/>
          </a:p>
        </p:txBody>
      </p:sp>
      <p:pic>
        <p:nvPicPr>
          <p:cNvPr id="1026" name="Picture 2" descr="May be an image of text that says '1. Contents of Research Proposal Title 2. Abstract 3. 10. Definition of Key terms: Background of the study: 4. 11. Ethical considerations Statement of the problem 5. 12. Organizations of the study Research Objectives 6. 13. Relevant Literature Research Questions/ Review 7. 14. Research Methodology 8. Hypothesis Significance of the study Scope of the study 15. Work schedule &amp; Budget 9. 16. References Limitation of the study 17.Appendix'">
            <a:extLst>
              <a:ext uri="{FF2B5EF4-FFF2-40B4-BE49-F238E27FC236}">
                <a16:creationId xmlns:a16="http://schemas.microsoft.com/office/drawing/2014/main" xmlns="" id="{7399500A-74F9-42AC-8579-17FB7B9A01A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587" t="12693" r="13247"/>
          <a:stretch/>
        </p:blipFill>
        <p:spPr bwMode="auto">
          <a:xfrm>
            <a:off x="337453" y="990599"/>
            <a:ext cx="8349347" cy="55285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48439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3641</TotalTime>
  <Words>2175</Words>
  <Application>Microsoft Office PowerPoint</Application>
  <PresentationFormat>On-screen Show (4:3)</PresentationFormat>
  <Paragraphs>309</Paragraphs>
  <Slides>41</Slides>
  <Notes>1</Notes>
  <HiddenSlides>0</HiddenSlides>
  <MMClips>0</MMClips>
  <ScaleCrop>false</ScaleCrop>
  <HeadingPairs>
    <vt:vector size="4" baseType="variant">
      <vt:variant>
        <vt:lpstr>Theme</vt:lpstr>
      </vt:variant>
      <vt:variant>
        <vt:i4>1</vt:i4>
      </vt:variant>
      <vt:variant>
        <vt:lpstr>Slide Titles</vt:lpstr>
      </vt:variant>
      <vt:variant>
        <vt:i4>41</vt:i4>
      </vt:variant>
    </vt:vector>
  </HeadingPairs>
  <TitlesOfParts>
    <vt:vector size="4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Md Moinul Islam</dc:creator>
  <cp:lastModifiedBy>Teacher</cp:lastModifiedBy>
  <cp:revision>315</cp:revision>
  <dcterms:created xsi:type="dcterms:W3CDTF">2006-08-16T00:00:00Z</dcterms:created>
  <dcterms:modified xsi:type="dcterms:W3CDTF">2022-07-06T03:59:30Z</dcterms:modified>
</cp:coreProperties>
</file>